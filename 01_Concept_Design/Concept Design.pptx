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9144000" cy="5143500"/>
  <p:notesSz cx="5143500" cy="9144000"/>
  <p:embeddedFontLst>
    <p:embeddedFont>
      <p:font typeface="Plus Jakarta Sans"/>
      <p:regular r:id="rId71"/>
    </p:embeddedFont>
    <p:embeddedFont>
      <p:font typeface="Arimo Hebrew Subset Italic"/>
      <p:regular r:id="rId72"/>
    </p:embeddedFont>
    <p:embeddedFont>
      <p:font typeface="Inter"/>
      <p:regular r:id="rId7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xmlns="" Id="rId71" Type="http://schemas.openxmlformats.org/officeDocument/2006/relationships/font" Target="fonts/rId71.fntdata"/><Relationship xmlns="" Id="rId72" Type="http://schemas.openxmlformats.org/officeDocument/2006/relationships/font" Target="fonts/rId72.fntdata"/><Relationship xmlns="" Id="rId73" Type="http://schemas.openxmlformats.org/officeDocument/2006/relationships/font" Target="fonts/rId7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are presenting our project, Narrative XAI – Explainable UI for AI-driven Driving Scenario Generation.
Our project explores how AI-generated driving scenarios can become more understandable and transparent through better UX and interface design.
We focus on the relationship between AI, autonomous driving, and Explainable AI or XAI.
The main goal is to help users understand not only the AI decisions.
In this presentation, we will briefly discuss our research, concept development, and future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agenda for today’s presentation.
First, we will explain our process map and overall workflow.
Then we will discuss our research questions and hypotheses.
After that, we will introduce the concept foundations.
Next, we will present the main concept and our proposed UI approach.
We will also show some research design sketches and early design thinking.
Finally, we will talk about the risks, limitations, and next steps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project process divided into three phases: Discover, Develop, and Deliver.
In the Discover phase, we researched literature and identified key pain points related to AI explainability.
Currently, we are in the Develop phase, focusing on concept design and intuitive UX interaction.
Finally, in the Deliver phase, we will create the final prototype and presentation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question focuses on understanding how different prompting approaches influence the process of AI-driven scenario generation.
Specifically, we compare structured prompt templates with unstructured free-text prompting among early-career system engineers.
We want to investigate whether structured prompts can improve efficiency and scenario quality during Esmini scenario generation.
The motivation behind this question comes from the pain points identified in our literature review, such as repetitive prompting, unrealistic scenarios, debugging difficulties, and lack of guidance during scenario creation.
Why early engineers?
We focus on early-career engineers because literature suggests they experience the gap between domain knowledge and technical implementation more strongly than experienced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hypothesis focuses on efficiency during AI-assisted scenario generation.
We hypothesize that early-career system engineers using a structured LLM prompt template with predefined parameters will be able to generate Esmini-ready scenarios faster than users working with an unstructured free-text prompting approach.
The idea behind this hypothesis is that structured prompts provide guidance and reduce ambiguity during scenario creation, which may reduce the time spent thinking, correcting errors, and reformulating prompts.
To evaluate this, we define an acceptable quality threshold using a scoring rubric that measures aspects such as syntax validity, completeness, and executability of the generated scenario.
This hypothesis will be tested quantitatively by measuring the task completion time for participants in both groups and statistically comparing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break this hypothesis down into its measurable variables.
In this hypothesis, the independent variable is the prompt type, where we compare structured prompting with unstructured prompting.
A structured prompt includes predefined fields and gives users:
guided parameters
organized input sections
Example:Road Type: Urban road,Vehicle Speed: 40 km/h,Pedestrian Action: Sudden crossing,Crossing Type: Zebra crossing,
Scenario Goal: Safe braking response.
while an unstructured prompt allows users to freely describe the scenario in natural language. like it is a blank/free-text input. example: Create a scenario where a pedestrian suddenly crosses the road in front of a moving car.
For example, participants may receive the same task, such as generating a highway merging scenario. We then measure how long each participant takes to produce a valid scenario that meets the predefined quality threshold.
If users with structured prompts consistently complete the task faster, this would support our hypothesis that structured prompting improves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hypothesis focuses on scenario quality.
We hypothesize that early-career system engineers using structured LLM prompt templates will produce fewer semantically unrealistic Esmini scenarios compared to users working with unstructured free-text prompts.
By semantically unrealistic scenarios, we mean scenarios that may technically run but do not represent logical or realistic driving behavior.
For example, a vehicle suddenly changing lanes without sufficient distance, unrealistic pedestrian behavior, or conflicting traffic actions that would not normally happen in real driving situations.
We believe structured prompts can reduce these issues because predefined parameters guide users to specify important contextual information more clearly and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identify the variables used to evaluate this hypothesis.
the independent variable is again the prompt type, where we compare structured prompting against unstructured prompting.
The dependent variable is the percentage of semantically unrealistic scenarios generated by participants.
To measure this quantitatively, participants from both groups will generate scenarios for the same driving tasks.
We will then evaluate each generated scenario using a predefined realism rubric.
For example, if a participant generates 10 scenarios and 3 are classified as semantically unrealistic, the unrealistic scenario rate would be 30 percent.
We can then compare the average percentage between the structured and unstructured prompt groups to evaluate whether structured prompting improves scenario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third hypothesis focuses on user trust in AI-generated scenarios.
We hypothesize that early-career system engineers using structured LLM prompt templates will report higher trust in the validity of generated Esmini scenarios compared to users working with unstructured prompts.
The motivation behind this hypothesis comes from one of the major pain points identified in our literature review, which is the lack of transparency and confidence in AI-generated outputs.
Structured prompts may increase trust because they provide clearer guidance, reduce ambiguity, and make the generation process feel more predictable and understandable to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break this hypothesis into measurable variables.
the independent variable is again the prompt type, where we compare structured and unstructured prompting approaches.
The dependent variable is the user trust score, which we measure using a Likert scale from 1 to 7.
After completing the scenario generation task, participants will answer statements such as:
“I trust that the generated scenario is valid,”
“I feel confident using this scenario in simulation,” or
“I understand how the scenario was generated.”
Participants will rate these statements from strongly disagree to strongly agree.
We then calculate the average trust score for each group and compare the results quantitatively to evaluate whether structured prompting improves user trust.
For example, after completing the task, users rate how much they trust the generated scenario on a 1–7 scale, and we compare the average trust scores between both groups.
why trust matter?
In safety-critical domains such as autonomous driving simulation, users must feel confident that AI-generated outputs are valid and reliable before using them in testing or development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present the concept foundations behind our proposed system.
At this stage, we focused on understanding what existing research taught us about AI-driven scenario generation, especially when using large language models for autonomous driving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important insight from the literature is that
 free-form prompting gives users flexibility, but it often produces inconsistent and unpredictable outputs.
This becomes problematic especially for early-career engineers who may not have advanced prompt engineering skills.
Because of this, our concept introduces more guided interaction mechanisms through predefined parameters and modular inputs.
Another key finding is that structured prompting improves control, consistency, and reliability during scenario generation.
We also learned that breaking complex driving scenarios into smaller components improves how the system handles behaviors and interactions.
That is why our interface separates elements such as environment, actors, behaviors, and events into different configurable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also showed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findings, we defined several core design principles for our concept.
The first principle is structured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system is designed to support autonomous driving simulation workflows by connecting natural language descriptions with executable OpenSCENARIO generation.
The workflow begins with a natural language scenario.
Then, through a structured prompt interface, the system generates scenarios using an LLM, validates them in Esmini, and supports refinement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target users are early-career system engineers with around zero to two years of experience.
These users are generally familiar with autonomous vehicle concepts, but they often have limited expertise in OpenSCENARIO and beginner-level prompt engineering skills.
Some of their current challenges include syntax complexity, inconsistent prompting, repetitive debugging, and difficulty validating outputs.
To support them, our system provides structured parameters, guided interaction, validation assistance, and reduced cognitive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considered intermediate and advanced engineers.
Although they are more experienced with simulation workflows and prompting, they still face challenges related to time-consuming refinement and maintaining consistency across complex scenarios.
For these users, the system supports faster configuration, modular workflows, reusable structures, and improved controllability.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identified several constraints and design considerations for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https://claude.ai/share/e74d82a6-e08d-4531-af8b-c2574e2acfe2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moving into the fifth section of our presentation — the Research Design Sketch. This is where we explain how we actually plan to test 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who are we testing with? We're focusing on early-career systems engineers — people with zero to two years of experience in autonomous vehicle simulation. We want 8 to 12 participants per condition. To make sure we get the right people, we'll ask five screening questions — things like whether they've worked with simulation before, how familiar they are with LLMs and autonomous vehicles, and what their engineering background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study is a between-subjects design — meaning each participant only sees one condition, not both. We're comparing two interfaces. The independent variable is the interface type: Condition A is our guided modular UI, and Condition B is a blank prompt screen. We then measure three things: how long it takes to complete the task, how much the user trusts the output, and how realistic or high-quality the generated scenario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asking users to type everything from scratch, our interface gives them pre-defined fields. This reduces cognitive load. Users can select the environment — highway, urban, or rural — choose weather conditions, set the number of actors like the ego car and pedestrians, and define dynamics like speed and lane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actually looks like. Users fill in dropdowns for road type, weather, NPC behavior, ego vehicle response, and time of day. There's also a free-text field for optional details. Below that, a live prompt preview builds automatically, and a readiness checklist shows what's still missing. At the bottom you can see the five-step pipeline the scenario goes through before it's export-ready.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main categories of parameters. First, Road and Environment — things like road type and weather. These are critical because the system needs to know the physical constraints upfront. Second, NPC Behavior — whether other cars are manually controlled or system-decided, and what they do. Third, Event Triggers — specific high-risk moments like emergency braking or a vehicle merging with a small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user submits their inputs, the system runs through a five-step pipeline automatically. Step 1 is prompt parsing. Step 2 generates the XOSC file. Step 3 validates it in Esmini. Step 4 uses the LLM to refine it. And Step 5 makes it export-ready. The user doesn't need to manage any of this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scenario to be considered valid, it has to meet five criteria in Esmini: road type must be set, weather conditions defined, NPC roles assigned, trigger events specified, and time of day configured. These aren't just nice-to-haves — they're hard requirements for the simulation to actually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output quality, we'll use expert scoring out of 20. The passing threshold is 16. Experts rate scenarios on four dimensions: feasibility — can it actually run in the simulator; consistency — does it contradict itself; completeness — are all elements present; and relevance — does it match the original task. Each is scored 1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dependent variable we measure is task completion time. We use a session timer — either a stopwatch or screen recording. The clock starts at the participant's first interaction with the tool and stops when they click 'Export .xosc'. If they don't finish, we record however far they got and flag it as incomplete. This is observer-logged, not self-reported.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task, we immediately ask participants one question: 'How confident are you that the scenario you just created would run correctly in Esmini?' They answer on a 7-point scale from 'not at all confident' to 'completely confident.' We administer this right after the task ends to capture their in-the-moment feeling, before they overthink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flow of a session. We start with a briefing — consent and screening. Then a brief task orientation where participants read the scenario brief, but we give no tool tutorial, because how they figure it out is part of what we're testing. They're then randomly assigned to Condition A or B and spend about 30 minutes on the task. Afterward we measure confidence with the Likert scale. The whole session ends around 50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timing: the first 5 minutes are welcome and consent. Minutes 5 to 10 are task orientation. Minutes 10 to 40 are the actual task. And the final 10 minutes are for the confidence rating. Total session length is 30 to 50 minutes depending on the participant.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our interface be local? Or does it need to be accessible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hyperlink" Target="https://arxiv.org/abs/2505.16587" TargetMode="External"/><Relationship Id="rId2" Type="http://schemas.openxmlformats.org/officeDocument/2006/relationships/hyperlink" Target="https://arxiv.org/abs/2409.06450" TargetMode="External"/><Relationship Id="rId3" Type="http://schemas.openxmlformats.org/officeDocument/2006/relationships/hyperlink" Target="https://arxiv.org/html/2402.17721v2" TargetMode="External"/><Relationship Id="rId4" Type="http://schemas.openxmlformats.org/officeDocument/2006/relationships/hyperlink" Target="https://arxiv.org/abs/2509.17096" TargetMode="External"/><Relationship Id="rId5" Type="http://schemas.openxmlformats.org/officeDocument/2006/relationships/hyperlink" Target="https://arxiv.org/abs/2503.02911" TargetMode="External"/><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161925"/>
            <a:ext cx="8963025" cy="4814888"/>
          </a:xfrm>
          <a:prstGeom prst="roundRect">
            <a:avLst>
              <a:gd name="adj" fmla="val 2849"/>
            </a:avLst>
          </a:prstGeom>
          <a:solidFill>
            <a:srgbClr val="F5F1E9"/>
          </a:solidFill>
          <a:ln/>
        </p:spPr>
      </p:sp>
      <p:sp>
        <p:nvSpPr>
          <p:cNvPr id="4" name="Text 1"/>
          <p:cNvSpPr/>
          <p:nvPr/>
        </p:nvSpPr>
        <p:spPr>
          <a:xfrm>
            <a:off x="4605338" y="700088"/>
            <a:ext cx="4024313" cy="2095500"/>
          </a:xfrm>
          <a:prstGeom prst="rect">
            <a:avLst/>
          </a:prstGeom>
          <a:noFill/>
          <a:ln/>
        </p:spPr>
        <p:txBody>
          <a:bodyPr wrap="square" lIns="0" tIns="0" rIns="0" bIns="0" rtlCol="0" anchor="t"/>
          <a:lstStyle/>
          <a:p>
            <a:pPr algn="l" indent="0" marL="0">
              <a:lnSpc>
                <a:spcPts val="3135"/>
              </a:lnSpc>
              <a:buNone/>
            </a:pPr>
            <a:r>
              <a:rPr lang="en-US" sz="2850" b="1"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a:t>
            </a:r>
            <a:endParaRPr lang="en-US" sz="2850" dirty="0"/>
          </a:p>
          <a:p>
            <a:pPr algn="l" indent="0" marL="0">
              <a:lnSpc>
                <a:spcPts val="3135"/>
              </a:lnSpc>
              <a:buNone/>
            </a:pPr>
            <a:r>
              <a:rPr lang="en-US" sz="2850" b="1" dirty="0">
                <a:solidFill>
                  <a:srgbClr val="000000">
                    <a:alpha val="99000"/>
                  </a:srgbClr>
                </a:solidFill>
                <a:latin typeface="Plus Jakarta Sans" pitchFamily="34" charset="0"/>
                <a:ea typeface="Plus Jakarta Sans" pitchFamily="34" charset="-122"/>
                <a:cs typeface="Plus Jakarta Sans" pitchFamily="34" charset="-120"/>
              </a:rPr>
              <a:t>UXD-PRNUI.2 - SS26</a:t>
            </a:r>
            <a:endParaRPr lang="en-US" sz="2850" dirty="0"/>
          </a:p>
        </p:txBody>
      </p:sp>
      <p:sp>
        <p:nvSpPr>
          <p:cNvPr id="5" name="Text 2"/>
          <p:cNvSpPr/>
          <p:nvPr/>
        </p:nvSpPr>
        <p:spPr>
          <a:xfrm>
            <a:off x="4619625" y="2995613"/>
            <a:ext cx="1852612" cy="447675"/>
          </a:xfrm>
          <a:prstGeom prst="rect">
            <a:avLst/>
          </a:prstGeom>
          <a:noFill/>
          <a:ln/>
        </p:spPr>
        <p:txBody>
          <a:bodyPr wrap="square" lIns="0" tIns="0" rIns="0" bIns="0" rtlCol="0" anchor="t"/>
          <a:lstStyle/>
          <a:p>
            <a:pPr algn="l" indent="0" marL="0">
              <a:lnSpc>
                <a:spcPts val="1666"/>
              </a:lnSpc>
              <a:buNone/>
            </a:pPr>
            <a:r>
              <a:rPr lang="en-US" sz="1515" dirty="0">
                <a:solidFill>
                  <a:srgbClr val="000000">
                    <a:alpha val="99000"/>
                  </a:srgbClr>
                </a:solidFill>
                <a:latin typeface="Plus Jakarta Sans" pitchFamily="34" charset="0"/>
                <a:ea typeface="Plus Jakarta Sans" pitchFamily="34" charset="-122"/>
                <a:cs typeface="Plus Jakarta Sans" pitchFamily="34" charset="-120"/>
              </a:rPr>
              <a:t>Concept Design</a:t>
            </a:r>
            <a:endParaRPr lang="en-US" sz="1515" dirty="0"/>
          </a:p>
          <a:p>
            <a:pPr algn="l" indent="0" marL="0">
              <a:lnSpc>
                <a:spcPts val="1666"/>
              </a:lnSpc>
              <a:buNone/>
            </a:pPr>
            <a:r>
              <a:rPr lang="en-US" sz="1515" dirty="0">
                <a:solidFill>
                  <a:srgbClr val="000000">
                    <a:alpha val="99000"/>
                  </a:srgbClr>
                </a:solidFill>
                <a:latin typeface="Plus Jakarta Sans" pitchFamily="34" charset="0"/>
                <a:ea typeface="Plus Jakarta Sans" pitchFamily="34" charset="-122"/>
                <a:cs typeface="Plus Jakarta Sans" pitchFamily="34" charset="-120"/>
              </a:rPr>
              <a:t>15.05.26</a:t>
            </a:r>
            <a:endParaRPr lang="en-US" sz="1515" dirty="0"/>
          </a:p>
        </p:txBody>
      </p:sp>
      <p:pic>
        <p:nvPicPr>
          <p:cNvPr id="6" name="Image 0" descr="preencoded.png">    </p:cNvPr>
          <p:cNvPicPr>
            <a:picLocks noChangeAspect="1"/>
          </p:cNvPicPr>
          <p:nvPr/>
        </p:nvPicPr>
        <p:blipFill>
          <a:blip r:embed="rId1"/>
          <a:srcRect l="0" r="0" t="0" b="0"/>
          <a:stretch/>
        </p:blipFill>
        <p:spPr>
          <a:xfrm>
            <a:off x="509587" y="700088"/>
            <a:ext cx="3781425" cy="2843213"/>
          </a:xfrm>
          <a:prstGeom prst="rect">
            <a:avLst/>
          </a:prstGeom>
        </p:spPr>
      </p:pic>
      <p:sp>
        <p:nvSpPr>
          <p:cNvPr id="7" name="Text 3"/>
          <p:cNvSpPr/>
          <p:nvPr/>
        </p:nvSpPr>
        <p:spPr>
          <a:xfrm>
            <a:off x="457200" y="4114800"/>
            <a:ext cx="1966912" cy="500063"/>
          </a:xfrm>
          <a:prstGeom prst="rect">
            <a:avLst/>
          </a:prstGeom>
          <a:noFill/>
          <a:ln/>
        </p:spPr>
        <p:txBody>
          <a:bodyPr wrap="square" lIns="0" tIns="0" rIns="0" bIns="0" rtlCol="0" anchor="t"/>
          <a:lstStyle/>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Muhmmad Minhas Shafique</a:t>
            </a:r>
            <a:endParaRPr lang="en-US" sz="1140" dirty="0"/>
          </a:p>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Pranta Saha</a:t>
            </a:r>
            <a:endParaRPr lang="en-US" sz="1140" dirty="0"/>
          </a:p>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Disha Shenoy</a:t>
            </a:r>
            <a:endParaRPr lang="en-US" sz="1140" dirty="0"/>
          </a:p>
        </p:txBody>
      </p:sp>
      <p:sp>
        <p:nvSpPr>
          <p:cNvPr id="8" name="Text 4"/>
          <p:cNvSpPr/>
          <p:nvPr/>
        </p:nvSpPr>
        <p:spPr>
          <a:xfrm>
            <a:off x="2538413" y="4114800"/>
            <a:ext cx="1966912" cy="500063"/>
          </a:xfrm>
          <a:prstGeom prst="rect">
            <a:avLst/>
          </a:prstGeom>
          <a:noFill/>
          <a:ln/>
        </p:spPr>
        <p:txBody>
          <a:bodyPr wrap="square" lIns="0" tIns="0" rIns="0" bIns="0" rtlCol="0" anchor="t"/>
          <a:lstStyle/>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Sirine Kouissah Mahjoub</a:t>
            </a:r>
            <a:endParaRPr lang="en-US" sz="1140" dirty="0"/>
          </a:p>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Mostafitz Rakib</a:t>
            </a:r>
            <a:endParaRPr lang="en-US" sz="1140" dirty="0"/>
          </a:p>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Courtney Huck</a:t>
            </a:r>
            <a:endParaRPr lang="en-US" sz="1140" dirty="0"/>
          </a:p>
        </p:txBody>
      </p:sp>
      <p:sp>
        <p:nvSpPr>
          <p:cNvPr id="9" name="Text 5"/>
          <p:cNvSpPr/>
          <p:nvPr/>
        </p:nvSpPr>
        <p:spPr>
          <a:xfrm>
            <a:off x="4619625" y="4114800"/>
            <a:ext cx="1966912" cy="166688"/>
          </a:xfrm>
          <a:prstGeom prst="rect">
            <a:avLst/>
          </a:prstGeom>
          <a:noFill/>
          <a:ln/>
        </p:spPr>
        <p:txBody>
          <a:bodyPr wrap="square" lIns="0" tIns="0" rIns="0" bIns="0" rtlCol="0" anchor="t"/>
          <a:lstStyle/>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1140" dirty="0"/>
          </a:p>
        </p:txBody>
      </p:sp>
      <p:sp>
        <p:nvSpPr>
          <p:cNvPr id="10" name="Text 6"/>
          <p:cNvSpPr/>
          <p:nvPr/>
        </p:nvSpPr>
        <p:spPr>
          <a:xfrm>
            <a:off x="6700838" y="4114800"/>
            <a:ext cx="1985963" cy="333375"/>
          </a:xfrm>
          <a:prstGeom prst="rect">
            <a:avLst/>
          </a:prstGeom>
          <a:noFill/>
          <a:ln/>
        </p:spPr>
        <p:txBody>
          <a:bodyPr wrap="square" lIns="0" tIns="0" rIns="0" bIns="0" rtlCol="0" anchor="t"/>
          <a:lstStyle/>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Prof. Dr. Ignacio Alvarez</a:t>
            </a:r>
            <a:endParaRPr lang="en-US" sz="1140" dirty="0"/>
          </a:p>
          <a:p>
            <a:pPr algn="l" indent="0" marL="0">
              <a:lnSpc>
                <a:spcPts val="1254"/>
              </a:lnSpc>
              <a:buNone/>
            </a:pPr>
            <a:r>
              <a:rPr lang="en-US" sz="1140" dirty="0">
                <a:solidFill>
                  <a:srgbClr val="000000">
                    <a:alpha val="99000"/>
                  </a:srgbClr>
                </a:solidFill>
                <a:latin typeface="Plus Jakarta Sans" pitchFamily="34" charset="0"/>
                <a:ea typeface="Plus Jakarta Sans" pitchFamily="34" charset="-122"/>
                <a:cs typeface="Plus Jakarta Sans" pitchFamily="34" charset="-120"/>
              </a:rPr>
              <a:t>Atharva Mahindrakar</a:t>
            </a:r>
            <a:endParaRPr lang="en-US" sz="1140" dirty="0"/>
          </a:p>
        </p:txBody>
      </p:sp>
      <p:sp>
        <p:nvSpPr>
          <p:cNvPr id="11" name="Text 7"/>
          <p:cNvSpPr/>
          <p:nvPr/>
        </p:nvSpPr>
        <p:spPr>
          <a:xfrm>
            <a:off x="457200" y="3871913"/>
            <a:ext cx="704850" cy="166688"/>
          </a:xfrm>
          <a:prstGeom prst="rect">
            <a:avLst/>
          </a:prstGeom>
          <a:noFill/>
          <a:ln/>
        </p:spPr>
        <p:txBody>
          <a:bodyPr wrap="square" lIns="0" tIns="0" rIns="0" bIns="0" rtlCol="0" anchor="t"/>
          <a:lstStyle/>
          <a:p>
            <a:pPr algn="l" indent="0" marL="0">
              <a:lnSpc>
                <a:spcPts val="1254"/>
              </a:lnSpc>
              <a:buNone/>
            </a:pPr>
            <a:r>
              <a:rPr lang="en-US" sz="1140" b="1" dirty="0">
                <a:solidFill>
                  <a:srgbClr val="000000">
                    <a:alpha val="99000"/>
                  </a:srgbClr>
                </a:solidFill>
                <a:latin typeface="Plus Jakarta Sans" pitchFamily="34" charset="0"/>
                <a:ea typeface="Plus Jakarta Sans" pitchFamily="34" charset="-122"/>
                <a:cs typeface="Plus Jakarta Sans" pitchFamily="34" charset="-120"/>
              </a:rPr>
              <a:t>Work by</a:t>
            </a:r>
            <a:endParaRPr lang="en-US" sz="1140" dirty="0"/>
          </a:p>
        </p:txBody>
      </p:sp>
      <p:sp>
        <p:nvSpPr>
          <p:cNvPr id="12" name="Text 8"/>
          <p:cNvSpPr/>
          <p:nvPr/>
        </p:nvSpPr>
        <p:spPr>
          <a:xfrm>
            <a:off x="6700838" y="3871913"/>
            <a:ext cx="1724025" cy="166688"/>
          </a:xfrm>
          <a:prstGeom prst="rect">
            <a:avLst/>
          </a:prstGeom>
          <a:noFill/>
          <a:ln/>
        </p:spPr>
        <p:txBody>
          <a:bodyPr wrap="square" lIns="0" tIns="0" rIns="0" bIns="0" rtlCol="0" anchor="t"/>
          <a:lstStyle/>
          <a:p>
            <a:pPr algn="l" indent="0" marL="0">
              <a:lnSpc>
                <a:spcPts val="1254"/>
              </a:lnSpc>
              <a:buNone/>
            </a:pPr>
            <a:r>
              <a:rPr lang="en-US" sz="1140" b="1" dirty="0">
                <a:solidFill>
                  <a:srgbClr val="000000">
                    <a:alpha val="99000"/>
                  </a:srgbClr>
                </a:solidFill>
                <a:latin typeface="Plus Jakarta Sans" pitchFamily="34" charset="0"/>
                <a:ea typeface="Plus Jakarta Sans" pitchFamily="34" charset="-122"/>
                <a:cs typeface="Plus Jakarta Sans" pitchFamily="34" charset="-120"/>
              </a:rPr>
              <a:t>Supervised by</a:t>
            </a:r>
            <a:endParaRPr lang="en-US" sz="11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2771775" cy="4814888"/>
          </a:xfrm>
          <a:prstGeom prst="roundRect">
            <a:avLst>
              <a:gd name="adj" fmla="val 4948"/>
            </a:avLst>
          </a:prstGeom>
          <a:solidFill>
            <a:srgbClr val="F5F1E9"/>
          </a:solidFill>
          <a:ln/>
        </p:spPr>
      </p:sp>
      <p:sp>
        <p:nvSpPr>
          <p:cNvPr id="4" name="Text 1"/>
          <p:cNvSpPr/>
          <p:nvPr/>
        </p:nvSpPr>
        <p:spPr>
          <a:xfrm>
            <a:off x="819150" y="2281238"/>
            <a:ext cx="1309688"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Agenda </a:t>
            </a:r>
            <a:endParaRPr lang="en-US" sz="2494" dirty="0"/>
          </a:p>
        </p:txBody>
      </p:sp>
      <p:sp>
        <p:nvSpPr>
          <p:cNvPr id="5" name="Shape 2"/>
          <p:cNvSpPr/>
          <p:nvPr/>
        </p:nvSpPr>
        <p:spPr>
          <a:xfrm>
            <a:off x="2957513" y="238125"/>
            <a:ext cx="6096000" cy="4814888"/>
          </a:xfrm>
          <a:prstGeom prst="roundRect">
            <a:avLst>
              <a:gd name="adj" fmla="val 2849"/>
            </a:avLst>
          </a:prstGeom>
          <a:solidFill>
            <a:srgbClr val="F5F1E9"/>
          </a:solidFill>
          <a:ln/>
        </p:spPr>
      </p:sp>
      <p:sp>
        <p:nvSpPr>
          <p:cNvPr id="6" name="Text 3"/>
          <p:cNvSpPr/>
          <p:nvPr/>
        </p:nvSpPr>
        <p:spPr>
          <a:xfrm>
            <a:off x="8863013" y="4829175"/>
            <a:ext cx="95250"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a:t>
            </a:r>
            <a:endParaRPr lang="en-US" sz="855" dirty="0"/>
          </a:p>
        </p:txBody>
      </p:sp>
      <p:sp>
        <p:nvSpPr>
          <p:cNvPr id="7" name="Text 4"/>
          <p:cNvSpPr/>
          <p:nvPr/>
        </p:nvSpPr>
        <p:spPr>
          <a:xfrm>
            <a:off x="3752850" y="695325"/>
            <a:ext cx="4500563" cy="3900488"/>
          </a:xfrm>
          <a:prstGeom prst="rect">
            <a:avLst/>
          </a:prstGeom>
          <a:noFill/>
          <a:ln/>
        </p:spPr>
        <p:txBody>
          <a:bodyPr wrap="square" lIns="0" tIns="0" rIns="0" bIns="0" rtlCol="0" anchor="t"/>
          <a:lstStyle/>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1. Process Map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2. RQ &amp; Hypotheses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3. Concept Foundations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4. The Concept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5. Research Design Sketch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6. Risks &amp; Next Steps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
</a:t>
            </a:r>
            <a:endParaRPr lang="en-US" sz="1496" dirty="0"/>
          </a:p>
          <a:p>
            <a:pPr algn="l" indent="0" marL="0">
              <a:lnSpc>
                <a:spcPts val="2244"/>
              </a:lnSpc>
              <a:buNone/>
            </a:pPr>
            <a:r>
              <a:rPr lang="en-US" sz="1496" i="1" spc="-33" kern="0" dirty="0">
                <a:solidFill>
                  <a:srgbClr val="000000">
                    <a:alpha val="99000"/>
                  </a:srgbClr>
                </a:solidFill>
                <a:latin typeface="Arimo Hebrew Subset Italic" pitchFamily="34" charset="0"/>
                <a:ea typeface="Arimo Hebrew Subset Italic" pitchFamily="34" charset="-122"/>
                <a:cs typeface="Arimo Hebrew Subset Italic" pitchFamily="34" charset="-120"/>
              </a:rPr>
              <a:t>7. Back matter</a:t>
            </a:r>
            <a:endParaRPr lang="en-US" sz="1496" dirty="0"/>
          </a:p>
        </p:txBody>
      </p:sp>
      <p:sp>
        <p:nvSpPr>
          <p:cNvPr id="8" name="Text 5"/>
          <p:cNvSpPr/>
          <p:nvPr/>
        </p:nvSpPr>
        <p:spPr>
          <a:xfrm>
            <a:off x="7848600" y="0"/>
            <a:ext cx="1028700" cy="228600"/>
          </a:xfrm>
          <a:prstGeom prst="rect">
            <a:avLst/>
          </a:prstGeom>
          <a:noFill/>
          <a:ln/>
        </p:spPr>
        <p:txBody>
          <a:bodyPr wrap="square" lIns="0" tIns="0" rIns="0" bIns="0" rtlCol="0" anchor="t"/>
          <a:lstStyle/>
          <a:p>
            <a:pPr algn="l" indent="0" marL="0">
              <a:lnSpc>
                <a:spcPts val="1710"/>
              </a:lnSpc>
              <a:buNone/>
            </a:pPr>
            <a:r>
              <a:rPr lang="en-US" sz="1140" i="1" spc="-25" kern="0" dirty="0">
                <a:solidFill>
                  <a:srgbClr val="000000">
                    <a:alpha val="99000"/>
                  </a:srgbClr>
                </a:solidFill>
                <a:latin typeface="Inter" pitchFamily="34" charset="0"/>
                <a:ea typeface="Inter" pitchFamily="34" charset="-122"/>
                <a:cs typeface="Inter" pitchFamily="34" charset="-120"/>
              </a:rPr>
              <a:t>PRANTA SAHA</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12700">
            <a:solidFill>
              <a:srgbClr val="F5F1E9"/>
            </a:solidFill>
            <a:prstDash val="solid"/>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01</a:t>
            </a:r>
            <a:endParaRPr lang="en-US" sz="24938" dirty="0"/>
          </a:p>
        </p:txBody>
      </p:sp>
      <p:sp>
        <p:nvSpPr>
          <p:cNvPr id="4" name="Text 2"/>
          <p:cNvSpPr/>
          <p:nvPr/>
        </p:nvSpPr>
        <p:spPr>
          <a:xfrm>
            <a:off x="742950" y="1047750"/>
            <a:ext cx="3786188" cy="671513"/>
          </a:xfrm>
          <a:prstGeom prst="rect">
            <a:avLst/>
          </a:prstGeom>
          <a:noFill/>
          <a:ln/>
        </p:spPr>
        <p:txBody>
          <a:bodyPr wrap="square" lIns="0" tIns="0" rIns="0" bIns="0" rtlCol="0" anchor="t"/>
          <a:lstStyle/>
          <a:p>
            <a:pPr algn="l" indent="0" marL="0">
              <a:lnSpc>
                <a:spcPts val="5016"/>
              </a:lnSpc>
              <a:buNone/>
            </a:pPr>
            <a:r>
              <a:rPr lang="en-US" sz="4560" b="1" dirty="0">
                <a:solidFill>
                  <a:srgbClr val="000000">
                    <a:alpha val="99000"/>
                  </a:srgbClr>
                </a:solidFill>
                <a:latin typeface="Plus Jakarta Sans" pitchFamily="34" charset="0"/>
                <a:ea typeface="Plus Jakarta Sans" pitchFamily="34" charset="-122"/>
                <a:cs typeface="Plus Jakarta Sans" pitchFamily="34" charset="-120"/>
              </a:rPr>
              <a:t>Process Map</a:t>
            </a:r>
            <a:endParaRPr lang="en-US" sz="4560" dirty="0"/>
          </a:p>
        </p:txBody>
      </p:sp>
      <p:sp>
        <p:nvSpPr>
          <p:cNvPr id="5" name="Text 3"/>
          <p:cNvSpPr/>
          <p:nvPr/>
        </p:nvSpPr>
        <p:spPr>
          <a:xfrm>
            <a:off x="7815263" y="19050"/>
            <a:ext cx="1028700" cy="228600"/>
          </a:xfrm>
          <a:prstGeom prst="rect">
            <a:avLst/>
          </a:prstGeom>
          <a:noFill/>
          <a:ln/>
        </p:spPr>
        <p:txBody>
          <a:bodyPr wrap="square" lIns="0" tIns="0" rIns="0" bIns="0" rtlCol="0" anchor="t"/>
          <a:lstStyle/>
          <a:p>
            <a:pPr algn="r"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PRANTA SAHA</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9"/>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4633913" y="1104900"/>
            <a:ext cx="38100" cy="2514744"/>
          </a:xfrm>
          <a:prstGeom prst="rect">
            <a:avLst/>
          </a:prstGeom>
        </p:spPr>
      </p:pic>
      <p:sp>
        <p:nvSpPr>
          <p:cNvPr id="4" name="Text 0"/>
          <p:cNvSpPr/>
          <p:nvPr/>
        </p:nvSpPr>
        <p:spPr>
          <a:xfrm rot="2600164">
            <a:off x="1633525" y="1856484"/>
            <a:ext cx="1575935" cy="1597634"/>
          </a:xfrm>
          <a:prstGeom prst="rect">
            <a:avLst/>
          </a:prstGeom>
          <a:solidFill>
            <a:srgbClr val="FFFFFF"/>
          </a:solidFill>
          <a:ln w="9049">
            <a:solidFill>
              <a:srgbClr val="000000"/>
            </a:solidFill>
          </a:ln>
        </p:spPr>
        <p:txBody>
          <a:bodyPr wrap="square" rtlCol="0" anchor="ctr"/>
          <a:lstStyle/>
          <a:p>
            <a:pPr indent="0" marL="0">
              <a:buNone/>
            </a:pPr>
            <a:endParaRPr lang="en-US" dirty="0"/>
          </a:p>
        </p:txBody>
      </p:sp>
      <p:sp>
        <p:nvSpPr>
          <p:cNvPr id="5" name="Text 1"/>
          <p:cNvSpPr/>
          <p:nvPr/>
        </p:nvSpPr>
        <p:spPr>
          <a:xfrm>
            <a:off x="1595092" y="2219916"/>
            <a:ext cx="1573191" cy="261937"/>
          </a:xfrm>
          <a:prstGeom prst="rect">
            <a:avLst/>
          </a:prstGeom>
          <a:noFill/>
          <a:ln/>
        </p:spPr>
        <p:txBody>
          <a:bodyPr wrap="square" lIns="0" tIns="0" rIns="0" bIns="0" rtlCol="0" anchor="t"/>
          <a:lstStyle/>
          <a:p>
            <a:pPr algn="ctr" indent="0" marL="0">
              <a:lnSpc>
                <a:spcPts val="1953"/>
              </a:lnSpc>
              <a:buNone/>
            </a:pPr>
            <a:r>
              <a:rPr lang="en-US" sz="1302" b="1" spc="91" kern="0" dirty="0">
                <a:solidFill>
                  <a:srgbClr val="000000">
                    <a:alpha val="99000"/>
                  </a:srgbClr>
                </a:solidFill>
                <a:latin typeface="Plus Jakarta Sans" pitchFamily="34" charset="0"/>
                <a:ea typeface="Plus Jakarta Sans" pitchFamily="34" charset="-122"/>
                <a:cs typeface="Plus Jakarta Sans" pitchFamily="34" charset="-120"/>
              </a:rPr>
              <a:t>Discover</a:t>
            </a:r>
            <a:endParaRPr lang="en-US" sz="1302" dirty="0"/>
          </a:p>
        </p:txBody>
      </p:sp>
      <p:sp>
        <p:nvSpPr>
          <p:cNvPr id="6" name="Text 2"/>
          <p:cNvSpPr/>
          <p:nvPr/>
        </p:nvSpPr>
        <p:spPr>
          <a:xfrm>
            <a:off x="1595092" y="2534185"/>
            <a:ext cx="1573191" cy="466725"/>
          </a:xfrm>
          <a:prstGeom prst="rect">
            <a:avLst/>
          </a:prstGeom>
          <a:noFill/>
          <a:ln/>
        </p:spPr>
        <p:txBody>
          <a:bodyPr wrap="square" lIns="0" tIns="0" rIns="0" bIns="0" rtlCol="0" anchor="t"/>
          <a:lstStyle/>
          <a:p>
            <a:pPr algn="ctr" indent="0" marL="0">
              <a:lnSpc>
                <a:spcPts val="1736"/>
              </a:lnSpc>
              <a:buNone/>
            </a:pPr>
            <a:r>
              <a:rPr lang="en-US" sz="1157" spc="-25" kern="0" dirty="0">
                <a:solidFill>
                  <a:srgbClr val="000000">
                    <a:alpha val="99000"/>
                  </a:srgbClr>
                </a:solidFill>
                <a:latin typeface="Inter" pitchFamily="34" charset="0"/>
                <a:ea typeface="Inter" pitchFamily="34" charset="-122"/>
                <a:cs typeface="Inter" pitchFamily="34" charset="-120"/>
              </a:rPr>
              <a:t>Literature Review</a:t>
            </a:r>
            <a:endParaRPr lang="en-US" sz="1157" dirty="0"/>
          </a:p>
          <a:p>
            <a:pPr algn="ctr" indent="0" marL="0">
              <a:lnSpc>
                <a:spcPts val="1736"/>
              </a:lnSpc>
              <a:buNone/>
            </a:pPr>
            <a:r>
              <a:rPr lang="en-US" sz="1157" spc="-25" kern="0" dirty="0">
                <a:solidFill>
                  <a:srgbClr val="000000">
                    <a:alpha val="99000"/>
                  </a:srgbClr>
                </a:solidFill>
                <a:latin typeface="Inter" pitchFamily="34" charset="0"/>
                <a:ea typeface="Inter" pitchFamily="34" charset="-122"/>
                <a:cs typeface="Inter" pitchFamily="34" charset="-120"/>
              </a:rPr>
              <a:t>Pain Points mapped</a:t>
            </a:r>
            <a:endParaRPr lang="en-US" sz="1157" dirty="0"/>
          </a:p>
        </p:txBody>
      </p:sp>
      <p:sp>
        <p:nvSpPr>
          <p:cNvPr id="7" name="Text 3"/>
          <p:cNvSpPr/>
          <p:nvPr/>
        </p:nvSpPr>
        <p:spPr>
          <a:xfrm rot="2600164">
            <a:off x="3867138" y="1780284"/>
            <a:ext cx="1575935" cy="1597634"/>
          </a:xfrm>
          <a:prstGeom prst="rect">
            <a:avLst/>
          </a:prstGeom>
          <a:solidFill>
            <a:srgbClr val="FFFFFF"/>
          </a:solidFill>
          <a:ln w="9049">
            <a:solidFill>
              <a:srgbClr val="000000"/>
            </a:solidFill>
          </a:ln>
        </p:spPr>
        <p:txBody>
          <a:bodyPr wrap="square" rtlCol="0" anchor="ctr"/>
          <a:lstStyle/>
          <a:p>
            <a:pPr indent="0" marL="0">
              <a:buNone/>
            </a:pPr>
            <a:endParaRPr lang="en-US" dirty="0"/>
          </a:p>
        </p:txBody>
      </p:sp>
      <p:sp>
        <p:nvSpPr>
          <p:cNvPr id="8" name="Text 4"/>
          <p:cNvSpPr/>
          <p:nvPr/>
        </p:nvSpPr>
        <p:spPr>
          <a:xfrm>
            <a:off x="3698272" y="2128054"/>
            <a:ext cx="1999714" cy="261937"/>
          </a:xfrm>
          <a:prstGeom prst="rect">
            <a:avLst/>
          </a:prstGeom>
          <a:noFill/>
          <a:ln/>
        </p:spPr>
        <p:txBody>
          <a:bodyPr wrap="square" lIns="0" tIns="0" rIns="0" bIns="0" rtlCol="0" anchor="t"/>
          <a:lstStyle/>
          <a:p>
            <a:pPr algn="ctr" indent="0" marL="0">
              <a:lnSpc>
                <a:spcPts val="1953"/>
              </a:lnSpc>
              <a:buNone/>
            </a:pPr>
            <a:r>
              <a:rPr lang="en-US" sz="1302" b="1" spc="91" kern="0" dirty="0">
                <a:solidFill>
                  <a:srgbClr val="000000">
                    <a:alpha val="99000"/>
                  </a:srgbClr>
                </a:solidFill>
                <a:latin typeface="Plus Jakarta Sans" pitchFamily="34" charset="0"/>
                <a:ea typeface="Plus Jakarta Sans" pitchFamily="34" charset="-122"/>
                <a:cs typeface="Plus Jakarta Sans" pitchFamily="34" charset="-120"/>
              </a:rPr>
              <a:t>Develop</a:t>
            </a:r>
            <a:endParaRPr lang="en-US" sz="1302" dirty="0"/>
          </a:p>
        </p:txBody>
      </p:sp>
      <p:sp>
        <p:nvSpPr>
          <p:cNvPr id="9" name="Text 5"/>
          <p:cNvSpPr/>
          <p:nvPr/>
        </p:nvSpPr>
        <p:spPr>
          <a:xfrm>
            <a:off x="3667125" y="2533650"/>
            <a:ext cx="1999714" cy="233362"/>
          </a:xfrm>
          <a:prstGeom prst="rect">
            <a:avLst/>
          </a:prstGeom>
          <a:noFill/>
          <a:ln/>
        </p:spPr>
        <p:txBody>
          <a:bodyPr wrap="square" lIns="0" tIns="0" rIns="0" bIns="0" rtlCol="0" anchor="t"/>
          <a:lstStyle/>
          <a:p>
            <a:pPr algn="ctr" indent="0" marL="0">
              <a:lnSpc>
                <a:spcPts val="1736"/>
              </a:lnSpc>
              <a:buNone/>
            </a:pPr>
            <a:r>
              <a:rPr lang="en-US" sz="1157" spc="-25" kern="0" dirty="0">
                <a:solidFill>
                  <a:srgbClr val="000000">
                    <a:alpha val="99000"/>
                  </a:srgbClr>
                </a:solidFill>
                <a:latin typeface="Inter" pitchFamily="34" charset="0"/>
                <a:ea typeface="Inter" pitchFamily="34" charset="-122"/>
                <a:cs typeface="Inter" pitchFamily="34" charset="-120"/>
              </a:rPr>
              <a:t>Concept Design</a:t>
            </a:r>
            <a:endParaRPr lang="en-US" sz="1157" dirty="0"/>
          </a:p>
        </p:txBody>
      </p:sp>
      <p:sp>
        <p:nvSpPr>
          <p:cNvPr id="10" name="Text 6"/>
          <p:cNvSpPr/>
          <p:nvPr/>
        </p:nvSpPr>
        <p:spPr>
          <a:xfrm rot="2600164">
            <a:off x="6100750" y="1699321"/>
            <a:ext cx="1575935" cy="1597634"/>
          </a:xfrm>
          <a:prstGeom prst="rect">
            <a:avLst/>
          </a:prstGeom>
          <a:solidFill>
            <a:srgbClr val="FFFFFF">
              <a:alpha val="60000"/>
            </a:srgbClr>
          </a:solidFill>
          <a:ln w="9049">
            <a:solidFill>
              <a:srgbClr val="000000"/>
            </a:solidFill>
          </a:ln>
        </p:spPr>
        <p:txBody>
          <a:bodyPr wrap="square" rtlCol="0" anchor="ctr"/>
          <a:lstStyle/>
          <a:p>
            <a:pPr indent="0" marL="0">
              <a:buNone/>
            </a:pPr>
            <a:endParaRPr lang="en-US" dirty="0"/>
          </a:p>
        </p:txBody>
      </p:sp>
      <p:sp>
        <p:nvSpPr>
          <p:cNvPr id="11" name="Text 7"/>
          <p:cNvSpPr/>
          <p:nvPr/>
        </p:nvSpPr>
        <p:spPr>
          <a:xfrm>
            <a:off x="366713" y="357188"/>
            <a:ext cx="22955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Process Map</a:t>
            </a:r>
            <a:endParaRPr lang="en-US" sz="2494" dirty="0"/>
          </a:p>
        </p:txBody>
      </p:sp>
      <p:sp>
        <p:nvSpPr>
          <p:cNvPr id="12" name="Text 8"/>
          <p:cNvSpPr/>
          <p:nvPr/>
        </p:nvSpPr>
        <p:spPr>
          <a:xfrm>
            <a:off x="8910638" y="4891088"/>
            <a:ext cx="95250"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a:t>
            </a:r>
            <a:endParaRPr lang="en-US" sz="855" dirty="0"/>
          </a:p>
        </p:txBody>
      </p:sp>
      <p:sp>
        <p:nvSpPr>
          <p:cNvPr id="13" name="Text 9"/>
          <p:cNvSpPr/>
          <p:nvPr/>
        </p:nvSpPr>
        <p:spPr>
          <a:xfrm>
            <a:off x="7662863" y="0"/>
            <a:ext cx="1157288" cy="257175"/>
          </a:xfrm>
          <a:prstGeom prst="rect">
            <a:avLst/>
          </a:prstGeom>
          <a:noFill/>
          <a:ln/>
        </p:spPr>
        <p:txBody>
          <a:bodyPr wrap="square" lIns="0" tIns="0" rIns="0" bIns="0" rtlCol="0" anchor="t"/>
          <a:lstStyle/>
          <a:p>
            <a:pPr algn="r"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PRANTA SAHA</a:t>
            </a:r>
            <a:endParaRPr lang="en-US" sz="1283" dirty="0"/>
          </a:p>
        </p:txBody>
      </p:sp>
      <p:sp>
        <p:nvSpPr>
          <p:cNvPr id="14" name="Shape 10"/>
          <p:cNvSpPr/>
          <p:nvPr/>
        </p:nvSpPr>
        <p:spPr>
          <a:xfrm>
            <a:off x="3605213" y="428625"/>
            <a:ext cx="1933575" cy="676275"/>
          </a:xfrm>
          <a:prstGeom prst="roundRect">
            <a:avLst/>
          </a:prstGeom>
          <a:solidFill>
            <a:srgbClr val="534AB7">
              <a:alpha val="40000"/>
            </a:srgbClr>
          </a:solidFill>
          <a:ln w="9049">
            <a:solidFill>
              <a:srgbClr val="534AB7"/>
            </a:solidFill>
            <a:prstDash val="solid"/>
          </a:ln>
        </p:spPr>
      </p:sp>
      <p:sp>
        <p:nvSpPr>
          <p:cNvPr id="15" name="Text 11"/>
          <p:cNvSpPr/>
          <p:nvPr/>
        </p:nvSpPr>
        <p:spPr>
          <a:xfrm>
            <a:off x="3605213" y="652463"/>
            <a:ext cx="1933575" cy="228600"/>
          </a:xfrm>
          <a:prstGeom prst="rect">
            <a:avLst/>
          </a:prstGeom>
          <a:noFill/>
          <a:ln/>
        </p:spPr>
        <p:txBody>
          <a:bodyPr wrap="square" lIns="0" tIns="0" rIns="0" bIns="0" rtlCol="0" anchor="t"/>
          <a:lstStyle/>
          <a:p>
            <a:pPr algn="ctr" indent="0" marL="0">
              <a:lnSpc>
                <a:spcPts val="1710"/>
              </a:lnSpc>
              <a:buNone/>
            </a:pPr>
            <a:r>
              <a:rPr lang="en-US" sz="1140" b="1" spc="80" kern="0" dirty="0">
                <a:solidFill>
                  <a:srgbClr val="000000">
                    <a:alpha val="99000"/>
                  </a:srgbClr>
                </a:solidFill>
                <a:latin typeface="Plus Jakarta Sans" pitchFamily="34" charset="0"/>
                <a:ea typeface="Plus Jakarta Sans" pitchFamily="34" charset="-122"/>
                <a:cs typeface="Plus Jakarta Sans" pitchFamily="34" charset="-120"/>
              </a:rPr>
              <a:t>Current Milestone</a:t>
            </a:r>
            <a:endParaRPr lang="en-US" sz="1140" dirty="0"/>
          </a:p>
        </p:txBody>
      </p:sp>
      <p:sp>
        <p:nvSpPr>
          <p:cNvPr id="16" name="Text 12"/>
          <p:cNvSpPr/>
          <p:nvPr/>
        </p:nvSpPr>
        <p:spPr>
          <a:xfrm>
            <a:off x="5934075" y="2371725"/>
            <a:ext cx="1999714" cy="261937"/>
          </a:xfrm>
          <a:prstGeom prst="rect">
            <a:avLst/>
          </a:prstGeom>
          <a:noFill/>
          <a:ln/>
        </p:spPr>
        <p:txBody>
          <a:bodyPr wrap="square" lIns="0" tIns="0" rIns="0" bIns="0" rtlCol="0" anchor="t"/>
          <a:lstStyle/>
          <a:p>
            <a:pPr algn="ctr" indent="0" marL="0">
              <a:lnSpc>
                <a:spcPts val="1953"/>
              </a:lnSpc>
              <a:buNone/>
            </a:pPr>
            <a:r>
              <a:rPr lang="en-US" sz="1302" b="1" spc="91" kern="0" dirty="0">
                <a:solidFill>
                  <a:srgbClr val="000000">
                    <a:alpha val="99000"/>
                  </a:srgbClr>
                </a:solidFill>
                <a:latin typeface="Plus Jakarta Sans" pitchFamily="34" charset="0"/>
                <a:ea typeface="Plus Jakarta Sans" pitchFamily="34" charset="-122"/>
                <a:cs typeface="Plus Jakarta Sans" pitchFamily="34" charset="-120"/>
              </a:rPr>
              <a:t>Deliver</a:t>
            </a:r>
            <a:endParaRPr lang="en-US" sz="130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12700">
            <a:solidFill>
              <a:srgbClr val="F5F1E9"/>
            </a:solidFill>
            <a:prstDash val="solid"/>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02</a:t>
            </a:r>
            <a:endParaRPr lang="en-US" sz="24938" dirty="0"/>
          </a:p>
        </p:txBody>
      </p:sp>
      <p:sp>
        <p:nvSpPr>
          <p:cNvPr id="4" name="Text 2"/>
          <p:cNvSpPr/>
          <p:nvPr/>
        </p:nvSpPr>
        <p:spPr>
          <a:xfrm>
            <a:off x="742950" y="1047750"/>
            <a:ext cx="3786188" cy="1343025"/>
          </a:xfrm>
          <a:prstGeom prst="rect">
            <a:avLst/>
          </a:prstGeom>
          <a:noFill/>
          <a:ln/>
        </p:spPr>
        <p:txBody>
          <a:bodyPr wrap="square" lIns="0" tIns="0" rIns="0" bIns="0" rtlCol="0" anchor="t"/>
          <a:lstStyle/>
          <a:p>
            <a:pPr algn="l" indent="0" marL="0">
              <a:lnSpc>
                <a:spcPts val="5016"/>
              </a:lnSpc>
              <a:buNone/>
            </a:pPr>
            <a:r>
              <a:rPr lang="en-US" sz="4560" b="1" dirty="0">
                <a:solidFill>
                  <a:srgbClr val="000000">
                    <a:alpha val="99000"/>
                  </a:srgbClr>
                </a:solidFill>
                <a:latin typeface="Plus Jakarta Sans" pitchFamily="34" charset="0"/>
                <a:ea typeface="Plus Jakarta Sans" pitchFamily="34" charset="-122"/>
                <a:cs typeface="Plus Jakarta Sans" pitchFamily="34" charset="-120"/>
              </a:rPr>
              <a:t>RQ &amp; Hypotheses</a:t>
            </a:r>
            <a:endParaRPr lang="en-US" sz="4560" dirty="0"/>
          </a:p>
        </p:txBody>
      </p:sp>
      <p:sp>
        <p:nvSpPr>
          <p:cNvPr id="5" name="Text 3"/>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81275"/>
            <a:ext cx="6229350" cy="6858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How does the use of a structured LLM prompt template affect both the speed and quality of Esmini scenario generation among early-career system engineers compared to unstructured prompting?</a:t>
            </a:r>
            <a:endParaRPr lang="en-US" sz="1425" dirty="0"/>
          </a:p>
        </p:txBody>
      </p:sp>
      <p:sp>
        <p:nvSpPr>
          <p:cNvPr id="6" name="Text 3"/>
          <p:cNvSpPr/>
          <p:nvPr/>
        </p:nvSpPr>
        <p:spPr>
          <a:xfrm>
            <a:off x="3319463" y="1609725"/>
            <a:ext cx="2500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Research Question</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7</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09838"/>
            <a:ext cx="6229350" cy="13716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Early-career system engineers who use a structured LLM prompt template with predefined parameters will produce Esmini-ready scenarios that meet a predefined quality threshold (as measured by a scoring rubric) in </a:t>
            </a:r>
            <a:pPr algn="l" indent="0" marL="0">
              <a:lnSpc>
                <a:spcPts val="1710"/>
              </a:lnSpc>
              <a:buNone/>
            </a:pPr>
            <a:r>
              <a:rPr lang="en-US" sz="1425" b="1" spc="-31" kern="0" dirty="0">
                <a:solidFill>
                  <a:srgbClr val="000000">
                    <a:alpha val="99000"/>
                  </a:srgbClr>
                </a:solidFill>
                <a:latin typeface="Inter" pitchFamily="34" charset="0"/>
                <a:ea typeface="Inter" pitchFamily="34" charset="-122"/>
                <a:cs typeface="Inter" pitchFamily="34" charset="-120"/>
              </a:rPr>
              <a:t>less time</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than those using a fill-in-the-blank prompting structure. </a:t>
            </a:r>
            <a:endParaRPr lang="en-US" sz="1425" dirty="0"/>
          </a:p>
          <a:p>
            <a:pPr algn="l" marL="342900" indent="-342900">
              <a:lnSpc>
                <a:spcPts val="1710"/>
              </a:lnSpc>
              <a:buSzPct val="100000"/>
              <a:buChar char="•"/>
            </a:pPr>
            <a:r>
              <a:rPr lang="en-US" sz="1425" spc="-31" kern="0" dirty="0">
                <a:solidFill>
                  <a:srgbClr val="000000">
                    <a:alpha val="99000"/>
                  </a:srgbClr>
                </a:solidFill>
                <a:latin typeface="Inter" pitchFamily="34" charset="0"/>
                <a:ea typeface="Inter" pitchFamily="34" charset="-122"/>
                <a:cs typeface="Inter" pitchFamily="34" charset="-120"/>
              </a:rPr>
              <a:t>Tested quantitatively</a:t>
            </a:r>
            <a:endParaRPr lang="en-US" sz="1425" dirty="0"/>
          </a:p>
        </p:txBody>
      </p:sp>
      <p:sp>
        <p:nvSpPr>
          <p:cNvPr id="6" name="Text 3"/>
          <p:cNvSpPr/>
          <p:nvPr/>
        </p:nvSpPr>
        <p:spPr>
          <a:xfrm>
            <a:off x="3319463" y="1609725"/>
            <a:ext cx="2500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Hypothesis #1</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8</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09838"/>
            <a:ext cx="6229350" cy="11430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H1: Structured prompts reduce the time required to achieve acceptable scenario quality.</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IV: Prompt type(Structured vs Unstructured)</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DV: Time to reach acceptable scenario quality (minutes)</a:t>
            </a:r>
            <a:endParaRPr lang="en-US" sz="1425" dirty="0"/>
          </a:p>
        </p:txBody>
      </p:sp>
      <p:sp>
        <p:nvSpPr>
          <p:cNvPr id="6" name="Text 3"/>
          <p:cNvSpPr/>
          <p:nvPr/>
        </p:nvSpPr>
        <p:spPr>
          <a:xfrm>
            <a:off x="3319463" y="1609725"/>
            <a:ext cx="2500313" cy="57150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Hypothesis #1 (Efficiency)</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9</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09838"/>
            <a:ext cx="6229350" cy="11430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Early-career system engineers who use a structured LLM prompt template with predefined parameters will produce a lower proportion of </a:t>
            </a:r>
            <a:pPr algn="l" indent="0" marL="0">
              <a:lnSpc>
                <a:spcPts val="1710"/>
              </a:lnSpc>
              <a:buNone/>
            </a:pPr>
            <a:r>
              <a:rPr lang="en-US" sz="1425" b="1" spc="-31" kern="0" dirty="0">
                <a:solidFill>
                  <a:srgbClr val="000000">
                    <a:alpha val="99000"/>
                  </a:srgbClr>
                </a:solidFill>
                <a:latin typeface="Inter" pitchFamily="34" charset="0"/>
                <a:ea typeface="Inter" pitchFamily="34" charset="-122"/>
                <a:cs typeface="Inter" pitchFamily="34" charset="-120"/>
              </a:rPr>
              <a:t>semantically unrealistic</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Esmini scenarios than those starting from an unstructured blank prompt.</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a:t>
            </a:r>
            <a:endParaRPr lang="en-US" sz="1425" dirty="0"/>
          </a:p>
          <a:p>
            <a:pPr algn="l" marL="342900" indent="-342900">
              <a:lnSpc>
                <a:spcPts val="1710"/>
              </a:lnSpc>
              <a:buSzPct val="100000"/>
              <a:buChar char="•"/>
            </a:pPr>
            <a:r>
              <a:rPr lang="en-US" sz="1425" spc="-31" kern="0" dirty="0">
                <a:solidFill>
                  <a:srgbClr val="000000">
                    <a:alpha val="99000"/>
                  </a:srgbClr>
                </a:solidFill>
                <a:latin typeface="Inter" pitchFamily="34" charset="0"/>
                <a:ea typeface="Inter" pitchFamily="34" charset="-122"/>
                <a:cs typeface="Inter" pitchFamily="34" charset="-120"/>
              </a:rPr>
              <a:t>Tested quantitatively</a:t>
            </a:r>
            <a:endParaRPr lang="en-US" sz="1425" dirty="0"/>
          </a:p>
        </p:txBody>
      </p:sp>
      <p:sp>
        <p:nvSpPr>
          <p:cNvPr id="6" name="Text 3"/>
          <p:cNvSpPr/>
          <p:nvPr/>
        </p:nvSpPr>
        <p:spPr>
          <a:xfrm>
            <a:off x="3319463" y="1609725"/>
            <a:ext cx="2500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Hypothesis #2</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10</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09838"/>
            <a:ext cx="6229350" cy="11430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H2: Structured prompts reduce the proportion of semantically unrealistic scenarios.</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IV: Prompt type (Structured vs Unstructured)</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DV: Percentage of unrealistic scenarios</a:t>
            </a:r>
            <a:endParaRPr lang="en-US" sz="1425" dirty="0"/>
          </a:p>
        </p:txBody>
      </p:sp>
      <p:sp>
        <p:nvSpPr>
          <p:cNvPr id="6" name="Text 3"/>
          <p:cNvSpPr/>
          <p:nvPr/>
        </p:nvSpPr>
        <p:spPr>
          <a:xfrm>
            <a:off x="3319463" y="1609725"/>
            <a:ext cx="2500313" cy="57150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Hypothesis #2 (Quality)</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11</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09838"/>
            <a:ext cx="6229350" cy="11430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Early-career system engineers who use a structured LLM prompt template with predefined parameters will report </a:t>
            </a:r>
            <a:pPr algn="l" indent="0" marL="0">
              <a:lnSpc>
                <a:spcPts val="1710"/>
              </a:lnSpc>
              <a:buNone/>
            </a:pPr>
            <a:r>
              <a:rPr lang="en-US" sz="1425" b="1" spc="-31" kern="0" dirty="0">
                <a:solidFill>
                  <a:srgbClr val="000000">
                    <a:alpha val="99000"/>
                  </a:srgbClr>
                </a:solidFill>
                <a:latin typeface="Inter" pitchFamily="34" charset="0"/>
                <a:ea typeface="Inter" pitchFamily="34" charset="-122"/>
                <a:cs typeface="Inter" pitchFamily="34" charset="-120"/>
              </a:rPr>
              <a:t>higher trust in the validity</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of LLM-generated Esmini scenarios than those starting from an unstructured blank prompt.</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a:t>
            </a:r>
            <a:endParaRPr lang="en-US" sz="1425" dirty="0"/>
          </a:p>
          <a:p>
            <a:pPr algn="l" marL="342900" indent="-342900">
              <a:lnSpc>
                <a:spcPts val="1710"/>
              </a:lnSpc>
              <a:buSzPct val="100000"/>
              <a:buChar char="•"/>
            </a:pPr>
            <a:r>
              <a:rPr lang="en-US" sz="1425" spc="-31" kern="0" dirty="0">
                <a:solidFill>
                  <a:srgbClr val="000000">
                    <a:alpha val="99000"/>
                  </a:srgbClr>
                </a:solidFill>
                <a:latin typeface="Inter" pitchFamily="34" charset="0"/>
                <a:ea typeface="Inter" pitchFamily="34" charset="-122"/>
                <a:cs typeface="Inter" pitchFamily="34" charset="-120"/>
              </a:rPr>
              <a:t>Tested quantitatively</a:t>
            </a:r>
            <a:endParaRPr lang="en-US" sz="1425" dirty="0"/>
          </a:p>
        </p:txBody>
      </p:sp>
      <p:sp>
        <p:nvSpPr>
          <p:cNvPr id="6" name="Text 3"/>
          <p:cNvSpPr/>
          <p:nvPr/>
        </p:nvSpPr>
        <p:spPr>
          <a:xfrm>
            <a:off x="3319463" y="1609725"/>
            <a:ext cx="2500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Hypothesis #3</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12</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Question &amp; Hypotheses </a:t>
            </a:r>
            <a:endParaRPr lang="en-US" sz="2494" dirty="0"/>
          </a:p>
        </p:txBody>
      </p:sp>
      <p:sp>
        <p:nvSpPr>
          <p:cNvPr id="4" name="Shape 1"/>
          <p:cNvSpPr/>
          <p:nvPr/>
        </p:nvSpPr>
        <p:spPr>
          <a:xfrm>
            <a:off x="647700" y="1162050"/>
            <a:ext cx="7667625" cy="3524250"/>
          </a:xfrm>
          <a:prstGeom prst="roundRect">
            <a:avLst>
              <a:gd name="adj" fmla="val 4151"/>
            </a:avLst>
          </a:prstGeom>
          <a:solidFill>
            <a:srgbClr val="FFFFFF"/>
          </a:solidFill>
          <a:ln/>
        </p:spPr>
      </p:sp>
      <p:sp>
        <p:nvSpPr>
          <p:cNvPr id="5" name="Text 2"/>
          <p:cNvSpPr/>
          <p:nvPr/>
        </p:nvSpPr>
        <p:spPr>
          <a:xfrm>
            <a:off x="1457325" y="2509838"/>
            <a:ext cx="6229350" cy="9144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H 3: Structured prompts increase user trust in scenario validity.</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IV: Prompt type (Structured vs Unstructured)</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DV: User trust score (Likert scale 1-7)</a:t>
            </a:r>
            <a:endParaRPr lang="en-US" sz="1425" dirty="0"/>
          </a:p>
        </p:txBody>
      </p:sp>
      <p:sp>
        <p:nvSpPr>
          <p:cNvPr id="6" name="Text 3"/>
          <p:cNvSpPr/>
          <p:nvPr/>
        </p:nvSpPr>
        <p:spPr>
          <a:xfrm>
            <a:off x="3319463" y="1609725"/>
            <a:ext cx="2500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Hypothesis #3 (Trust)</a:t>
            </a:r>
            <a:endParaRPr lang="en-US" sz="1425" dirty="0"/>
          </a:p>
        </p:txBody>
      </p:sp>
      <p:sp>
        <p:nvSpPr>
          <p:cNvPr id="7"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13</a:t>
            </a:r>
            <a:endParaRPr lang="en-US" sz="855" dirty="0"/>
          </a:p>
        </p:txBody>
      </p:sp>
      <p:sp>
        <p:nvSpPr>
          <p:cNvPr id="8" name="Text 5"/>
          <p:cNvSpPr/>
          <p:nvPr/>
        </p:nvSpPr>
        <p:spPr>
          <a:xfrm>
            <a:off x="8334375" y="76200"/>
            <a:ext cx="7191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SADIA AMAN</a:t>
            </a:r>
            <a:endParaRPr lang="en-US" sz="78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742950" y="104775"/>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Block C - Sirine</a:t>
            </a:r>
            <a:endParaRPr lang="en-US" sz="2494" dirty="0"/>
          </a:p>
        </p:txBody>
      </p:sp>
      <p:sp>
        <p:nvSpPr>
          <p:cNvPr id="3" name="Text 1"/>
          <p:cNvSpPr/>
          <p:nvPr/>
        </p:nvSpPr>
        <p:spPr>
          <a:xfrm>
            <a:off x="176213" y="904875"/>
            <a:ext cx="8305800" cy="3800475"/>
          </a:xfrm>
          <a:prstGeom prst="rect">
            <a:avLst/>
          </a:prstGeom>
          <a:noFill/>
          <a:ln/>
        </p:spPr>
        <p:txBody>
          <a:bodyPr wrap="square" lIns="0" tIns="0" rIns="0" bIns="0" rtlCol="0" anchor="t"/>
          <a:lstStyle/>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Block C — Literature Review (12–20 slides)</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Organise the review around 2–4 themes, not around individual papers. For each theme</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include:</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Recommended depth checkpoints (use these to self-audit):</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A short theme statement (1 sentence) telling the audience what question the theme</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answers.</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Key works (typically 3–8 references per theme), grouped, compared, contrasted — not</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summarised one by one.</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Visuals that compress information: comparison tables, taxonomies, timelines, method</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matrices, conceptual diagrams. Avoid wall-of-text slides.</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Citations on every slide with stable bracket numbering ([12], [13], …) that resolves to</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the references slide at the end.</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Sub-team attribution in the footer (who reviewed which theme) so individual</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contributions are visible — this matters for grading.</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Have you covered foundational / seminal work, and the most recent (last 2–3 years)</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work?</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Have you included at least one critical comparison (table, matrix, taxonomy)?</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Have you cited primary sources (papers, standards, datasets) and not only blog posts?</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Have you included industry / patent / open-source artefacts where relevant?</a:t>
            </a:r>
            <a:endParaRPr lang="en-US" sz="11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w="12700">
            <a:solidFill>
              <a:srgbClr val="F5F1E9"/>
            </a:solidFill>
            <a:prstDash val="solid"/>
          </a:ln>
        </p:spPr>
      </p:sp>
      <p:sp>
        <p:nvSpPr>
          <p:cNvPr id="4" name="Text 1"/>
          <p:cNvSpPr/>
          <p:nvPr/>
        </p:nvSpPr>
        <p:spPr>
          <a:xfrm>
            <a:off x="3957638" y="47625"/>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03</a:t>
            </a:r>
            <a:endParaRPr lang="en-US" sz="24938" dirty="0"/>
          </a:p>
        </p:txBody>
      </p:sp>
      <p:sp>
        <p:nvSpPr>
          <p:cNvPr id="5" name="Text 2"/>
          <p:cNvSpPr/>
          <p:nvPr/>
        </p:nvSpPr>
        <p:spPr>
          <a:xfrm>
            <a:off x="766763" y="2509838"/>
            <a:ext cx="4371975" cy="1871663"/>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Plus Jakarta Sans" pitchFamily="34" charset="0"/>
                <a:ea typeface="Plus Jakarta Sans" pitchFamily="34" charset="-122"/>
                <a:cs typeface="Plus Jakarta Sans" pitchFamily="34" charset="-120"/>
              </a:rPr>
              <a:t>Concept Foundations</a:t>
            </a:r>
            <a:endParaRPr lang="en-US" sz="5344" dirty="0"/>
          </a:p>
        </p:txBody>
      </p:sp>
      <p:sp>
        <p:nvSpPr>
          <p:cNvPr id="6" name="Text 3"/>
          <p:cNvSpPr/>
          <p:nvPr/>
        </p:nvSpPr>
        <p:spPr>
          <a:xfrm>
            <a:off x="90488" y="76200"/>
            <a:ext cx="57245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CONCEPT DESIGN</a:t>
            </a:r>
            <a:endParaRPr lang="en-US" sz="784" dirty="0"/>
          </a:p>
        </p:txBody>
      </p:sp>
      <p:sp>
        <p:nvSpPr>
          <p:cNvPr id="7" name="Text 4"/>
          <p:cNvSpPr/>
          <p:nvPr/>
        </p:nvSpPr>
        <p:spPr>
          <a:xfrm>
            <a:off x="7453312" y="76200"/>
            <a:ext cx="160020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SIRINE KOUISSAH MAHJOUB</a:t>
            </a:r>
            <a:endParaRPr lang="en-US" sz="78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sp>
        <p:nvSpPr>
          <p:cNvPr id="4" name="Shape 1"/>
          <p:cNvSpPr/>
          <p:nvPr/>
        </p:nvSpPr>
        <p:spPr>
          <a:xfrm>
            <a:off x="3509963" y="1185863"/>
            <a:ext cx="5157788" cy="809625"/>
          </a:xfrm>
          <a:prstGeom prst="rect">
            <a:avLst/>
          </a:prstGeom>
          <a:noFill/>
          <a:ln/>
        </p:spPr>
      </p:sp>
      <p:sp>
        <p:nvSpPr>
          <p:cNvPr id="5" name="Shape 2"/>
          <p:cNvSpPr/>
          <p:nvPr/>
        </p:nvSpPr>
        <p:spPr>
          <a:xfrm>
            <a:off x="3509963" y="1185863"/>
            <a:ext cx="190500" cy="190500"/>
          </a:xfrm>
          <a:prstGeom prst="rect">
            <a:avLst/>
          </a:prstGeom>
          <a:noFill/>
          <a:ln/>
        </p:spPr>
      </p:sp>
      <p:sp>
        <p:nvSpPr>
          <p:cNvPr id="6" name="Shape 3"/>
          <p:cNvSpPr/>
          <p:nvPr/>
        </p:nvSpPr>
        <p:spPr>
          <a:xfrm>
            <a:off x="3509963" y="1185863"/>
            <a:ext cx="190500" cy="190500"/>
          </a:xfrm>
          <a:prstGeom prst="roundRect">
            <a:avLst/>
          </a:prstGeom>
          <a:solidFill>
            <a:srgbClr val="000000"/>
          </a:solidFill>
          <a:ln/>
        </p:spPr>
      </p:sp>
      <p:sp>
        <p:nvSpPr>
          <p:cNvPr id="7" name="Shape 4"/>
          <p:cNvSpPr/>
          <p:nvPr/>
        </p:nvSpPr>
        <p:spPr>
          <a:xfrm>
            <a:off x="3900488" y="1185863"/>
            <a:ext cx="4767263" cy="809625"/>
          </a:xfrm>
          <a:prstGeom prst="rect">
            <a:avLst/>
          </a:prstGeom>
          <a:noFill/>
          <a:ln/>
        </p:spPr>
      </p:sp>
      <p:sp>
        <p:nvSpPr>
          <p:cNvPr id="8" name="Text 5"/>
          <p:cNvSpPr/>
          <p:nvPr/>
        </p:nvSpPr>
        <p:spPr>
          <a:xfrm>
            <a:off x="3900488" y="1185863"/>
            <a:ext cx="4700588" cy="51435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Free-form prompting offers flexibility but leads to inconsistent and unpredictable outputs.</a:t>
            </a:r>
            <a:endParaRPr lang="en-US" sz="1283" dirty="0"/>
          </a:p>
        </p:txBody>
      </p:sp>
      <p:sp>
        <p:nvSpPr>
          <p:cNvPr id="9" name="Text 6"/>
          <p:cNvSpPr/>
          <p:nvPr/>
        </p:nvSpPr>
        <p:spPr>
          <a:xfrm>
            <a:off x="3900488" y="1738313"/>
            <a:ext cx="4767263" cy="257175"/>
          </a:xfrm>
          <a:prstGeom prst="rect">
            <a:avLst/>
          </a:prstGeom>
          <a:noFill/>
          <a:ln/>
        </p:spPr>
        <p:txBody>
          <a:bodyPr wrap="square" lIns="0" tIns="0" rIns="0" bIns="0" rtlCol="0" anchor="t"/>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 Users need more guided interaction mechanisms</a:t>
            </a:r>
            <a:endParaRPr lang="en-US" sz="1283" dirty="0"/>
          </a:p>
        </p:txBody>
      </p:sp>
      <p:sp>
        <p:nvSpPr>
          <p:cNvPr id="10" name="Shape 7"/>
          <p:cNvSpPr/>
          <p:nvPr/>
        </p:nvSpPr>
        <p:spPr>
          <a:xfrm>
            <a:off x="3509963" y="2228850"/>
            <a:ext cx="5157788" cy="1066800"/>
          </a:xfrm>
          <a:prstGeom prst="rect">
            <a:avLst/>
          </a:prstGeom>
          <a:noFill/>
          <a:ln/>
        </p:spPr>
      </p:sp>
      <p:sp>
        <p:nvSpPr>
          <p:cNvPr id="11" name="Shape 8"/>
          <p:cNvSpPr/>
          <p:nvPr/>
        </p:nvSpPr>
        <p:spPr>
          <a:xfrm>
            <a:off x="3509963" y="2228850"/>
            <a:ext cx="190500" cy="190500"/>
          </a:xfrm>
          <a:prstGeom prst="rect">
            <a:avLst/>
          </a:prstGeom>
          <a:noFill/>
          <a:ln/>
        </p:spPr>
      </p:sp>
      <p:sp>
        <p:nvSpPr>
          <p:cNvPr id="12" name="Shape 9"/>
          <p:cNvSpPr/>
          <p:nvPr/>
        </p:nvSpPr>
        <p:spPr>
          <a:xfrm>
            <a:off x="3509963" y="2228850"/>
            <a:ext cx="190500" cy="190500"/>
          </a:xfrm>
          <a:prstGeom prst="roundRect">
            <a:avLst/>
          </a:prstGeom>
          <a:solidFill>
            <a:srgbClr val="000000"/>
          </a:solidFill>
          <a:ln/>
        </p:spPr>
      </p:sp>
      <p:sp>
        <p:nvSpPr>
          <p:cNvPr id="13" name="Shape 10"/>
          <p:cNvSpPr/>
          <p:nvPr/>
        </p:nvSpPr>
        <p:spPr>
          <a:xfrm>
            <a:off x="3900488" y="2228850"/>
            <a:ext cx="4700588" cy="1066800"/>
          </a:xfrm>
          <a:prstGeom prst="rect">
            <a:avLst/>
          </a:prstGeom>
          <a:noFill/>
          <a:ln/>
        </p:spPr>
      </p:sp>
      <p:sp>
        <p:nvSpPr>
          <p:cNvPr id="14" name="Text 11"/>
          <p:cNvSpPr/>
          <p:nvPr/>
        </p:nvSpPr>
        <p:spPr>
          <a:xfrm>
            <a:off x="3900488" y="2228850"/>
            <a:ext cx="4543425" cy="51435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Structured prompting improves control, consistency, and reliability in scenario generation.</a:t>
            </a:r>
            <a:endParaRPr lang="en-US" sz="1283" dirty="0"/>
          </a:p>
        </p:txBody>
      </p:sp>
      <p:sp>
        <p:nvSpPr>
          <p:cNvPr id="15" name="Text 12"/>
          <p:cNvSpPr/>
          <p:nvPr/>
        </p:nvSpPr>
        <p:spPr>
          <a:xfrm>
            <a:off x="3900488" y="2781300"/>
            <a:ext cx="4700588" cy="514350"/>
          </a:xfrm>
          <a:prstGeom prst="rect">
            <a:avLst/>
          </a:prstGeom>
          <a:noFill/>
          <a:ln/>
        </p:spPr>
        <p:txBody>
          <a:bodyPr wrap="square" lIns="0" tIns="0" rIns="0" bIns="0" rtlCol="0" anchor="t"/>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 Our concept uses predefined parameters and modular inputs</a:t>
            </a:r>
            <a:endParaRPr lang="en-US" sz="1283" dirty="0"/>
          </a:p>
        </p:txBody>
      </p:sp>
      <p:sp>
        <p:nvSpPr>
          <p:cNvPr id="16" name="Shape 13"/>
          <p:cNvSpPr/>
          <p:nvPr/>
        </p:nvSpPr>
        <p:spPr>
          <a:xfrm>
            <a:off x="3509963" y="3529013"/>
            <a:ext cx="5157788" cy="1066800"/>
          </a:xfrm>
          <a:prstGeom prst="rect">
            <a:avLst/>
          </a:prstGeom>
          <a:noFill/>
          <a:ln/>
        </p:spPr>
      </p:sp>
      <p:sp>
        <p:nvSpPr>
          <p:cNvPr id="17" name="Shape 14"/>
          <p:cNvSpPr/>
          <p:nvPr/>
        </p:nvSpPr>
        <p:spPr>
          <a:xfrm>
            <a:off x="3509963" y="3529013"/>
            <a:ext cx="190500" cy="190500"/>
          </a:xfrm>
          <a:prstGeom prst="rect">
            <a:avLst/>
          </a:prstGeom>
          <a:noFill/>
          <a:ln/>
        </p:spPr>
      </p:sp>
      <p:sp>
        <p:nvSpPr>
          <p:cNvPr id="18" name="Shape 15"/>
          <p:cNvSpPr/>
          <p:nvPr/>
        </p:nvSpPr>
        <p:spPr>
          <a:xfrm>
            <a:off x="3509963" y="3529013"/>
            <a:ext cx="190500" cy="190500"/>
          </a:xfrm>
          <a:prstGeom prst="roundRect">
            <a:avLst/>
          </a:prstGeom>
          <a:solidFill>
            <a:srgbClr val="000000"/>
          </a:solidFill>
          <a:ln/>
        </p:spPr>
      </p:sp>
      <p:sp>
        <p:nvSpPr>
          <p:cNvPr id="19" name="Shape 16"/>
          <p:cNvSpPr/>
          <p:nvPr/>
        </p:nvSpPr>
        <p:spPr>
          <a:xfrm>
            <a:off x="3895725" y="3529013"/>
            <a:ext cx="4700588" cy="1066800"/>
          </a:xfrm>
          <a:prstGeom prst="rect">
            <a:avLst/>
          </a:prstGeom>
          <a:noFill/>
          <a:ln/>
        </p:spPr>
      </p:sp>
      <p:sp>
        <p:nvSpPr>
          <p:cNvPr id="20" name="Text 17"/>
          <p:cNvSpPr/>
          <p:nvPr/>
        </p:nvSpPr>
        <p:spPr>
          <a:xfrm>
            <a:off x="3895725" y="3529013"/>
            <a:ext cx="4543425" cy="51435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Scenario decomposition improves handling of complex driving behaviors.</a:t>
            </a:r>
            <a:endParaRPr lang="en-US" sz="1283" dirty="0"/>
          </a:p>
        </p:txBody>
      </p:sp>
      <p:sp>
        <p:nvSpPr>
          <p:cNvPr id="21" name="Text 18"/>
          <p:cNvSpPr/>
          <p:nvPr/>
        </p:nvSpPr>
        <p:spPr>
          <a:xfrm>
            <a:off x="3895725" y="4081463"/>
            <a:ext cx="4700588" cy="514350"/>
          </a:xfrm>
          <a:prstGeom prst="rect">
            <a:avLst/>
          </a:prstGeom>
          <a:noFill/>
          <a:ln/>
        </p:spPr>
        <p:txBody>
          <a:bodyPr wrap="square" lIns="0" tIns="0" rIns="0" bIns="0" rtlCol="0" anchor="t"/>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 The interface separates environment, actors, behaviors, and events.</a:t>
            </a:r>
            <a:endParaRPr lang="en-US" sz="1283" dirty="0"/>
          </a:p>
        </p:txBody>
      </p:sp>
      <p:sp>
        <p:nvSpPr>
          <p:cNvPr id="22" name="Text 19"/>
          <p:cNvSpPr/>
          <p:nvPr/>
        </p:nvSpPr>
        <p:spPr>
          <a:xfrm>
            <a:off x="3509963" y="700088"/>
            <a:ext cx="2219325" cy="257175"/>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What the literature taught us</a:t>
            </a:r>
            <a:endParaRPr lang="en-US" sz="1283" dirty="0"/>
          </a:p>
        </p:txBody>
      </p:sp>
      <p:sp>
        <p:nvSpPr>
          <p:cNvPr id="23" name="Text 20"/>
          <p:cNvSpPr/>
          <p:nvPr/>
        </p:nvSpPr>
        <p:spPr>
          <a:xfrm>
            <a:off x="242888" y="1819275"/>
            <a:ext cx="2238375" cy="1466850"/>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Key Insights From Literature Review</a:t>
            </a:r>
            <a:endParaRPr lang="en-US" sz="2494" dirty="0"/>
          </a:p>
        </p:txBody>
      </p:sp>
      <p:sp>
        <p:nvSpPr>
          <p:cNvPr id="24" name="Text 21"/>
          <p:cNvSpPr/>
          <p:nvPr/>
        </p:nvSpPr>
        <p:spPr>
          <a:xfrm>
            <a:off x="8810625" y="484822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15</a:t>
            </a:r>
            <a:endParaRPr lang="en-US" sz="85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sp>
        <p:nvSpPr>
          <p:cNvPr id="4" name="Shape 1"/>
          <p:cNvSpPr/>
          <p:nvPr/>
        </p:nvSpPr>
        <p:spPr>
          <a:xfrm>
            <a:off x="3509963" y="1185863"/>
            <a:ext cx="5157788" cy="1066800"/>
          </a:xfrm>
          <a:prstGeom prst="rect">
            <a:avLst/>
          </a:prstGeom>
          <a:noFill/>
          <a:ln/>
        </p:spPr>
      </p:sp>
      <p:sp>
        <p:nvSpPr>
          <p:cNvPr id="5" name="Shape 2"/>
          <p:cNvSpPr/>
          <p:nvPr/>
        </p:nvSpPr>
        <p:spPr>
          <a:xfrm>
            <a:off x="3509963" y="1185863"/>
            <a:ext cx="190500" cy="190500"/>
          </a:xfrm>
          <a:prstGeom prst="rect">
            <a:avLst/>
          </a:prstGeom>
          <a:noFill/>
          <a:ln/>
        </p:spPr>
      </p:sp>
      <p:sp>
        <p:nvSpPr>
          <p:cNvPr id="6" name="Shape 3"/>
          <p:cNvSpPr/>
          <p:nvPr/>
        </p:nvSpPr>
        <p:spPr>
          <a:xfrm>
            <a:off x="3509963" y="1185863"/>
            <a:ext cx="190500" cy="190500"/>
          </a:xfrm>
          <a:prstGeom prst="roundRect">
            <a:avLst/>
          </a:prstGeom>
          <a:solidFill>
            <a:srgbClr val="000000"/>
          </a:solidFill>
          <a:ln/>
        </p:spPr>
      </p:sp>
      <p:sp>
        <p:nvSpPr>
          <p:cNvPr id="7" name="Shape 4"/>
          <p:cNvSpPr/>
          <p:nvPr/>
        </p:nvSpPr>
        <p:spPr>
          <a:xfrm>
            <a:off x="3900488" y="1185863"/>
            <a:ext cx="4767263" cy="1066800"/>
          </a:xfrm>
          <a:prstGeom prst="rect">
            <a:avLst/>
          </a:prstGeom>
          <a:noFill/>
          <a:ln/>
        </p:spPr>
      </p:sp>
      <p:sp>
        <p:nvSpPr>
          <p:cNvPr id="8" name="Text 5"/>
          <p:cNvSpPr/>
          <p:nvPr/>
        </p:nvSpPr>
        <p:spPr>
          <a:xfrm>
            <a:off x="3900488" y="1185863"/>
            <a:ext cx="4700588" cy="51435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Users struggle to interpret and refine LLM-generated outputs.</a:t>
            </a:r>
            <a:endParaRPr lang="en-US" sz="1283" dirty="0"/>
          </a:p>
        </p:txBody>
      </p:sp>
      <p:sp>
        <p:nvSpPr>
          <p:cNvPr id="9" name="Text 6"/>
          <p:cNvSpPr/>
          <p:nvPr/>
        </p:nvSpPr>
        <p:spPr>
          <a:xfrm>
            <a:off x="3900488" y="1738313"/>
            <a:ext cx="4767263" cy="514350"/>
          </a:xfrm>
          <a:prstGeom prst="rect">
            <a:avLst/>
          </a:prstGeom>
          <a:noFill/>
          <a:ln/>
        </p:spPr>
        <p:txBody>
          <a:bodyPr wrap="square" lIns="0" tIns="0" rIns="0" bIns="0" rtlCol="0" anchor="t"/>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 The system includes previews, validation, and guided refinement.</a:t>
            </a:r>
            <a:endParaRPr lang="en-US" sz="1283" dirty="0"/>
          </a:p>
        </p:txBody>
      </p:sp>
      <p:sp>
        <p:nvSpPr>
          <p:cNvPr id="10" name="Shape 7"/>
          <p:cNvSpPr/>
          <p:nvPr/>
        </p:nvSpPr>
        <p:spPr>
          <a:xfrm>
            <a:off x="3509963" y="2486025"/>
            <a:ext cx="5157788" cy="1066800"/>
          </a:xfrm>
          <a:prstGeom prst="rect">
            <a:avLst/>
          </a:prstGeom>
          <a:noFill/>
          <a:ln/>
        </p:spPr>
      </p:sp>
      <p:sp>
        <p:nvSpPr>
          <p:cNvPr id="11" name="Shape 8"/>
          <p:cNvSpPr/>
          <p:nvPr/>
        </p:nvSpPr>
        <p:spPr>
          <a:xfrm>
            <a:off x="3509963" y="2486025"/>
            <a:ext cx="190500" cy="190500"/>
          </a:xfrm>
          <a:prstGeom prst="rect">
            <a:avLst/>
          </a:prstGeom>
          <a:noFill/>
          <a:ln/>
        </p:spPr>
      </p:sp>
      <p:sp>
        <p:nvSpPr>
          <p:cNvPr id="12" name="Shape 9"/>
          <p:cNvSpPr/>
          <p:nvPr/>
        </p:nvSpPr>
        <p:spPr>
          <a:xfrm>
            <a:off x="3509963" y="2486025"/>
            <a:ext cx="190500" cy="190500"/>
          </a:xfrm>
          <a:prstGeom prst="roundRect">
            <a:avLst/>
          </a:prstGeom>
          <a:solidFill>
            <a:srgbClr val="000000"/>
          </a:solidFill>
          <a:ln/>
        </p:spPr>
      </p:sp>
      <p:sp>
        <p:nvSpPr>
          <p:cNvPr id="13" name="Shape 10"/>
          <p:cNvSpPr/>
          <p:nvPr/>
        </p:nvSpPr>
        <p:spPr>
          <a:xfrm>
            <a:off x="3900488" y="2486025"/>
            <a:ext cx="4700588" cy="1066800"/>
          </a:xfrm>
          <a:prstGeom prst="rect">
            <a:avLst/>
          </a:prstGeom>
          <a:noFill/>
          <a:ln/>
        </p:spPr>
      </p:sp>
      <p:sp>
        <p:nvSpPr>
          <p:cNvPr id="14" name="Text 11"/>
          <p:cNvSpPr/>
          <p:nvPr/>
        </p:nvSpPr>
        <p:spPr>
          <a:xfrm>
            <a:off x="3900488" y="2486025"/>
            <a:ext cx="4700588" cy="51435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Pipeline-based feedback loops improve scenario quality and reduce errors.</a:t>
            </a:r>
            <a:endParaRPr lang="en-US" sz="1283" dirty="0"/>
          </a:p>
        </p:txBody>
      </p:sp>
      <p:sp>
        <p:nvSpPr>
          <p:cNvPr id="15" name="Text 12"/>
          <p:cNvSpPr/>
          <p:nvPr/>
        </p:nvSpPr>
        <p:spPr>
          <a:xfrm>
            <a:off x="3900488" y="3038475"/>
            <a:ext cx="4700588" cy="514350"/>
          </a:xfrm>
          <a:prstGeom prst="rect">
            <a:avLst/>
          </a:prstGeom>
          <a:noFill/>
          <a:ln/>
        </p:spPr>
        <p:txBody>
          <a:bodyPr wrap="square" lIns="0" tIns="0" rIns="0" bIns="0" rtlCol="0" anchor="t"/>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 The workflow integrates validation and iterative correction.</a:t>
            </a:r>
            <a:endParaRPr lang="en-US" sz="1283" dirty="0"/>
          </a:p>
        </p:txBody>
      </p:sp>
      <p:sp>
        <p:nvSpPr>
          <p:cNvPr id="16" name="Text 13"/>
          <p:cNvSpPr/>
          <p:nvPr/>
        </p:nvSpPr>
        <p:spPr>
          <a:xfrm>
            <a:off x="3509963" y="700088"/>
            <a:ext cx="2219325" cy="257175"/>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What the literature taught us</a:t>
            </a:r>
            <a:endParaRPr lang="en-US" sz="1283" dirty="0"/>
          </a:p>
        </p:txBody>
      </p:sp>
      <p:sp>
        <p:nvSpPr>
          <p:cNvPr id="17" name="Text 14"/>
          <p:cNvSpPr/>
          <p:nvPr/>
        </p:nvSpPr>
        <p:spPr>
          <a:xfrm>
            <a:off x="242888" y="1819275"/>
            <a:ext cx="2238375" cy="1466850"/>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Key Insights From Literature Review</a:t>
            </a:r>
            <a:endParaRPr lang="en-US" sz="2494" dirty="0"/>
          </a:p>
        </p:txBody>
      </p:sp>
      <p:sp>
        <p:nvSpPr>
          <p:cNvPr id="18" name="Text 15"/>
          <p:cNvSpPr/>
          <p:nvPr/>
        </p:nvSpPr>
        <p:spPr>
          <a:xfrm>
            <a:off x="8810625" y="484822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16</a:t>
            </a:r>
            <a:endParaRPr lang="en-US" sz="85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w="4524">
            <a:solidFill>
              <a:srgbClr val="000000"/>
            </a:solidFill>
            <a:prstDash val="solid"/>
          </a:ln>
        </p:spPr>
      </p:sp>
      <p:sp>
        <p:nvSpPr>
          <p:cNvPr id="4" name="Text 1"/>
          <p:cNvSpPr/>
          <p:nvPr/>
        </p:nvSpPr>
        <p:spPr>
          <a:xfrm>
            <a:off x="376238" y="595313"/>
            <a:ext cx="4148137"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Design Principles</a:t>
            </a:r>
            <a:endParaRPr lang="en-US" sz="2494" dirty="0"/>
          </a:p>
        </p:txBody>
      </p:sp>
      <p:sp>
        <p:nvSpPr>
          <p:cNvPr id="5" name="Text 2"/>
          <p:cNvSpPr/>
          <p:nvPr/>
        </p:nvSpPr>
        <p:spPr>
          <a:xfrm>
            <a:off x="1119188" y="2767013"/>
            <a:ext cx="1681163" cy="257175"/>
          </a:xfrm>
          <a:prstGeom prst="rect">
            <a:avLst/>
          </a:prstGeom>
          <a:noFill/>
          <a:ln/>
        </p:spPr>
        <p:txBody>
          <a:bodyPr wrap="square" lIns="0" tIns="0" rIns="0" bIns="0" rtlCol="0" anchor="ctr"/>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Structured Guidance</a:t>
            </a:r>
            <a:endParaRPr lang="en-US" sz="1283" dirty="0"/>
          </a:p>
        </p:txBody>
      </p:sp>
      <p:sp>
        <p:nvSpPr>
          <p:cNvPr id="6" name="Text 3"/>
          <p:cNvSpPr/>
          <p:nvPr/>
        </p:nvSpPr>
        <p:spPr>
          <a:xfrm>
            <a:off x="3748087" y="2767013"/>
            <a:ext cx="1657350" cy="257175"/>
          </a:xfrm>
          <a:prstGeom prst="rect">
            <a:avLst/>
          </a:prstGeom>
          <a:noFill/>
          <a:ln/>
        </p:spPr>
        <p:txBody>
          <a:bodyPr wrap="square" lIns="0" tIns="0" rIns="0" bIns="0" rtlCol="0" anchor="ctr"/>
          <a:lstStyle/>
          <a:p>
            <a:pPr algn="ctr"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Transparency</a:t>
            </a:r>
            <a:endParaRPr lang="en-US" sz="1283" dirty="0"/>
          </a:p>
        </p:txBody>
      </p:sp>
      <p:sp>
        <p:nvSpPr>
          <p:cNvPr id="7" name="Text 4"/>
          <p:cNvSpPr/>
          <p:nvPr/>
        </p:nvSpPr>
        <p:spPr>
          <a:xfrm>
            <a:off x="6343650" y="2767013"/>
            <a:ext cx="1681163" cy="257175"/>
          </a:xfrm>
          <a:prstGeom prst="rect">
            <a:avLst/>
          </a:prstGeom>
          <a:noFill/>
          <a:ln/>
        </p:spPr>
        <p:txBody>
          <a:bodyPr wrap="square" lIns="0" tIns="0" rIns="0" bIns="0" rtlCol="0" anchor="ctr"/>
          <a:lstStyle/>
          <a:p>
            <a:pPr algn="ctr"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User Control</a:t>
            </a:r>
            <a:endParaRPr lang="en-US" sz="1283" dirty="0"/>
          </a:p>
        </p:txBody>
      </p:sp>
      <p:sp>
        <p:nvSpPr>
          <p:cNvPr id="8" name="Text 5"/>
          <p:cNvSpPr/>
          <p:nvPr/>
        </p:nvSpPr>
        <p:spPr>
          <a:xfrm>
            <a:off x="1119188" y="3062288"/>
            <a:ext cx="1681163" cy="542925"/>
          </a:xfrm>
          <a:prstGeom prst="rect">
            <a:avLst/>
          </a:prstGeom>
          <a:noFill/>
          <a:ln/>
        </p:spPr>
        <p:txBody>
          <a:bodyPr wrap="square" lIns="0" tIns="0" rIns="0" bIns="0" rtlCol="0" anchor="ctr"/>
          <a:lstStyle/>
          <a:p>
            <a:pPr algn="ctr" indent="0" marL="0">
              <a:lnSpc>
                <a:spcPts val="1368"/>
              </a:lnSpc>
              <a:buNone/>
            </a:pPr>
            <a:r>
              <a:rPr lang="en-US" sz="855" spc="-19" kern="0" dirty="0">
                <a:solidFill>
                  <a:srgbClr val="000000">
                    <a:alpha val="99000"/>
                  </a:srgbClr>
                </a:solidFill>
                <a:latin typeface="Inter" pitchFamily="34" charset="0"/>
                <a:ea typeface="Inter" pitchFamily="34" charset="-122"/>
                <a:cs typeface="Inter" pitchFamily="34" charset="-120"/>
              </a:rPr>
              <a:t>Predefined parameters reduce prompt complexity and support consistent scenario creation.</a:t>
            </a:r>
            <a:endParaRPr lang="en-US" sz="855" dirty="0"/>
          </a:p>
        </p:txBody>
      </p:sp>
      <p:sp>
        <p:nvSpPr>
          <p:cNvPr id="9" name="Text 6"/>
          <p:cNvSpPr/>
          <p:nvPr/>
        </p:nvSpPr>
        <p:spPr>
          <a:xfrm>
            <a:off x="3733800" y="3071813"/>
            <a:ext cx="1681163" cy="542925"/>
          </a:xfrm>
          <a:prstGeom prst="rect">
            <a:avLst/>
          </a:prstGeom>
          <a:noFill/>
          <a:ln/>
        </p:spPr>
        <p:txBody>
          <a:bodyPr wrap="square" lIns="0" tIns="0" rIns="0" bIns="0" rtlCol="0" anchor="ctr"/>
          <a:lstStyle/>
          <a:p>
            <a:pPr algn="ctr" indent="0" marL="0">
              <a:lnSpc>
                <a:spcPts val="1368"/>
              </a:lnSpc>
              <a:buNone/>
            </a:pPr>
            <a:r>
              <a:rPr lang="en-US" sz="855" spc="-19" kern="0" dirty="0">
                <a:solidFill>
                  <a:srgbClr val="000000">
                    <a:alpha val="99000"/>
                  </a:srgbClr>
                </a:solidFill>
                <a:latin typeface="Inter" pitchFamily="34" charset="0"/>
                <a:ea typeface="Inter" pitchFamily="34" charset="-122"/>
                <a:cs typeface="Inter" pitchFamily="34" charset="-120"/>
              </a:rPr>
              <a:t>Visible scenario logic and validation improve user trust and understanding.</a:t>
            </a:r>
            <a:endParaRPr lang="en-US" sz="855" dirty="0"/>
          </a:p>
        </p:txBody>
      </p:sp>
      <p:sp>
        <p:nvSpPr>
          <p:cNvPr id="10" name="Text 7"/>
          <p:cNvSpPr/>
          <p:nvPr/>
        </p:nvSpPr>
        <p:spPr>
          <a:xfrm>
            <a:off x="6343650" y="3062288"/>
            <a:ext cx="1681163" cy="723900"/>
          </a:xfrm>
          <a:prstGeom prst="rect">
            <a:avLst/>
          </a:prstGeom>
          <a:noFill/>
          <a:ln/>
        </p:spPr>
        <p:txBody>
          <a:bodyPr wrap="square" lIns="0" tIns="0" rIns="0" bIns="0" rtlCol="0" anchor="ctr"/>
          <a:lstStyle/>
          <a:p>
            <a:pPr algn="ctr" indent="0" marL="0">
              <a:lnSpc>
                <a:spcPts val="1368"/>
              </a:lnSpc>
              <a:buNone/>
            </a:pPr>
            <a:r>
              <a:rPr lang="en-US" sz="855" spc="-19" kern="0" dirty="0">
                <a:solidFill>
                  <a:srgbClr val="000000">
                    <a:alpha val="99000"/>
                  </a:srgbClr>
                </a:solidFill>
                <a:latin typeface="Inter" pitchFamily="34" charset="0"/>
                <a:ea typeface="Inter" pitchFamily="34" charset="-122"/>
                <a:cs typeface="Inter" pitchFamily="34" charset="-120"/>
              </a:rPr>
              <a:t>Users can configure key simulation variables instead of relying on unpredictable outputs.</a:t>
            </a:r>
            <a:endParaRPr lang="en-US" sz="855" dirty="0"/>
          </a:p>
        </p:txBody>
      </p:sp>
      <p:sp>
        <p:nvSpPr>
          <p:cNvPr id="11" name="Text 8"/>
          <p:cNvSpPr/>
          <p:nvPr/>
        </p:nvSpPr>
        <p:spPr>
          <a:xfrm>
            <a:off x="8810625" y="484822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17</a:t>
            </a:r>
            <a:endParaRPr lang="en-US" sz="855" dirty="0"/>
          </a:p>
        </p:txBody>
      </p:sp>
      <p:sp>
        <p:nvSpPr>
          <p:cNvPr id="12" name="Shape 9"/>
          <p:cNvSpPr/>
          <p:nvPr/>
        </p:nvSpPr>
        <p:spPr>
          <a:xfrm>
            <a:off x="1438275" y="1504950"/>
            <a:ext cx="1042988" cy="1071563"/>
          </a:xfrm>
          <a:prstGeom prst="rect">
            <a:avLst/>
          </a:prstGeom>
          <a:noFill/>
          <a:ln/>
        </p:spPr>
      </p:sp>
      <p:sp>
        <p:nvSpPr>
          <p:cNvPr id="13" name="Text 10"/>
          <p:cNvSpPr/>
          <p:nvPr/>
        </p:nvSpPr>
        <p:spPr>
          <a:xfrm>
            <a:off x="1443038" y="1504950"/>
            <a:ext cx="1042988" cy="1071563"/>
          </a:xfrm>
          <a:prstGeom prst="ellipse">
            <a:avLst/>
          </a:prstGeom>
          <a:solidFill>
            <a:srgbClr val="FBF4BD"/>
          </a:solidFill>
          <a:ln/>
        </p:spPr>
        <p:txBody>
          <a:bodyPr wrap="square" rtlCol="0" anchor="ctr"/>
          <a:lstStyle/>
          <a:p>
            <a:pPr indent="0" marL="0">
              <a:buNone/>
            </a:pPr>
            <a:endParaRPr lang="en-US" dirty="0"/>
          </a:p>
        </p:txBody>
      </p:sp>
      <p:sp>
        <p:nvSpPr>
          <p:cNvPr id="14" name="Shape 11"/>
          <p:cNvSpPr/>
          <p:nvPr/>
        </p:nvSpPr>
        <p:spPr>
          <a:xfrm>
            <a:off x="1538288" y="1614488"/>
            <a:ext cx="847725" cy="847725"/>
          </a:xfrm>
          <a:prstGeom prst="rect">
            <a:avLst/>
          </a:prstGeom>
          <a:solidFill>
            <a:srgbClr val="FFFFFF">
              <a:alpha val="0"/>
            </a:srgbClr>
          </a:solidFill>
          <a:ln/>
        </p:spPr>
      </p:sp>
      <p:pic>
        <p:nvPicPr>
          <p:cNvPr id="15" name="Image 0" descr="preencoded.png">    </p:cNvPr>
          <p:cNvPicPr>
            <a:picLocks noChangeAspect="1"/>
          </p:cNvPicPr>
          <p:nvPr/>
        </p:nvPicPr>
        <p:blipFill>
          <a:blip r:embed="rId1"/>
          <a:srcRect l="0" r="0" t="0" b="0"/>
          <a:stretch/>
        </p:blipFill>
        <p:spPr>
          <a:xfrm>
            <a:off x="1752600" y="1828800"/>
            <a:ext cx="423859" cy="423863"/>
          </a:xfrm>
          <a:prstGeom prst="rect">
            <a:avLst/>
          </a:prstGeom>
        </p:spPr>
      </p:pic>
      <p:sp>
        <p:nvSpPr>
          <p:cNvPr id="16" name="Shape 12"/>
          <p:cNvSpPr/>
          <p:nvPr/>
        </p:nvSpPr>
        <p:spPr>
          <a:xfrm>
            <a:off x="4052888" y="1504950"/>
            <a:ext cx="1042988" cy="1071563"/>
          </a:xfrm>
          <a:prstGeom prst="rect">
            <a:avLst/>
          </a:prstGeom>
          <a:noFill/>
          <a:ln/>
        </p:spPr>
      </p:sp>
      <p:sp>
        <p:nvSpPr>
          <p:cNvPr id="17" name="Text 13"/>
          <p:cNvSpPr/>
          <p:nvPr/>
        </p:nvSpPr>
        <p:spPr>
          <a:xfrm>
            <a:off x="4052888" y="1504950"/>
            <a:ext cx="1042988" cy="1071563"/>
          </a:xfrm>
          <a:prstGeom prst="ellipse">
            <a:avLst/>
          </a:prstGeom>
          <a:solidFill>
            <a:srgbClr val="FBF4BD"/>
          </a:solidFill>
          <a:ln/>
        </p:spPr>
        <p:txBody>
          <a:bodyPr wrap="square" rtlCol="0" anchor="ctr"/>
          <a:lstStyle/>
          <a:p>
            <a:pPr indent="0" marL="0">
              <a:buNone/>
            </a:pPr>
            <a:endParaRPr lang="en-US" dirty="0"/>
          </a:p>
        </p:txBody>
      </p:sp>
      <p:sp>
        <p:nvSpPr>
          <p:cNvPr id="18" name="Shape 14"/>
          <p:cNvSpPr/>
          <p:nvPr/>
        </p:nvSpPr>
        <p:spPr>
          <a:xfrm>
            <a:off x="4152900" y="1614488"/>
            <a:ext cx="847725" cy="847725"/>
          </a:xfrm>
          <a:prstGeom prst="rect">
            <a:avLst/>
          </a:prstGeom>
          <a:solidFill>
            <a:srgbClr val="FFFFFF">
              <a:alpha val="0"/>
            </a:srgbClr>
          </a:solidFill>
          <a:ln/>
        </p:spPr>
      </p:sp>
      <p:pic>
        <p:nvPicPr>
          <p:cNvPr id="19" name="Image 1" descr="preencoded.png">    </p:cNvPr>
          <p:cNvPicPr>
            <a:picLocks noChangeAspect="1"/>
          </p:cNvPicPr>
          <p:nvPr/>
        </p:nvPicPr>
        <p:blipFill>
          <a:blip r:embed="rId2"/>
          <a:srcRect l="0" r="0" t="0" b="0"/>
          <a:stretch/>
        </p:blipFill>
        <p:spPr>
          <a:xfrm>
            <a:off x="4396369" y="1857375"/>
            <a:ext cx="364331" cy="364331"/>
          </a:xfrm>
          <a:prstGeom prst="rect">
            <a:avLst/>
          </a:prstGeom>
        </p:spPr>
      </p:pic>
      <p:sp>
        <p:nvSpPr>
          <p:cNvPr id="20" name="Shape 15"/>
          <p:cNvSpPr/>
          <p:nvPr/>
        </p:nvSpPr>
        <p:spPr>
          <a:xfrm>
            <a:off x="6667500" y="1509713"/>
            <a:ext cx="1042988" cy="1071563"/>
          </a:xfrm>
          <a:prstGeom prst="rect">
            <a:avLst/>
          </a:prstGeom>
          <a:noFill/>
          <a:ln/>
        </p:spPr>
      </p:sp>
      <p:sp>
        <p:nvSpPr>
          <p:cNvPr id="21" name="Text 16"/>
          <p:cNvSpPr/>
          <p:nvPr/>
        </p:nvSpPr>
        <p:spPr>
          <a:xfrm>
            <a:off x="6667500" y="1509713"/>
            <a:ext cx="1042988" cy="1071563"/>
          </a:xfrm>
          <a:prstGeom prst="ellipse">
            <a:avLst/>
          </a:prstGeom>
          <a:solidFill>
            <a:srgbClr val="FBF4BD"/>
          </a:solidFill>
          <a:ln/>
        </p:spPr>
        <p:txBody>
          <a:bodyPr wrap="square" rtlCol="0" anchor="ctr"/>
          <a:lstStyle/>
          <a:p>
            <a:pPr indent="0" marL="0">
              <a:buNone/>
            </a:pPr>
            <a:endParaRPr lang="en-US" dirty="0"/>
          </a:p>
        </p:txBody>
      </p:sp>
      <p:sp>
        <p:nvSpPr>
          <p:cNvPr id="22" name="Shape 17"/>
          <p:cNvSpPr/>
          <p:nvPr/>
        </p:nvSpPr>
        <p:spPr>
          <a:xfrm>
            <a:off x="6767513" y="1624013"/>
            <a:ext cx="847725" cy="847725"/>
          </a:xfrm>
          <a:prstGeom prst="rect">
            <a:avLst/>
          </a:prstGeom>
          <a:solidFill>
            <a:srgbClr val="FFFFFF">
              <a:alpha val="0"/>
            </a:srgbClr>
          </a:solidFill>
          <a:ln/>
        </p:spPr>
      </p:sp>
      <p:pic>
        <p:nvPicPr>
          <p:cNvPr id="23" name="Image 2" descr="preencoded.png">    </p:cNvPr>
          <p:cNvPicPr>
            <a:picLocks noChangeAspect="1"/>
          </p:cNvPicPr>
          <p:nvPr/>
        </p:nvPicPr>
        <p:blipFill>
          <a:blip r:embed="rId3"/>
          <a:srcRect l="0" r="0" t="0" b="0"/>
          <a:stretch/>
        </p:blipFill>
        <p:spPr>
          <a:xfrm>
            <a:off x="6979444" y="1835934"/>
            <a:ext cx="423863" cy="4238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w="4524">
            <a:solidFill>
              <a:srgbClr val="000000"/>
            </a:solidFill>
            <a:prstDash val="solid"/>
          </a:ln>
        </p:spPr>
      </p:sp>
      <p:sp>
        <p:nvSpPr>
          <p:cNvPr id="3" name="Text 1"/>
          <p:cNvSpPr/>
          <p:nvPr/>
        </p:nvSpPr>
        <p:spPr>
          <a:xfrm>
            <a:off x="376238" y="595313"/>
            <a:ext cx="4148137"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Design Principles</a:t>
            </a:r>
            <a:endParaRPr lang="en-US" sz="2494" dirty="0"/>
          </a:p>
        </p:txBody>
      </p:sp>
      <p:sp>
        <p:nvSpPr>
          <p:cNvPr id="4" name="Text 2"/>
          <p:cNvSpPr/>
          <p:nvPr/>
        </p:nvSpPr>
        <p:spPr>
          <a:xfrm>
            <a:off x="1019175" y="2767013"/>
            <a:ext cx="1928813" cy="257175"/>
          </a:xfrm>
          <a:prstGeom prst="rect">
            <a:avLst/>
          </a:prstGeom>
          <a:noFill/>
          <a:ln/>
        </p:spPr>
        <p:txBody>
          <a:bodyPr wrap="square" lIns="0" tIns="0" rIns="0" bIns="0" rtlCol="0" anchor="ctr"/>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Progressive Refinement</a:t>
            </a:r>
            <a:endParaRPr lang="en-US" sz="1283" dirty="0"/>
          </a:p>
        </p:txBody>
      </p:sp>
      <p:sp>
        <p:nvSpPr>
          <p:cNvPr id="5" name="Text 3"/>
          <p:cNvSpPr/>
          <p:nvPr/>
        </p:nvSpPr>
        <p:spPr>
          <a:xfrm>
            <a:off x="3681413" y="2776538"/>
            <a:ext cx="1657350" cy="257175"/>
          </a:xfrm>
          <a:prstGeom prst="rect">
            <a:avLst/>
          </a:prstGeom>
          <a:noFill/>
          <a:ln/>
        </p:spPr>
        <p:txBody>
          <a:bodyPr wrap="square" lIns="0" tIns="0" rIns="0" bIns="0" rtlCol="0" anchor="ctr"/>
          <a:lstStyle/>
          <a:p>
            <a:pPr algn="ctr"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Modular Interaction</a:t>
            </a:r>
            <a:endParaRPr lang="en-US" sz="1283" dirty="0"/>
          </a:p>
        </p:txBody>
      </p:sp>
      <p:sp>
        <p:nvSpPr>
          <p:cNvPr id="6" name="Text 4"/>
          <p:cNvSpPr/>
          <p:nvPr/>
        </p:nvSpPr>
        <p:spPr>
          <a:xfrm>
            <a:off x="6072188" y="2776538"/>
            <a:ext cx="2238375" cy="257175"/>
          </a:xfrm>
          <a:prstGeom prst="rect">
            <a:avLst/>
          </a:prstGeom>
          <a:noFill/>
          <a:ln/>
        </p:spPr>
        <p:txBody>
          <a:bodyPr wrap="square" lIns="0" tIns="0" rIns="0" bIns="0" rtlCol="0" anchor="ctr"/>
          <a:lstStyle/>
          <a:p>
            <a:pPr algn="ctr"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Validation-Oriented Design</a:t>
            </a:r>
            <a:endParaRPr lang="en-US" sz="1283" dirty="0"/>
          </a:p>
        </p:txBody>
      </p:sp>
      <p:sp>
        <p:nvSpPr>
          <p:cNvPr id="7" name="Text 5"/>
          <p:cNvSpPr/>
          <p:nvPr/>
        </p:nvSpPr>
        <p:spPr>
          <a:xfrm>
            <a:off x="1019175" y="3062288"/>
            <a:ext cx="1924050" cy="542925"/>
          </a:xfrm>
          <a:prstGeom prst="rect">
            <a:avLst/>
          </a:prstGeom>
          <a:noFill/>
          <a:ln/>
        </p:spPr>
        <p:txBody>
          <a:bodyPr wrap="square" lIns="0" tIns="0" rIns="0" bIns="0" rtlCol="0" anchor="ctr"/>
          <a:lstStyle/>
          <a:p>
            <a:pPr algn="ctr" indent="0" marL="0">
              <a:lnSpc>
                <a:spcPts val="1368"/>
              </a:lnSpc>
              <a:buNone/>
            </a:pPr>
            <a:r>
              <a:rPr lang="en-US" sz="855" spc="-19" kern="0" dirty="0">
                <a:solidFill>
                  <a:srgbClr val="000000">
                    <a:alpha val="99000"/>
                  </a:srgbClr>
                </a:solidFill>
                <a:latin typeface="Inter" pitchFamily="34" charset="0"/>
                <a:ea typeface="Inter" pitchFamily="34" charset="-122"/>
                <a:cs typeface="Inter" pitchFamily="34" charset="-120"/>
              </a:rPr>
              <a:t>Scenario generation supports iterative improvement through feedback and validation.</a:t>
            </a:r>
            <a:endParaRPr lang="en-US" sz="855" dirty="0"/>
          </a:p>
        </p:txBody>
      </p:sp>
      <p:sp>
        <p:nvSpPr>
          <p:cNvPr id="8" name="Text 6"/>
          <p:cNvSpPr/>
          <p:nvPr/>
        </p:nvSpPr>
        <p:spPr>
          <a:xfrm>
            <a:off x="3681413" y="3071813"/>
            <a:ext cx="1681163" cy="542925"/>
          </a:xfrm>
          <a:prstGeom prst="rect">
            <a:avLst/>
          </a:prstGeom>
          <a:noFill/>
          <a:ln/>
        </p:spPr>
        <p:txBody>
          <a:bodyPr wrap="square" lIns="0" tIns="0" rIns="0" bIns="0" rtlCol="0" anchor="ctr"/>
          <a:lstStyle/>
          <a:p>
            <a:pPr algn="ctr" indent="0" marL="0">
              <a:lnSpc>
                <a:spcPts val="1368"/>
              </a:lnSpc>
              <a:buNone/>
            </a:pPr>
            <a:r>
              <a:rPr lang="en-US" sz="855" spc="-19" kern="0" dirty="0">
                <a:solidFill>
                  <a:srgbClr val="000000">
                    <a:alpha val="99000"/>
                  </a:srgbClr>
                </a:solidFill>
                <a:latin typeface="Inter" pitchFamily="34" charset="0"/>
                <a:ea typeface="Inter" pitchFamily="34" charset="-122"/>
                <a:cs typeface="Inter" pitchFamily="34" charset="-120"/>
              </a:rPr>
              <a:t>Breaking scenarios into components simplifies complex workflows.</a:t>
            </a:r>
            <a:endParaRPr lang="en-US" sz="855" dirty="0"/>
          </a:p>
        </p:txBody>
      </p:sp>
      <p:sp>
        <p:nvSpPr>
          <p:cNvPr id="9" name="Text 7"/>
          <p:cNvSpPr/>
          <p:nvPr/>
        </p:nvSpPr>
        <p:spPr>
          <a:xfrm>
            <a:off x="6343650" y="3071813"/>
            <a:ext cx="1681163" cy="542925"/>
          </a:xfrm>
          <a:prstGeom prst="rect">
            <a:avLst/>
          </a:prstGeom>
          <a:noFill/>
          <a:ln/>
        </p:spPr>
        <p:txBody>
          <a:bodyPr wrap="square" lIns="0" tIns="0" rIns="0" bIns="0" rtlCol="0" anchor="ctr"/>
          <a:lstStyle/>
          <a:p>
            <a:pPr algn="ctr" indent="0" marL="0">
              <a:lnSpc>
                <a:spcPts val="1368"/>
              </a:lnSpc>
              <a:buNone/>
            </a:pPr>
            <a:r>
              <a:rPr lang="en-US" sz="855" spc="-19" kern="0" dirty="0">
                <a:solidFill>
                  <a:srgbClr val="000000">
                    <a:alpha val="99000"/>
                  </a:srgbClr>
                </a:solidFill>
                <a:latin typeface="Inter" pitchFamily="34" charset="0"/>
                <a:ea typeface="Inter" pitchFamily="34" charset="-122"/>
                <a:cs typeface="Inter" pitchFamily="34" charset="-120"/>
              </a:rPr>
              <a:t>Built-in readiness checks help prevent invalid or unrealistic simulations.</a:t>
            </a:r>
            <a:endParaRPr lang="en-US" sz="855" dirty="0"/>
          </a:p>
        </p:txBody>
      </p:sp>
      <p:sp>
        <p:nvSpPr>
          <p:cNvPr id="10" name="Text 8"/>
          <p:cNvSpPr/>
          <p:nvPr/>
        </p:nvSpPr>
        <p:spPr>
          <a:xfrm>
            <a:off x="8810625" y="484822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18</a:t>
            </a:r>
            <a:endParaRPr lang="en-US" sz="855" dirty="0"/>
          </a:p>
        </p:txBody>
      </p:sp>
      <p:sp>
        <p:nvSpPr>
          <p:cNvPr id="11" name="Shape 9"/>
          <p:cNvSpPr/>
          <p:nvPr/>
        </p:nvSpPr>
        <p:spPr>
          <a:xfrm>
            <a:off x="1438275" y="1504950"/>
            <a:ext cx="1042988" cy="1071563"/>
          </a:xfrm>
          <a:prstGeom prst="rect">
            <a:avLst/>
          </a:prstGeom>
          <a:noFill/>
          <a:ln/>
        </p:spPr>
      </p:sp>
      <p:sp>
        <p:nvSpPr>
          <p:cNvPr id="12" name="Text 10"/>
          <p:cNvSpPr/>
          <p:nvPr/>
        </p:nvSpPr>
        <p:spPr>
          <a:xfrm>
            <a:off x="1438275" y="1504950"/>
            <a:ext cx="1042988" cy="1071563"/>
          </a:xfrm>
          <a:prstGeom prst="ellipse">
            <a:avLst/>
          </a:prstGeom>
          <a:solidFill>
            <a:srgbClr val="FBF4BD"/>
          </a:solidFill>
          <a:ln/>
        </p:spPr>
        <p:txBody>
          <a:bodyPr wrap="square" rtlCol="0" anchor="ctr"/>
          <a:lstStyle/>
          <a:p>
            <a:pPr indent="0" marL="0">
              <a:buNone/>
            </a:pPr>
            <a:endParaRPr lang="en-US" dirty="0"/>
          </a:p>
        </p:txBody>
      </p:sp>
      <p:sp>
        <p:nvSpPr>
          <p:cNvPr id="13" name="Shape 11"/>
          <p:cNvSpPr/>
          <p:nvPr/>
        </p:nvSpPr>
        <p:spPr>
          <a:xfrm>
            <a:off x="1538288" y="1614488"/>
            <a:ext cx="847725" cy="847725"/>
          </a:xfrm>
          <a:prstGeom prst="rect">
            <a:avLst/>
          </a:prstGeom>
          <a:solidFill>
            <a:srgbClr val="FFFFFF">
              <a:alpha val="0"/>
            </a:srgbClr>
          </a:solidFill>
          <a:ln/>
        </p:spPr>
      </p:sp>
      <p:pic>
        <p:nvPicPr>
          <p:cNvPr id="14" name="Image 0" descr="preencoded.png">    </p:cNvPr>
          <p:cNvPicPr>
            <a:picLocks noChangeAspect="1"/>
          </p:cNvPicPr>
          <p:nvPr/>
        </p:nvPicPr>
        <p:blipFill>
          <a:blip r:embed="rId1"/>
          <a:srcRect l="0" r="0" t="0" b="0"/>
          <a:stretch/>
        </p:blipFill>
        <p:spPr>
          <a:xfrm>
            <a:off x="1750219" y="1826419"/>
            <a:ext cx="423863" cy="423863"/>
          </a:xfrm>
          <a:prstGeom prst="rect">
            <a:avLst/>
          </a:prstGeom>
        </p:spPr>
      </p:pic>
      <p:sp>
        <p:nvSpPr>
          <p:cNvPr id="15" name="Shape 12"/>
          <p:cNvSpPr/>
          <p:nvPr/>
        </p:nvSpPr>
        <p:spPr>
          <a:xfrm>
            <a:off x="4052888" y="1504950"/>
            <a:ext cx="1042988" cy="1071563"/>
          </a:xfrm>
          <a:prstGeom prst="rect">
            <a:avLst/>
          </a:prstGeom>
          <a:noFill/>
          <a:ln/>
        </p:spPr>
      </p:sp>
      <p:sp>
        <p:nvSpPr>
          <p:cNvPr id="16" name="Text 13"/>
          <p:cNvSpPr/>
          <p:nvPr/>
        </p:nvSpPr>
        <p:spPr>
          <a:xfrm>
            <a:off x="4052888" y="1504950"/>
            <a:ext cx="1042988" cy="1071563"/>
          </a:xfrm>
          <a:prstGeom prst="ellipse">
            <a:avLst/>
          </a:prstGeom>
          <a:solidFill>
            <a:srgbClr val="FBF4BD"/>
          </a:solidFill>
          <a:ln/>
        </p:spPr>
        <p:txBody>
          <a:bodyPr wrap="square" rtlCol="0" anchor="ctr"/>
          <a:lstStyle/>
          <a:p>
            <a:pPr indent="0" marL="0">
              <a:buNone/>
            </a:pPr>
            <a:endParaRPr lang="en-US" dirty="0"/>
          </a:p>
        </p:txBody>
      </p:sp>
      <p:sp>
        <p:nvSpPr>
          <p:cNvPr id="17" name="Shape 14"/>
          <p:cNvSpPr/>
          <p:nvPr/>
        </p:nvSpPr>
        <p:spPr>
          <a:xfrm>
            <a:off x="4152900" y="1614488"/>
            <a:ext cx="847725" cy="847725"/>
          </a:xfrm>
          <a:prstGeom prst="rect">
            <a:avLst/>
          </a:prstGeom>
          <a:solidFill>
            <a:srgbClr val="FFFFFF">
              <a:alpha val="0"/>
            </a:srgbClr>
          </a:solidFill>
          <a:ln/>
        </p:spPr>
      </p:sp>
      <p:pic>
        <p:nvPicPr>
          <p:cNvPr id="18" name="Image 1" descr="preencoded.png">    </p:cNvPr>
          <p:cNvPicPr>
            <a:picLocks noChangeAspect="1"/>
          </p:cNvPicPr>
          <p:nvPr/>
        </p:nvPicPr>
        <p:blipFill>
          <a:blip r:embed="rId2"/>
          <a:srcRect l="0" r="0" t="0" b="0"/>
          <a:stretch/>
        </p:blipFill>
        <p:spPr>
          <a:xfrm>
            <a:off x="4364831" y="1826428"/>
            <a:ext cx="423863" cy="423863"/>
          </a:xfrm>
          <a:prstGeom prst="rect">
            <a:avLst/>
          </a:prstGeom>
        </p:spPr>
      </p:pic>
      <p:sp>
        <p:nvSpPr>
          <p:cNvPr id="19" name="Shape 15"/>
          <p:cNvSpPr/>
          <p:nvPr/>
        </p:nvSpPr>
        <p:spPr>
          <a:xfrm>
            <a:off x="6667500" y="1509713"/>
            <a:ext cx="1042988" cy="1071563"/>
          </a:xfrm>
          <a:prstGeom prst="rect">
            <a:avLst/>
          </a:prstGeom>
          <a:noFill/>
          <a:ln/>
        </p:spPr>
      </p:sp>
      <p:sp>
        <p:nvSpPr>
          <p:cNvPr id="20" name="Text 16"/>
          <p:cNvSpPr/>
          <p:nvPr/>
        </p:nvSpPr>
        <p:spPr>
          <a:xfrm>
            <a:off x="6667500" y="1495425"/>
            <a:ext cx="1042988" cy="1071563"/>
          </a:xfrm>
          <a:prstGeom prst="ellipse">
            <a:avLst/>
          </a:prstGeom>
          <a:solidFill>
            <a:srgbClr val="FBF4BD"/>
          </a:solidFill>
          <a:ln/>
        </p:spPr>
        <p:txBody>
          <a:bodyPr wrap="square" rtlCol="0" anchor="ctr"/>
          <a:lstStyle/>
          <a:p>
            <a:pPr indent="0" marL="0">
              <a:buNone/>
            </a:pPr>
            <a:endParaRPr lang="en-US" dirty="0"/>
          </a:p>
        </p:txBody>
      </p:sp>
      <p:sp>
        <p:nvSpPr>
          <p:cNvPr id="21" name="Shape 17"/>
          <p:cNvSpPr/>
          <p:nvPr/>
        </p:nvSpPr>
        <p:spPr>
          <a:xfrm>
            <a:off x="6762750" y="1619250"/>
            <a:ext cx="849720" cy="849720"/>
          </a:xfrm>
          <a:prstGeom prst="rect">
            <a:avLst/>
          </a:prstGeom>
          <a:solidFill>
            <a:srgbClr val="FFFFFF">
              <a:alpha val="0"/>
            </a:srgbClr>
          </a:solidFill>
          <a:ln/>
        </p:spPr>
      </p:sp>
      <p:pic>
        <p:nvPicPr>
          <p:cNvPr id="22" name="Image 2" descr="preencoded.png">    </p:cNvPr>
          <p:cNvPicPr>
            <a:picLocks noChangeAspect="1"/>
          </p:cNvPicPr>
          <p:nvPr/>
        </p:nvPicPr>
        <p:blipFill>
          <a:blip r:embed="rId3"/>
          <a:srcRect l="0" r="0" t="0" b="0"/>
          <a:stretch/>
        </p:blipFill>
        <p:spPr>
          <a:xfrm>
            <a:off x="6975179" y="1831684"/>
            <a:ext cx="424862" cy="4248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3362"/>
            <a:ext cx="8963025" cy="4814888"/>
          </a:xfrm>
          <a:prstGeom prst="roundRect">
            <a:avLst>
              <a:gd name="adj" fmla="val 2849"/>
            </a:avLst>
          </a:prstGeom>
          <a:solidFill>
            <a:srgbClr val="F5F1E9"/>
          </a:solidFill>
          <a:ln w="4524">
            <a:solidFill>
              <a:srgbClr val="000000"/>
            </a:solidFill>
            <a:prstDash val="solid"/>
          </a:ln>
        </p:spPr>
      </p:sp>
      <p:sp>
        <p:nvSpPr>
          <p:cNvPr id="4" name="Text 1"/>
          <p:cNvSpPr/>
          <p:nvPr/>
        </p:nvSpPr>
        <p:spPr>
          <a:xfrm>
            <a:off x="271463" y="519113"/>
            <a:ext cx="5557838"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Target Users &amp; Deployment Context</a:t>
            </a:r>
            <a:endParaRPr lang="en-US" sz="2494" dirty="0"/>
          </a:p>
        </p:txBody>
      </p:sp>
      <p:sp>
        <p:nvSpPr>
          <p:cNvPr id="5" name="Text 2"/>
          <p:cNvSpPr/>
          <p:nvPr/>
        </p:nvSpPr>
        <p:spPr>
          <a:xfrm>
            <a:off x="271463" y="1209675"/>
            <a:ext cx="2176463" cy="285750"/>
          </a:xfrm>
          <a:prstGeom prst="rect">
            <a:avLst/>
          </a:prstGeom>
          <a:noFill/>
          <a:ln/>
        </p:spPr>
        <p:txBody>
          <a:bodyPr wrap="square" lIns="0" tIns="0" rIns="0" bIns="0" rtlCol="0" anchor="ctr"/>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Deployment Context</a:t>
            </a:r>
            <a:endParaRPr lang="en-US" sz="1425" dirty="0"/>
          </a:p>
        </p:txBody>
      </p:sp>
      <p:sp>
        <p:nvSpPr>
          <p:cNvPr id="6" name="Text 3"/>
          <p:cNvSpPr/>
          <p:nvPr/>
        </p:nvSpPr>
        <p:spPr>
          <a:xfrm>
            <a:off x="271463" y="1652588"/>
            <a:ext cx="8586788" cy="514350"/>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The proposed system supports autonomous driving simulation workflows by bridging natural-language intent and executable OpenSCENARIO generation.</a:t>
            </a:r>
            <a:endParaRPr lang="en-US" sz="1283" dirty="0"/>
          </a:p>
        </p:txBody>
      </p:sp>
      <p:sp>
        <p:nvSpPr>
          <p:cNvPr id="7" name="Text 4"/>
          <p:cNvSpPr/>
          <p:nvPr/>
        </p:nvSpPr>
        <p:spPr>
          <a:xfrm>
            <a:off x="8810625" y="4843463"/>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19</a:t>
            </a:r>
            <a:endParaRPr lang="en-US" sz="855" dirty="0"/>
          </a:p>
        </p:txBody>
      </p:sp>
      <p:sp>
        <p:nvSpPr>
          <p:cNvPr id="8" name="Text 5"/>
          <p:cNvSpPr/>
          <p:nvPr/>
        </p:nvSpPr>
        <p:spPr>
          <a:xfrm>
            <a:off x="271463" y="2900363"/>
            <a:ext cx="1089782" cy="609600"/>
          </a:xfrm>
          <a:prstGeom prst="roundRect">
            <a:avLst>
              <a:gd name="adj" fmla="val 9000"/>
            </a:avLst>
          </a:prstGeom>
          <a:solidFill>
            <a:srgbClr val="FFECBD">
              <a:alpha val="70000"/>
            </a:srgbClr>
          </a:solidFill>
          <a:ln w="18097">
            <a:solidFill>
              <a:srgbClr val="EFD54D"/>
            </a:solidFill>
          </a:ln>
        </p:spPr>
        <p:txBody>
          <a:bodyPr wrap="square" rtlCol="0" anchor="ctr"/>
          <a:lstStyle/>
          <a:p>
            <a:pPr indent="0" marL="0">
              <a:buNone/>
            </a:pPr>
            <a:r>
              <a:rPr lang="en-US" dirty="0">
                <a:solidFill>
                  <a:srgbClr val="000000"/>
                </a:solidFill>
              </a:rPr>
              <a:t>Natural Language Scenario</a:t>
            </a:r>
            <a:endParaRPr lang="en-US" dirty="0"/>
          </a:p>
        </p:txBody>
      </p:sp>
      <p:sp>
        <p:nvSpPr>
          <p:cNvPr id="9" name="Text 6"/>
          <p:cNvSpPr/>
          <p:nvPr/>
        </p:nvSpPr>
        <p:spPr>
          <a:xfrm>
            <a:off x="1756535" y="2900363"/>
            <a:ext cx="1089782" cy="609600"/>
          </a:xfrm>
          <a:prstGeom prst="roundRect">
            <a:avLst>
              <a:gd name="adj" fmla="val 9000"/>
            </a:avLst>
          </a:prstGeom>
          <a:solidFill>
            <a:srgbClr val="FFECBD">
              <a:alpha val="70000"/>
            </a:srgbClr>
          </a:solidFill>
          <a:ln w="18097">
            <a:solidFill>
              <a:srgbClr val="EFD54D"/>
            </a:solidFill>
          </a:ln>
        </p:spPr>
        <p:txBody>
          <a:bodyPr wrap="square" rtlCol="0" anchor="ctr"/>
          <a:lstStyle/>
          <a:p>
            <a:pPr indent="0" marL="0">
              <a:buNone/>
            </a:pPr>
            <a:r>
              <a:rPr lang="en-US" dirty="0">
                <a:solidFill>
                  <a:srgbClr val="000000"/>
                </a:solidFill>
              </a:rPr>
              <a:t>Structured Prompt Interface</a:t>
            </a:r>
            <a:endParaRPr lang="en-US" dirty="0"/>
          </a:p>
        </p:txBody>
      </p:sp>
      <p:sp>
        <p:nvSpPr>
          <p:cNvPr id="10" name="Text 7"/>
          <p:cNvSpPr/>
          <p:nvPr/>
        </p:nvSpPr>
        <p:spPr>
          <a:xfrm>
            <a:off x="3241597" y="2886075"/>
            <a:ext cx="1089782" cy="609600"/>
          </a:xfrm>
          <a:prstGeom prst="roundRect">
            <a:avLst>
              <a:gd name="adj" fmla="val 9000"/>
            </a:avLst>
          </a:prstGeom>
          <a:solidFill>
            <a:srgbClr val="FFECBD">
              <a:alpha val="70000"/>
            </a:srgbClr>
          </a:solidFill>
          <a:ln w="18097">
            <a:solidFill>
              <a:srgbClr val="EFD54D"/>
            </a:solidFill>
          </a:ln>
        </p:spPr>
        <p:txBody>
          <a:bodyPr wrap="square" rtlCol="0" anchor="ctr"/>
          <a:lstStyle/>
          <a:p>
            <a:pPr indent="0" marL="0">
              <a:buNone/>
            </a:pPr>
            <a:r>
              <a:rPr lang="en-US" dirty="0">
                <a:solidFill>
                  <a:srgbClr val="000000"/>
                </a:solidFill>
              </a:rPr>
              <a:t>LLM-Based Scenario Generation</a:t>
            </a:r>
            <a:endParaRPr lang="en-US" dirty="0"/>
          </a:p>
        </p:txBody>
      </p:sp>
      <p:sp>
        <p:nvSpPr>
          <p:cNvPr id="11" name="Text 8"/>
          <p:cNvSpPr/>
          <p:nvPr/>
        </p:nvSpPr>
        <p:spPr>
          <a:xfrm>
            <a:off x="4726670" y="2886075"/>
            <a:ext cx="1089782" cy="609600"/>
          </a:xfrm>
          <a:prstGeom prst="roundRect">
            <a:avLst>
              <a:gd name="adj" fmla="val 9000"/>
            </a:avLst>
          </a:prstGeom>
          <a:solidFill>
            <a:srgbClr val="FFECBD">
              <a:alpha val="70000"/>
            </a:srgbClr>
          </a:solidFill>
          <a:ln w="18097">
            <a:solidFill>
              <a:srgbClr val="EFD54D"/>
            </a:solidFill>
          </a:ln>
        </p:spPr>
        <p:txBody>
          <a:bodyPr wrap="square" rtlCol="0" anchor="ctr"/>
          <a:lstStyle/>
          <a:p>
            <a:pPr indent="0" marL="0">
              <a:buNone/>
            </a:pPr>
            <a:r>
              <a:rPr lang="en-US" dirty="0">
                <a:solidFill>
                  <a:srgbClr val="000000"/>
                </a:solidFill>
              </a:rPr>
              <a:t>OpenSCENARIO Output</a:t>
            </a:r>
            <a:endParaRPr lang="en-US" dirty="0"/>
          </a:p>
        </p:txBody>
      </p:sp>
      <p:sp>
        <p:nvSpPr>
          <p:cNvPr id="12" name="Text 9"/>
          <p:cNvSpPr/>
          <p:nvPr/>
        </p:nvSpPr>
        <p:spPr>
          <a:xfrm>
            <a:off x="6211737" y="2886075"/>
            <a:ext cx="1089782" cy="609600"/>
          </a:xfrm>
          <a:prstGeom prst="roundRect">
            <a:avLst>
              <a:gd name="adj" fmla="val 9000"/>
            </a:avLst>
          </a:prstGeom>
          <a:solidFill>
            <a:srgbClr val="FFECBD">
              <a:alpha val="70000"/>
            </a:srgbClr>
          </a:solidFill>
          <a:ln w="18097">
            <a:solidFill>
              <a:srgbClr val="EFD54D"/>
            </a:solidFill>
          </a:ln>
        </p:spPr>
        <p:txBody>
          <a:bodyPr wrap="square" rtlCol="0" anchor="ctr"/>
          <a:lstStyle/>
          <a:p>
            <a:pPr indent="0" marL="0">
              <a:buNone/>
            </a:pPr>
            <a:r>
              <a:rPr lang="en-US" dirty="0">
                <a:solidFill>
                  <a:srgbClr val="000000"/>
                </a:solidFill>
              </a:rPr>
              <a:t>Esmini Validation</a:t>
            </a:r>
            <a:endParaRPr lang="en-US" dirty="0"/>
          </a:p>
        </p:txBody>
      </p:sp>
      <p:sp>
        <p:nvSpPr>
          <p:cNvPr id="13" name="Text 10"/>
          <p:cNvSpPr/>
          <p:nvPr/>
        </p:nvSpPr>
        <p:spPr>
          <a:xfrm>
            <a:off x="7696809" y="2886075"/>
            <a:ext cx="1089782" cy="609600"/>
          </a:xfrm>
          <a:prstGeom prst="roundRect">
            <a:avLst>
              <a:gd name="adj" fmla="val 9000"/>
            </a:avLst>
          </a:prstGeom>
          <a:solidFill>
            <a:srgbClr val="FFECBD">
              <a:alpha val="70000"/>
            </a:srgbClr>
          </a:solidFill>
          <a:ln w="18097">
            <a:solidFill>
              <a:srgbClr val="EFD54D"/>
            </a:solidFill>
          </a:ln>
        </p:spPr>
        <p:txBody>
          <a:bodyPr wrap="square" rtlCol="0" anchor="ctr"/>
          <a:lstStyle/>
          <a:p>
            <a:pPr indent="0" marL="0">
              <a:buNone/>
            </a:pPr>
            <a:r>
              <a:rPr lang="en-US" dirty="0">
                <a:solidFill>
                  <a:srgbClr val="000000"/>
                </a:solidFill>
              </a:rPr>
              <a:t>Scenario Refinement</a:t>
            </a:r>
            <a:endParaRPr lang="en-US" dirty="0"/>
          </a:p>
        </p:txBody>
      </p:sp>
      <p:pic>
        <p:nvPicPr>
          <p:cNvPr id="14" name="Image 0" descr="preencoded.png">    </p:cNvPr>
          <p:cNvPicPr>
            <a:picLocks noChangeAspect="1"/>
          </p:cNvPicPr>
          <p:nvPr/>
        </p:nvPicPr>
        <p:blipFill>
          <a:blip r:embed="rId1"/>
          <a:srcRect l="0" r="0" t="0" b="0"/>
          <a:stretch/>
        </p:blipFill>
        <p:spPr>
          <a:xfrm>
            <a:off x="1399342" y="3205163"/>
            <a:ext cx="335761" cy="140289"/>
          </a:xfrm>
          <a:prstGeom prst="rect">
            <a:avLst/>
          </a:prstGeom>
        </p:spPr>
      </p:pic>
      <p:pic>
        <p:nvPicPr>
          <p:cNvPr id="15" name="Image 1" descr="preencoded.png">    </p:cNvPr>
          <p:cNvPicPr>
            <a:picLocks noChangeAspect="1"/>
          </p:cNvPicPr>
          <p:nvPr/>
        </p:nvPicPr>
        <p:blipFill>
          <a:blip r:embed="rId2"/>
          <a:srcRect l="0" r="0" t="0" b="0"/>
          <a:stretch/>
        </p:blipFill>
        <p:spPr>
          <a:xfrm>
            <a:off x="2884415" y="3209813"/>
            <a:ext cx="335752" cy="140289"/>
          </a:xfrm>
          <a:prstGeom prst="rect">
            <a:avLst/>
          </a:prstGeom>
        </p:spPr>
      </p:pic>
      <p:pic>
        <p:nvPicPr>
          <p:cNvPr id="16" name="Image 2" descr="preencoded.png">    </p:cNvPr>
          <p:cNvPicPr>
            <a:picLocks noChangeAspect="1"/>
          </p:cNvPicPr>
          <p:nvPr/>
        </p:nvPicPr>
        <p:blipFill>
          <a:blip r:embed="rId3"/>
          <a:srcRect l="0" r="0" t="0" b="0"/>
          <a:stretch/>
        </p:blipFill>
        <p:spPr>
          <a:xfrm>
            <a:off x="4369477" y="3190875"/>
            <a:ext cx="335761" cy="140289"/>
          </a:xfrm>
          <a:prstGeom prst="rect">
            <a:avLst/>
          </a:prstGeom>
        </p:spPr>
      </p:pic>
      <p:pic>
        <p:nvPicPr>
          <p:cNvPr id="17" name="Image 3" descr="preencoded.png">    </p:cNvPr>
          <p:cNvPicPr>
            <a:picLocks noChangeAspect="1"/>
          </p:cNvPicPr>
          <p:nvPr/>
        </p:nvPicPr>
        <p:blipFill>
          <a:blip r:embed="rId4"/>
          <a:srcRect l="0" r="0" t="0" b="0"/>
          <a:stretch/>
        </p:blipFill>
        <p:spPr>
          <a:xfrm>
            <a:off x="5854550" y="3190875"/>
            <a:ext cx="335756" cy="140289"/>
          </a:xfrm>
          <a:prstGeom prst="rect">
            <a:avLst/>
          </a:prstGeom>
        </p:spPr>
      </p:pic>
      <p:pic>
        <p:nvPicPr>
          <p:cNvPr id="18" name="Image 4" descr="preencoded.png">    </p:cNvPr>
          <p:cNvPicPr>
            <a:picLocks noChangeAspect="1"/>
          </p:cNvPicPr>
          <p:nvPr/>
        </p:nvPicPr>
        <p:blipFill>
          <a:blip r:embed="rId5"/>
          <a:srcRect l="0" r="0" t="0" b="0"/>
          <a:stretch/>
        </p:blipFill>
        <p:spPr>
          <a:xfrm>
            <a:off x="7339617" y="3190875"/>
            <a:ext cx="335761" cy="1402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3362"/>
            <a:ext cx="8963025" cy="4814888"/>
          </a:xfrm>
          <a:prstGeom prst="roundRect">
            <a:avLst>
              <a:gd name="adj" fmla="val 2849"/>
            </a:avLst>
          </a:prstGeom>
          <a:solidFill>
            <a:srgbClr val="F5F1E9"/>
          </a:solidFill>
          <a:ln w="4524">
            <a:solidFill>
              <a:srgbClr val="000000"/>
            </a:solidFill>
            <a:prstDash val="solid"/>
          </a:ln>
        </p:spPr>
      </p:sp>
      <p:sp>
        <p:nvSpPr>
          <p:cNvPr id="4" name="Text 1"/>
          <p:cNvSpPr/>
          <p:nvPr/>
        </p:nvSpPr>
        <p:spPr>
          <a:xfrm>
            <a:off x="271463" y="519113"/>
            <a:ext cx="5610225"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Target Users &amp; Deployment Context</a:t>
            </a:r>
            <a:endParaRPr lang="en-US" sz="2494" dirty="0"/>
          </a:p>
        </p:txBody>
      </p:sp>
      <p:sp>
        <p:nvSpPr>
          <p:cNvPr id="5" name="Text 2"/>
          <p:cNvSpPr/>
          <p:nvPr/>
        </p:nvSpPr>
        <p:spPr>
          <a:xfrm>
            <a:off x="490538" y="1104900"/>
            <a:ext cx="1295400" cy="285750"/>
          </a:xfrm>
          <a:prstGeom prst="rect">
            <a:avLst/>
          </a:prstGeom>
          <a:noFill/>
          <a:ln/>
        </p:spPr>
        <p:txBody>
          <a:bodyPr wrap="square" lIns="0" tIns="0" rIns="0" bIns="0" rtlCol="0" anchor="ctr"/>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Target Users</a:t>
            </a:r>
            <a:endParaRPr lang="en-US" sz="1425" dirty="0"/>
          </a:p>
        </p:txBody>
      </p:sp>
      <p:sp>
        <p:nvSpPr>
          <p:cNvPr id="6" name="Text 3"/>
          <p:cNvSpPr/>
          <p:nvPr/>
        </p:nvSpPr>
        <p:spPr>
          <a:xfrm>
            <a:off x="490538" y="1514475"/>
            <a:ext cx="8153400" cy="3314700"/>
          </a:xfrm>
          <a:prstGeom prst="roundRect">
            <a:avLst>
              <a:gd name="adj" fmla="val 4414"/>
            </a:avLst>
          </a:prstGeom>
          <a:solidFill>
            <a:srgbClr val="FFFFFF"/>
          </a:solidFill>
          <a:ln/>
        </p:spPr>
        <p:txBody>
          <a:bodyPr wrap="square" rtlCol="0" anchor="ctr"/>
          <a:lstStyle/>
          <a:p>
            <a:pPr indent="0" marL="0">
              <a:buNone/>
            </a:pPr>
            <a:endParaRPr lang="en-US" dirty="0"/>
          </a:p>
        </p:txBody>
      </p:sp>
      <p:sp>
        <p:nvSpPr>
          <p:cNvPr id="7" name="Text 4"/>
          <p:cNvSpPr/>
          <p:nvPr/>
        </p:nvSpPr>
        <p:spPr>
          <a:xfrm>
            <a:off x="747713" y="1704975"/>
            <a:ext cx="3305175" cy="257175"/>
          </a:xfrm>
          <a:prstGeom prst="rect">
            <a:avLst/>
          </a:prstGeom>
          <a:noFill/>
          <a:ln/>
        </p:spPr>
        <p:txBody>
          <a:bodyPr wrap="square" lIns="0" tIns="0" rIns="0" bIns="0" rtlCol="0" anchor="ctr"/>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Early-Career System Engineer</a:t>
            </a:r>
            <a:endParaRPr lang="en-US" sz="1283" dirty="0"/>
          </a:p>
        </p:txBody>
      </p:sp>
      <p:sp>
        <p:nvSpPr>
          <p:cNvPr id="8" name="Text 5"/>
          <p:cNvSpPr/>
          <p:nvPr/>
        </p:nvSpPr>
        <p:spPr>
          <a:xfrm>
            <a:off x="4948238" y="2000250"/>
            <a:ext cx="3409950" cy="1285875"/>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System Support:</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Structured parameters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Guided interaction</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Validation assistance</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Reduced cognitive load</a:t>
            </a:r>
            <a:endParaRPr lang="en-US" sz="1283" dirty="0"/>
          </a:p>
        </p:txBody>
      </p:sp>
      <p:sp>
        <p:nvSpPr>
          <p:cNvPr id="9" name="Text 6"/>
          <p:cNvSpPr/>
          <p:nvPr/>
        </p:nvSpPr>
        <p:spPr>
          <a:xfrm>
            <a:off x="747713" y="2000250"/>
            <a:ext cx="3409950" cy="2828925"/>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Characteristics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0–2 years experience</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Limited OpenSCENARIO expertise</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Familiar with AV concepts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Beginner-level prompt engineering skills</a:t>
            </a:r>
            <a:endParaRPr lang="en-US" sz="1283" dirty="0"/>
          </a:p>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Current Challenges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Syntax complexity</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Prompt inconsistency</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Repetitive debugging</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Difficulty validating outputs</a:t>
            </a:r>
            <a:endParaRPr lang="en-US" sz="1283" dirty="0"/>
          </a:p>
        </p:txBody>
      </p:sp>
      <p:sp>
        <p:nvSpPr>
          <p:cNvPr id="10" name="Text 7"/>
          <p:cNvSpPr/>
          <p:nvPr/>
        </p:nvSpPr>
        <p:spPr>
          <a:xfrm>
            <a:off x="8810625" y="4843463"/>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20</a:t>
            </a:r>
            <a:endParaRPr lang="en-US" sz="85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3362"/>
            <a:ext cx="8963025" cy="4814888"/>
          </a:xfrm>
          <a:prstGeom prst="roundRect">
            <a:avLst>
              <a:gd name="adj" fmla="val 2849"/>
            </a:avLst>
          </a:prstGeom>
          <a:solidFill>
            <a:srgbClr val="F5F1E9"/>
          </a:solidFill>
          <a:ln w="4524">
            <a:solidFill>
              <a:srgbClr val="000000"/>
            </a:solidFill>
            <a:prstDash val="solid"/>
          </a:ln>
        </p:spPr>
      </p:sp>
      <p:sp>
        <p:nvSpPr>
          <p:cNvPr id="4" name="Text 1"/>
          <p:cNvSpPr/>
          <p:nvPr/>
        </p:nvSpPr>
        <p:spPr>
          <a:xfrm>
            <a:off x="271463" y="519113"/>
            <a:ext cx="5610225"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Target Users &amp; Deployment Context</a:t>
            </a:r>
            <a:endParaRPr lang="en-US" sz="2494" dirty="0"/>
          </a:p>
        </p:txBody>
      </p:sp>
      <p:sp>
        <p:nvSpPr>
          <p:cNvPr id="5" name="Text 2"/>
          <p:cNvSpPr/>
          <p:nvPr/>
        </p:nvSpPr>
        <p:spPr>
          <a:xfrm>
            <a:off x="490538" y="1104900"/>
            <a:ext cx="1295400" cy="285750"/>
          </a:xfrm>
          <a:prstGeom prst="rect">
            <a:avLst/>
          </a:prstGeom>
          <a:noFill/>
          <a:ln/>
        </p:spPr>
        <p:txBody>
          <a:bodyPr wrap="square" lIns="0" tIns="0" rIns="0" bIns="0" rtlCol="0" anchor="ctr"/>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Target Users</a:t>
            </a:r>
            <a:endParaRPr lang="en-US" sz="1425" dirty="0"/>
          </a:p>
        </p:txBody>
      </p:sp>
      <p:sp>
        <p:nvSpPr>
          <p:cNvPr id="6" name="Text 3"/>
          <p:cNvSpPr/>
          <p:nvPr/>
        </p:nvSpPr>
        <p:spPr>
          <a:xfrm>
            <a:off x="490538" y="1571625"/>
            <a:ext cx="8153400" cy="3248025"/>
          </a:xfrm>
          <a:prstGeom prst="roundRect">
            <a:avLst>
              <a:gd name="adj" fmla="val 4504"/>
            </a:avLst>
          </a:prstGeom>
          <a:solidFill>
            <a:srgbClr val="FFFFFF"/>
          </a:solidFill>
          <a:ln/>
        </p:spPr>
        <p:txBody>
          <a:bodyPr wrap="square" rtlCol="0" anchor="ctr"/>
          <a:lstStyle/>
          <a:p>
            <a:pPr indent="0" marL="0">
              <a:buNone/>
            </a:pPr>
            <a:endParaRPr lang="en-US" dirty="0"/>
          </a:p>
        </p:txBody>
      </p:sp>
      <p:sp>
        <p:nvSpPr>
          <p:cNvPr id="7" name="Text 4"/>
          <p:cNvSpPr/>
          <p:nvPr/>
        </p:nvSpPr>
        <p:spPr>
          <a:xfrm>
            <a:off x="747713" y="1762125"/>
            <a:ext cx="3305175" cy="257175"/>
          </a:xfrm>
          <a:prstGeom prst="rect">
            <a:avLst/>
          </a:prstGeom>
          <a:noFill/>
          <a:ln/>
        </p:spPr>
        <p:txBody>
          <a:bodyPr wrap="square" lIns="0" tIns="0" rIns="0" bIns="0" rtlCol="0" anchor="ctr"/>
          <a:lstStyle/>
          <a:p>
            <a:pPr algn="l" indent="0" marL="0">
              <a:lnSpc>
                <a:spcPts val="1924"/>
              </a:lnSpc>
              <a:buNone/>
            </a:pPr>
            <a:r>
              <a:rPr lang="en-US" sz="1283" b="1" spc="-28" kern="0" dirty="0">
                <a:solidFill>
                  <a:srgbClr val="000000">
                    <a:alpha val="99000"/>
                  </a:srgbClr>
                </a:solidFill>
                <a:latin typeface="Inter" pitchFamily="34" charset="0"/>
                <a:ea typeface="Inter" pitchFamily="34" charset="-122"/>
                <a:cs typeface="Inter" pitchFamily="34" charset="-120"/>
              </a:rPr>
              <a:t>Intermediate / Advanced Engineers</a:t>
            </a:r>
            <a:endParaRPr lang="en-US" sz="1283" dirty="0"/>
          </a:p>
        </p:txBody>
      </p:sp>
      <p:sp>
        <p:nvSpPr>
          <p:cNvPr id="8" name="Text 5"/>
          <p:cNvSpPr/>
          <p:nvPr/>
        </p:nvSpPr>
        <p:spPr>
          <a:xfrm>
            <a:off x="4948238" y="2057400"/>
            <a:ext cx="3409950" cy="1285875"/>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System Support</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Faster configuration</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Modular workflows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Reusable scenario structures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Better controllability</a:t>
            </a:r>
            <a:endParaRPr lang="en-US" sz="1283" dirty="0"/>
          </a:p>
        </p:txBody>
      </p:sp>
      <p:sp>
        <p:nvSpPr>
          <p:cNvPr id="9" name="Text 6"/>
          <p:cNvSpPr/>
          <p:nvPr/>
        </p:nvSpPr>
        <p:spPr>
          <a:xfrm>
            <a:off x="747713" y="2057400"/>
            <a:ext cx="3409950" cy="2314575"/>
          </a:xfrm>
          <a:prstGeom prst="rect">
            <a:avLst/>
          </a:prstGeom>
          <a:noFill/>
          <a:ln/>
        </p:spPr>
        <p:txBody>
          <a:bodyPr wrap="square" lIns="0" tIns="0" rIns="0" bIns="0" rtlCol="0" anchor="ctr"/>
          <a:lstStyle/>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Characteristics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Familiar with simulation workflows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More experience with prompting</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Need efficient iteration workflows</a:t>
            </a:r>
            <a:endParaRPr lang="en-US" sz="1283" dirty="0"/>
          </a:p>
          <a:p>
            <a:pPr algn="l" indent="0" marL="0">
              <a:lnSpc>
                <a:spcPts val="1924"/>
              </a:lnSpc>
              <a:buNone/>
            </a:pPr>
            <a:r>
              <a:rPr lang="en-US" sz="1283" spc="-28" kern="0" dirty="0">
                <a:solidFill>
                  <a:srgbClr val="000000">
                    <a:alpha val="99000"/>
                  </a:srgbClr>
                </a:solidFill>
                <a:latin typeface="Inter" pitchFamily="34" charset="0"/>
                <a:ea typeface="Inter" pitchFamily="34" charset="-122"/>
                <a:cs typeface="Inter" pitchFamily="34" charset="-120"/>
              </a:rPr>
              <a:t>Current Challenges</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Time-consuming refinement</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Maintaining consistency</a:t>
            </a:r>
            <a:endParaRPr lang="en-US" sz="1283" dirty="0"/>
          </a:p>
          <a:p>
            <a:pPr algn="l" marL="342900" indent="-342900">
              <a:lnSpc>
                <a:spcPts val="1924"/>
              </a:lnSpc>
              <a:buSzPct val="100000"/>
              <a:buChar char="•"/>
            </a:pPr>
            <a:r>
              <a:rPr lang="en-US" sz="1283" spc="-28" kern="0" dirty="0">
                <a:solidFill>
                  <a:srgbClr val="000000">
                    <a:alpha val="99000"/>
                  </a:srgbClr>
                </a:solidFill>
                <a:latin typeface="Inter" pitchFamily="34" charset="0"/>
                <a:ea typeface="Inter" pitchFamily="34" charset="-122"/>
                <a:cs typeface="Inter" pitchFamily="34" charset="-120"/>
              </a:rPr>
              <a:t> Managing complex scenario variations</a:t>
            </a:r>
            <a:endParaRPr lang="en-US" sz="1283" dirty="0"/>
          </a:p>
        </p:txBody>
      </p:sp>
      <p:sp>
        <p:nvSpPr>
          <p:cNvPr id="10" name="Text 7"/>
          <p:cNvSpPr/>
          <p:nvPr/>
        </p:nvSpPr>
        <p:spPr>
          <a:xfrm>
            <a:off x="8810625" y="4843463"/>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21</a:t>
            </a:r>
            <a:endParaRPr lang="en-US" sz="85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190500" y="1997869"/>
            <a:ext cx="2486025" cy="1100138"/>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Constraints &amp; Design Considerations</a:t>
            </a:r>
            <a:endParaRPr lang="en-US" sz="2494" dirty="0"/>
          </a:p>
        </p:txBody>
      </p:sp>
      <p:sp>
        <p:nvSpPr>
          <p:cNvPr id="5" name="Shape 2"/>
          <p:cNvSpPr/>
          <p:nvPr/>
        </p:nvSpPr>
        <p:spPr>
          <a:xfrm>
            <a:off x="2957513" y="233362"/>
            <a:ext cx="6096000" cy="4814888"/>
          </a:xfrm>
          <a:prstGeom prst="roundRect">
            <a:avLst>
              <a:gd name="adj" fmla="val 2849"/>
            </a:avLst>
          </a:prstGeom>
          <a:solidFill>
            <a:srgbClr val="FBF4BD"/>
          </a:solidFill>
          <a:ln/>
        </p:spPr>
      </p:sp>
      <p:sp>
        <p:nvSpPr>
          <p:cNvPr id="6" name="Shape 3"/>
          <p:cNvSpPr/>
          <p:nvPr/>
        </p:nvSpPr>
        <p:spPr>
          <a:xfrm>
            <a:off x="4391025" y="919162"/>
            <a:ext cx="3219450" cy="795338"/>
          </a:xfrm>
          <a:prstGeom prst="rect">
            <a:avLst/>
          </a:prstGeom>
          <a:noFill/>
          <a:ln/>
        </p:spPr>
      </p:sp>
      <p:sp>
        <p:nvSpPr>
          <p:cNvPr id="7" name="Shape 4"/>
          <p:cNvSpPr/>
          <p:nvPr/>
        </p:nvSpPr>
        <p:spPr>
          <a:xfrm>
            <a:off x="4391025" y="919162"/>
            <a:ext cx="190500" cy="190500"/>
          </a:xfrm>
          <a:prstGeom prst="rect">
            <a:avLst/>
          </a:prstGeom>
          <a:noFill/>
          <a:ln/>
        </p:spPr>
      </p:sp>
      <p:sp>
        <p:nvSpPr>
          <p:cNvPr id="8" name="Shape 5"/>
          <p:cNvSpPr/>
          <p:nvPr/>
        </p:nvSpPr>
        <p:spPr>
          <a:xfrm>
            <a:off x="4391025" y="919162"/>
            <a:ext cx="190500" cy="190500"/>
          </a:xfrm>
          <a:prstGeom prst="roundRect">
            <a:avLst/>
          </a:prstGeom>
          <a:solidFill>
            <a:srgbClr val="000000"/>
          </a:solidFill>
          <a:ln/>
        </p:spPr>
      </p:sp>
      <p:sp>
        <p:nvSpPr>
          <p:cNvPr id="9" name="Shape 6"/>
          <p:cNvSpPr/>
          <p:nvPr/>
        </p:nvSpPr>
        <p:spPr>
          <a:xfrm>
            <a:off x="4848225" y="919162"/>
            <a:ext cx="2762250" cy="795338"/>
          </a:xfrm>
          <a:prstGeom prst="rect">
            <a:avLst/>
          </a:prstGeom>
          <a:noFill/>
          <a:ln/>
        </p:spPr>
      </p:sp>
      <p:sp>
        <p:nvSpPr>
          <p:cNvPr id="10" name="Text 7"/>
          <p:cNvSpPr/>
          <p:nvPr/>
        </p:nvSpPr>
        <p:spPr>
          <a:xfrm>
            <a:off x="4848225" y="919162"/>
            <a:ext cx="276225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Time Constraints</a:t>
            </a:r>
            <a:endParaRPr lang="en-US" sz="1425" dirty="0"/>
          </a:p>
        </p:txBody>
      </p:sp>
      <p:sp>
        <p:nvSpPr>
          <p:cNvPr id="11" name="Text 8"/>
          <p:cNvSpPr/>
          <p:nvPr/>
        </p:nvSpPr>
        <p:spPr>
          <a:xfrm>
            <a:off x="4848225" y="1243013"/>
            <a:ext cx="2762250" cy="471488"/>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The project is conducted within a limited academic timeframe, requiring the team to prioritize core interaction concepts and evaluation goals.</a:t>
            </a:r>
            <a:endParaRPr lang="en-US" sz="784" dirty="0"/>
          </a:p>
        </p:txBody>
      </p:sp>
      <p:sp>
        <p:nvSpPr>
          <p:cNvPr id="12" name="Shape 9"/>
          <p:cNvSpPr/>
          <p:nvPr/>
        </p:nvSpPr>
        <p:spPr>
          <a:xfrm>
            <a:off x="4391025" y="2181225"/>
            <a:ext cx="3200400" cy="638175"/>
          </a:xfrm>
          <a:prstGeom prst="rect">
            <a:avLst/>
          </a:prstGeom>
          <a:noFill/>
          <a:ln/>
        </p:spPr>
      </p:sp>
      <p:sp>
        <p:nvSpPr>
          <p:cNvPr id="13" name="Shape 10"/>
          <p:cNvSpPr/>
          <p:nvPr/>
        </p:nvSpPr>
        <p:spPr>
          <a:xfrm>
            <a:off x="4391025" y="2181225"/>
            <a:ext cx="190500" cy="190500"/>
          </a:xfrm>
          <a:prstGeom prst="rect">
            <a:avLst/>
          </a:prstGeom>
          <a:noFill/>
          <a:ln/>
        </p:spPr>
      </p:sp>
      <p:sp>
        <p:nvSpPr>
          <p:cNvPr id="14" name="Shape 11"/>
          <p:cNvSpPr/>
          <p:nvPr/>
        </p:nvSpPr>
        <p:spPr>
          <a:xfrm>
            <a:off x="4391025" y="2181225"/>
            <a:ext cx="190500" cy="190500"/>
          </a:xfrm>
          <a:prstGeom prst="roundRect">
            <a:avLst/>
          </a:prstGeom>
          <a:solidFill>
            <a:srgbClr val="000000"/>
          </a:solidFill>
          <a:ln/>
        </p:spPr>
      </p:sp>
      <p:sp>
        <p:nvSpPr>
          <p:cNvPr id="15" name="Shape 12"/>
          <p:cNvSpPr/>
          <p:nvPr/>
        </p:nvSpPr>
        <p:spPr>
          <a:xfrm>
            <a:off x="4848225" y="2181225"/>
            <a:ext cx="2743200" cy="638175"/>
          </a:xfrm>
          <a:prstGeom prst="rect">
            <a:avLst/>
          </a:prstGeom>
          <a:noFill/>
          <a:ln/>
        </p:spPr>
      </p:sp>
      <p:sp>
        <p:nvSpPr>
          <p:cNvPr id="16" name="Text 13"/>
          <p:cNvSpPr/>
          <p:nvPr/>
        </p:nvSpPr>
        <p:spPr>
          <a:xfrm>
            <a:off x="4848225" y="2181225"/>
            <a:ext cx="274320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Participant Recruitment</a:t>
            </a:r>
            <a:endParaRPr lang="en-US" sz="1425" dirty="0"/>
          </a:p>
        </p:txBody>
      </p:sp>
      <p:sp>
        <p:nvSpPr>
          <p:cNvPr id="17" name="Text 14"/>
          <p:cNvSpPr/>
          <p:nvPr/>
        </p:nvSpPr>
        <p:spPr>
          <a:xfrm>
            <a:off x="4848225" y="2505075"/>
            <a:ext cx="2743200" cy="314325"/>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Recruiting early-career engineers with relevant simulation experience may limit the achievable study sample size.</a:t>
            </a:r>
            <a:endParaRPr lang="en-US" sz="784" dirty="0"/>
          </a:p>
        </p:txBody>
      </p:sp>
      <p:sp>
        <p:nvSpPr>
          <p:cNvPr id="18" name="Shape 15"/>
          <p:cNvSpPr/>
          <p:nvPr/>
        </p:nvSpPr>
        <p:spPr>
          <a:xfrm>
            <a:off x="4391025" y="3286125"/>
            <a:ext cx="3228975" cy="1081088"/>
          </a:xfrm>
          <a:prstGeom prst="rect">
            <a:avLst/>
          </a:prstGeom>
          <a:noFill/>
          <a:ln/>
        </p:spPr>
      </p:sp>
      <p:sp>
        <p:nvSpPr>
          <p:cNvPr id="19" name="Shape 16"/>
          <p:cNvSpPr/>
          <p:nvPr/>
        </p:nvSpPr>
        <p:spPr>
          <a:xfrm>
            <a:off x="4391025" y="3286125"/>
            <a:ext cx="190500" cy="190500"/>
          </a:xfrm>
          <a:prstGeom prst="rect">
            <a:avLst/>
          </a:prstGeom>
          <a:noFill/>
          <a:ln/>
        </p:spPr>
      </p:sp>
      <p:sp>
        <p:nvSpPr>
          <p:cNvPr id="20" name="Shape 17"/>
          <p:cNvSpPr/>
          <p:nvPr/>
        </p:nvSpPr>
        <p:spPr>
          <a:xfrm>
            <a:off x="4391025" y="3286125"/>
            <a:ext cx="190500" cy="190500"/>
          </a:xfrm>
          <a:prstGeom prst="roundRect">
            <a:avLst/>
          </a:prstGeom>
          <a:solidFill>
            <a:srgbClr val="000000"/>
          </a:solidFill>
          <a:ln/>
        </p:spPr>
      </p:sp>
      <p:sp>
        <p:nvSpPr>
          <p:cNvPr id="21" name="Shape 18"/>
          <p:cNvSpPr/>
          <p:nvPr/>
        </p:nvSpPr>
        <p:spPr>
          <a:xfrm>
            <a:off x="4848225" y="3286125"/>
            <a:ext cx="2771775" cy="1081088"/>
          </a:xfrm>
          <a:prstGeom prst="rect">
            <a:avLst/>
          </a:prstGeom>
          <a:noFill/>
          <a:ln/>
        </p:spPr>
      </p:sp>
      <p:sp>
        <p:nvSpPr>
          <p:cNvPr id="22" name="Text 19"/>
          <p:cNvSpPr/>
          <p:nvPr/>
        </p:nvSpPr>
        <p:spPr>
          <a:xfrm>
            <a:off x="4848225" y="3286125"/>
            <a:ext cx="2771775" cy="57150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Simulation Environment Constraints</a:t>
            </a:r>
            <a:endParaRPr lang="en-US" sz="1425" dirty="0"/>
          </a:p>
        </p:txBody>
      </p:sp>
      <p:sp>
        <p:nvSpPr>
          <p:cNvPr id="23" name="Text 20"/>
          <p:cNvSpPr/>
          <p:nvPr/>
        </p:nvSpPr>
        <p:spPr>
          <a:xfrm>
            <a:off x="4848225" y="3895725"/>
            <a:ext cx="2771775" cy="471488"/>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The project is designed around the Esmini simulation environment, which restricts compatibility with other autonomous driving simulation platforms.</a:t>
            </a:r>
            <a:endParaRPr lang="en-US" sz="784" dirty="0"/>
          </a:p>
        </p:txBody>
      </p:sp>
      <p:sp>
        <p:nvSpPr>
          <p:cNvPr id="24" name="Text 21"/>
          <p:cNvSpPr/>
          <p:nvPr/>
        </p:nvSpPr>
        <p:spPr>
          <a:xfrm>
            <a:off x="8734425" y="4843463"/>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22</a:t>
            </a:r>
            <a:endParaRPr lang="en-US" sz="85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12700">
            <a:solidFill>
              <a:srgbClr val="F5F1E9"/>
            </a:solidFill>
            <a:prstDash val="solid"/>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04</a:t>
            </a:r>
            <a:endParaRPr lang="en-US" sz="24938" dirty="0"/>
          </a:p>
        </p:txBody>
      </p:sp>
      <p:sp>
        <p:nvSpPr>
          <p:cNvPr id="4" name="Text 2"/>
          <p:cNvSpPr/>
          <p:nvPr/>
        </p:nvSpPr>
        <p:spPr>
          <a:xfrm>
            <a:off x="742950" y="1047750"/>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Plus Jakarta Sans" pitchFamily="34" charset="0"/>
                <a:ea typeface="Plus Jakarta Sans" pitchFamily="34" charset="-122"/>
                <a:cs typeface="Plus Jakarta Sans" pitchFamily="34" charset="-120"/>
              </a:rPr>
              <a:t>The Concept</a:t>
            </a:r>
            <a:endParaRPr lang="en-US" sz="5344" dirty="0"/>
          </a:p>
        </p:txBody>
      </p:sp>
      <p:sp>
        <p:nvSpPr>
          <p:cNvPr id="5" name="Text 3"/>
          <p:cNvSpPr/>
          <p:nvPr/>
        </p:nvSpPr>
        <p:spPr>
          <a:xfrm>
            <a:off x="90488" y="76200"/>
            <a:ext cx="582930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LITERATURE REVIEW</a:t>
            </a:r>
            <a:endParaRPr lang="en-US" sz="784" dirty="0"/>
          </a:p>
        </p:txBody>
      </p:sp>
      <p:sp>
        <p:nvSpPr>
          <p:cNvPr id="6" name="Text 4"/>
          <p:cNvSpPr/>
          <p:nvPr/>
        </p:nvSpPr>
        <p:spPr>
          <a:xfrm>
            <a:off x="8062913" y="76200"/>
            <a:ext cx="99060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COURTNEY HUCK</a:t>
            </a:r>
            <a:endParaRPr lang="en-US" sz="78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2771775" cy="4814888"/>
          </a:xfrm>
          <a:prstGeom prst="roundRect">
            <a:avLst>
              <a:gd name="adj" fmla="val 4948"/>
            </a:avLst>
          </a:prstGeom>
          <a:solidFill>
            <a:srgbClr val="F5F1E9"/>
          </a:solidFill>
          <a:ln/>
        </p:spPr>
      </p:sp>
      <p:sp>
        <p:nvSpPr>
          <p:cNvPr id="3" name="Text 1"/>
          <p:cNvSpPr/>
          <p:nvPr/>
        </p:nvSpPr>
        <p:spPr>
          <a:xfrm>
            <a:off x="323850" y="2095500"/>
            <a:ext cx="2305050" cy="1100138"/>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Concept Overview Diagram</a:t>
            </a:r>
            <a:endParaRPr lang="en-US" sz="2494" dirty="0"/>
          </a:p>
        </p:txBody>
      </p:sp>
      <p:sp>
        <p:nvSpPr>
          <p:cNvPr id="4" name="Shape 2"/>
          <p:cNvSpPr/>
          <p:nvPr/>
        </p:nvSpPr>
        <p:spPr>
          <a:xfrm>
            <a:off x="2957513" y="238125"/>
            <a:ext cx="6096000" cy="4814888"/>
          </a:xfrm>
          <a:prstGeom prst="roundRect">
            <a:avLst>
              <a:gd name="adj" fmla="val 2849"/>
            </a:avLst>
          </a:prstGeom>
          <a:solidFill>
            <a:srgbClr val="FFFFFF"/>
          </a:solidFill>
          <a:ln/>
        </p:spPr>
      </p:sp>
      <p:sp>
        <p:nvSpPr>
          <p:cNvPr id="5" name="Text 3"/>
          <p:cNvSpPr/>
          <p:nvPr/>
        </p:nvSpPr>
        <p:spPr>
          <a:xfrm>
            <a:off x="8701088" y="4800600"/>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24</a:t>
            </a:r>
            <a:endParaRPr lang="en-US" sz="855" dirty="0"/>
          </a:p>
        </p:txBody>
      </p:sp>
      <p:pic>
        <p:nvPicPr>
          <p:cNvPr id="6" name="Image 0" descr="preencoded.png">    </p:cNvPr>
          <p:cNvPicPr>
            <a:picLocks noChangeAspect="1"/>
          </p:cNvPicPr>
          <p:nvPr/>
        </p:nvPicPr>
        <p:blipFill>
          <a:blip r:embed="rId1"/>
          <a:srcRect l="0" r="0" t="0" b="0"/>
          <a:stretch/>
        </p:blipFill>
        <p:spPr>
          <a:xfrm>
            <a:off x="3719512" y="371475"/>
            <a:ext cx="4843463" cy="4552950"/>
          </a:xfrm>
          <a:prstGeom prst="rect">
            <a:avLst/>
          </a:prstGeom>
        </p:spPr>
      </p:pic>
      <p:sp>
        <p:nvSpPr>
          <p:cNvPr id="7" name="Text 4"/>
          <p:cNvSpPr/>
          <p:nvPr/>
        </p:nvSpPr>
        <p:spPr>
          <a:xfrm>
            <a:off x="128588" y="4681538"/>
            <a:ext cx="2690813" cy="314325"/>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328613" y="633413"/>
            <a:ext cx="2076450" cy="366713"/>
          </a:xfrm>
          <a:prstGeom prst="rect">
            <a:avLst/>
          </a:prstGeom>
          <a:noFill/>
          <a:ln/>
        </p:spPr>
        <p:txBody>
          <a:bodyPr wrap="square" lIns="0" tIns="0" rIns="0" bIns="0" rtlCol="0" anchor="t"/>
          <a:lstStyle/>
          <a:p>
            <a:pPr algn="ctr" indent="0" marL="0">
              <a:lnSpc>
                <a:spcPts val="2743"/>
              </a:lnSpc>
              <a:buNone/>
            </a:pPr>
            <a:r>
              <a:rPr lang="en-US" sz="2494" b="1" spc="-55" kern="0" dirty="0">
                <a:solidFill>
                  <a:srgbClr val="000000">
                    <a:alpha val="99000"/>
                  </a:srgbClr>
                </a:solidFill>
                <a:latin typeface="Plus Jakarta Sans" pitchFamily="34" charset="0"/>
                <a:ea typeface="Plus Jakarta Sans" pitchFamily="34" charset="-122"/>
                <a:cs typeface="Plus Jakarta Sans" pitchFamily="34" charset="-120"/>
              </a:rPr>
              <a:t>User Journey</a:t>
            </a:r>
            <a:endParaRPr lang="en-US" sz="2494" dirty="0"/>
          </a:p>
        </p:txBody>
      </p:sp>
      <p:sp>
        <p:nvSpPr>
          <p:cNvPr id="3" name="Text 1"/>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25</a:t>
            </a:r>
            <a:endParaRPr lang="en-US" sz="855" dirty="0"/>
          </a:p>
        </p:txBody>
      </p:sp>
      <p:pic>
        <p:nvPicPr>
          <p:cNvPr id="4" name="Image 0" descr="preencoded.png">    </p:cNvPr>
          <p:cNvPicPr>
            <a:picLocks noChangeAspect="1"/>
          </p:cNvPicPr>
          <p:nvPr/>
        </p:nvPicPr>
        <p:blipFill>
          <a:blip r:embed="rId1"/>
          <a:srcRect l="0" r="0" t="0" b="0"/>
          <a:stretch/>
        </p:blipFill>
        <p:spPr>
          <a:xfrm>
            <a:off x="4067175" y="119063"/>
            <a:ext cx="3224213" cy="4905375"/>
          </a:xfrm>
          <a:prstGeom prst="rect">
            <a:avLst/>
          </a:prstGeom>
        </p:spPr>
      </p:pic>
      <p:sp>
        <p:nvSpPr>
          <p:cNvPr id="5" name="Text 2"/>
          <p:cNvSpPr/>
          <p:nvPr/>
        </p:nvSpPr>
        <p:spPr>
          <a:xfrm>
            <a:off x="328613" y="2390775"/>
            <a:ext cx="2324100" cy="2286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534AB7">
                    <a:alpha val="99000"/>
                  </a:srgbClr>
                </a:solidFill>
                <a:latin typeface="Plus Jakarta Sans" pitchFamily="34" charset="0"/>
                <a:ea typeface="Plus Jakarta Sans" pitchFamily="34" charset="-122"/>
                <a:cs typeface="Plus Jakarta Sans" pitchFamily="34" charset="-120"/>
              </a:rPr>
              <a:t>Purple</a:t>
            </a:r>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 = </a:t>
            </a:r>
            <a:pPr algn="ctr" indent="0" marL="0">
              <a:lnSpc>
                <a:spcPts val="1710"/>
              </a:lnSpc>
              <a:buNone/>
            </a:pPr>
            <a:r>
              <a:rPr lang="en-US" sz="1140" spc="-25" kern="0" dirty="0">
                <a:solidFill>
                  <a:srgbClr val="000000">
                    <a:alpha val="99000"/>
                  </a:srgbClr>
                </a:solidFill>
                <a:latin typeface="Plus Jakarta Sans" pitchFamily="34" charset="0"/>
                <a:ea typeface="Plus Jakarta Sans" pitchFamily="34" charset="-122"/>
                <a:cs typeface="Plus Jakarta Sans" pitchFamily="34" charset="-120"/>
              </a:rPr>
              <a:t>Engineer-Driven Steps</a:t>
            </a:r>
            <a:endParaRPr lang="en-US" sz="1140" dirty="0"/>
          </a:p>
        </p:txBody>
      </p:sp>
      <p:sp>
        <p:nvSpPr>
          <p:cNvPr id="6" name="Text 3"/>
          <p:cNvSpPr/>
          <p:nvPr/>
        </p:nvSpPr>
        <p:spPr>
          <a:xfrm>
            <a:off x="328613" y="2733675"/>
            <a:ext cx="2324100" cy="2286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95141">
                    <a:alpha val="99000"/>
                  </a:srgbClr>
                </a:solidFill>
                <a:latin typeface="Plus Jakarta Sans" pitchFamily="34" charset="0"/>
                <a:ea typeface="Plus Jakarta Sans" pitchFamily="34" charset="-122"/>
                <a:cs typeface="Plus Jakarta Sans" pitchFamily="34" charset="-120"/>
              </a:rPr>
              <a:t>Green</a:t>
            </a:r>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 = </a:t>
            </a:r>
            <a:pPr algn="ctr" indent="0" marL="0">
              <a:lnSpc>
                <a:spcPts val="1710"/>
              </a:lnSpc>
              <a:buNone/>
            </a:pPr>
            <a:r>
              <a:rPr lang="en-US" sz="1140" spc="-25" kern="0" dirty="0">
                <a:solidFill>
                  <a:srgbClr val="000000">
                    <a:alpha val="99000"/>
                  </a:srgbClr>
                </a:solidFill>
                <a:latin typeface="Plus Jakarta Sans" pitchFamily="34" charset="0"/>
                <a:ea typeface="Plus Jakarta Sans" pitchFamily="34" charset="-122"/>
                <a:cs typeface="Plus Jakarta Sans" pitchFamily="34" charset="-120"/>
              </a:rPr>
              <a:t>System-Driven Steps</a:t>
            </a:r>
            <a:endParaRPr lang="en-US" sz="1140" dirty="0"/>
          </a:p>
        </p:txBody>
      </p:sp>
      <p:sp>
        <p:nvSpPr>
          <p:cNvPr id="7" name="Text 4"/>
          <p:cNvSpPr/>
          <p:nvPr/>
        </p:nvSpPr>
        <p:spPr>
          <a:xfrm>
            <a:off x="142875" y="4748213"/>
            <a:ext cx="2690813" cy="314325"/>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190500" y="1662113"/>
            <a:ext cx="1257300" cy="1333500"/>
          </a:xfrm>
          <a:prstGeom prst="rect">
            <a:avLst/>
          </a:prstGeom>
          <a:noFill/>
          <a:ln/>
        </p:spPr>
        <p:txBody>
          <a:bodyPr wrap="square" lIns="0" tIns="0" rIns="0" bIns="0" rtlCol="0" anchor="t"/>
          <a:lstStyle/>
          <a:p>
            <a:pPr algn="ctr" indent="0" marL="0">
              <a:lnSpc>
                <a:spcPts val="2508"/>
              </a:lnSpc>
              <a:buNone/>
            </a:pPr>
            <a:r>
              <a:rPr lang="en-US" sz="2280" spc="-50" kern="0" dirty="0">
                <a:solidFill>
                  <a:srgbClr val="000000">
                    <a:alpha val="99000"/>
                  </a:srgbClr>
                </a:solidFill>
                <a:latin typeface="Plus Jakarta Sans" pitchFamily="34" charset="0"/>
                <a:ea typeface="Plus Jakarta Sans" pitchFamily="34" charset="-122"/>
                <a:cs typeface="Plus Jakarta Sans" pitchFamily="34" charset="-120"/>
              </a:rPr>
              <a:t>Visuals of the Artifact</a:t>
            </a:r>
            <a:endParaRPr lang="en-US" sz="2280" dirty="0"/>
          </a:p>
          <a:p>
            <a:pPr algn="ctr" indent="0" marL="0">
              <a:lnSpc>
                <a:spcPts val="2508"/>
              </a:lnSpc>
              <a:buNone/>
            </a:pPr>
            <a:r>
              <a:rPr lang="en-US" sz="2280" spc="-50" kern="0" dirty="0">
                <a:solidFill>
                  <a:srgbClr val="000000">
                    <a:alpha val="99000"/>
                  </a:srgbClr>
                </a:solidFill>
                <a:latin typeface="Plus Jakarta Sans" pitchFamily="34" charset="0"/>
                <a:ea typeface="Plus Jakarta Sans" pitchFamily="34" charset="-122"/>
                <a:cs typeface="Plus Jakarta Sans" pitchFamily="34" charset="-120"/>
              </a:rPr>
              <a:t>(Blank)</a:t>
            </a:r>
            <a:endParaRPr lang="en-US" sz="2280" dirty="0"/>
          </a:p>
        </p:txBody>
      </p:sp>
      <p:sp>
        <p:nvSpPr>
          <p:cNvPr id="4" name="Text 1"/>
          <p:cNvSpPr/>
          <p:nvPr/>
        </p:nvSpPr>
        <p:spPr>
          <a:xfrm>
            <a:off x="1871663" y="447675"/>
            <a:ext cx="1362075" cy="2286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Main Parameters</a:t>
            </a:r>
            <a:endParaRPr lang="en-US" sz="1140" dirty="0"/>
          </a:p>
        </p:txBody>
      </p:sp>
      <p:sp>
        <p:nvSpPr>
          <p:cNvPr id="5" name="Text 2"/>
          <p:cNvSpPr/>
          <p:nvPr/>
        </p:nvSpPr>
        <p:spPr>
          <a:xfrm>
            <a:off x="1952625" y="2100263"/>
            <a:ext cx="1362075" cy="6858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Additional possible information</a:t>
            </a:r>
            <a:endParaRPr lang="en-US" sz="1140" dirty="0"/>
          </a:p>
        </p:txBody>
      </p:sp>
      <p:sp>
        <p:nvSpPr>
          <p:cNvPr id="6" name="Text 3"/>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26</a:t>
            </a:r>
            <a:endParaRPr lang="en-US" sz="855" dirty="0"/>
          </a:p>
        </p:txBody>
      </p:sp>
      <p:pic>
        <p:nvPicPr>
          <p:cNvPr id="7" name="Image 0" descr="preencoded.png">    </p:cNvPr>
          <p:cNvPicPr>
            <a:picLocks noChangeAspect="1"/>
          </p:cNvPicPr>
          <p:nvPr/>
        </p:nvPicPr>
        <p:blipFill>
          <a:blip r:embed="rId1"/>
          <a:srcRect l="0" r="0" t="0" b="0"/>
          <a:stretch/>
        </p:blipFill>
        <p:spPr>
          <a:xfrm>
            <a:off x="3514725" y="138113"/>
            <a:ext cx="3700976" cy="2687910"/>
          </a:xfrm>
          <a:prstGeom prst="rect">
            <a:avLst/>
          </a:prstGeom>
        </p:spPr>
      </p:pic>
      <p:pic>
        <p:nvPicPr>
          <p:cNvPr id="8" name="Image 1" descr="preencoded.png">    </p:cNvPr>
          <p:cNvPicPr>
            <a:picLocks noChangeAspect="1"/>
          </p:cNvPicPr>
          <p:nvPr/>
        </p:nvPicPr>
        <p:blipFill>
          <a:blip r:embed="rId2"/>
          <a:srcRect l="0" r="0" t="0" b="0"/>
          <a:stretch/>
        </p:blipFill>
        <p:spPr>
          <a:xfrm>
            <a:off x="3514725" y="2731963"/>
            <a:ext cx="3698516" cy="2417108"/>
          </a:xfrm>
          <a:prstGeom prst="rect">
            <a:avLst/>
          </a:prstGeom>
        </p:spPr>
      </p:pic>
      <p:pic>
        <p:nvPicPr>
          <p:cNvPr id="9" name="Image 2" descr="preencoded.png">    </p:cNvPr>
          <p:cNvPicPr>
            <a:picLocks noChangeAspect="1"/>
          </p:cNvPicPr>
          <p:nvPr/>
        </p:nvPicPr>
        <p:blipFill>
          <a:blip r:embed="rId3"/>
          <a:srcRect l="0" r="0" t="0" b="0"/>
          <a:stretch/>
        </p:blipFill>
        <p:spPr>
          <a:xfrm>
            <a:off x="3214688" y="566738"/>
            <a:ext cx="411956" cy="175357"/>
          </a:xfrm>
          <a:prstGeom prst="rect">
            <a:avLst/>
          </a:prstGeom>
        </p:spPr>
      </p:pic>
      <p:sp>
        <p:nvSpPr>
          <p:cNvPr id="10" name="Text 4"/>
          <p:cNvSpPr/>
          <p:nvPr/>
        </p:nvSpPr>
        <p:spPr>
          <a:xfrm>
            <a:off x="7291388" y="862013"/>
            <a:ext cx="1362075" cy="6858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User must fill out 5/6 of these parameters</a:t>
            </a:r>
            <a:endParaRPr lang="en-US" sz="1140" dirty="0"/>
          </a:p>
        </p:txBody>
      </p:sp>
      <p:pic>
        <p:nvPicPr>
          <p:cNvPr id="11" name="Image 3" descr="preencoded.png">    </p:cNvPr>
          <p:cNvPicPr>
            <a:picLocks noChangeAspect="1"/>
          </p:cNvPicPr>
          <p:nvPr/>
        </p:nvPicPr>
        <p:blipFill>
          <a:blip r:embed="rId4"/>
          <a:srcRect l="0" r="0" t="0" b="0"/>
          <a:stretch/>
        </p:blipFill>
        <p:spPr>
          <a:xfrm>
            <a:off x="6986586" y="1195388"/>
            <a:ext cx="412126" cy="175310"/>
          </a:xfrm>
          <a:prstGeom prst="rect">
            <a:avLst/>
          </a:prstGeom>
        </p:spPr>
      </p:pic>
      <p:sp>
        <p:nvSpPr>
          <p:cNvPr id="12" name="Text 5"/>
          <p:cNvSpPr/>
          <p:nvPr/>
        </p:nvSpPr>
        <p:spPr>
          <a:xfrm>
            <a:off x="6986588" y="2676525"/>
            <a:ext cx="1362075" cy="4572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Shows </a:t>
            </a:r>
            <a:endParaRPr lang="en-US" sz="1140" dirty="0"/>
          </a:p>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Prompt</a:t>
            </a:r>
            <a:endParaRPr lang="en-US" sz="1140" dirty="0"/>
          </a:p>
        </p:txBody>
      </p:sp>
      <p:pic>
        <p:nvPicPr>
          <p:cNvPr id="13" name="Image 4" descr="preencoded.png">    </p:cNvPr>
          <p:cNvPicPr>
            <a:picLocks noChangeAspect="1"/>
          </p:cNvPicPr>
          <p:nvPr/>
        </p:nvPicPr>
        <p:blipFill>
          <a:blip r:embed="rId5"/>
          <a:srcRect l="0" r="0" t="0" b="0"/>
          <a:stretch/>
        </p:blipFill>
        <p:spPr>
          <a:xfrm>
            <a:off x="6829424" y="2905125"/>
            <a:ext cx="412126" cy="175310"/>
          </a:xfrm>
          <a:prstGeom prst="rect">
            <a:avLst/>
          </a:prstGeom>
        </p:spPr>
      </p:pic>
      <p:pic>
        <p:nvPicPr>
          <p:cNvPr id="14" name="Image 5" descr="preencoded.png">    </p:cNvPr>
          <p:cNvPicPr>
            <a:picLocks noChangeAspect="1"/>
          </p:cNvPicPr>
          <p:nvPr/>
        </p:nvPicPr>
        <p:blipFill>
          <a:blip r:embed="rId6"/>
          <a:srcRect l="0" r="0" t="0" b="0"/>
          <a:stretch/>
        </p:blipFill>
        <p:spPr>
          <a:xfrm>
            <a:off x="3114675" y="2395533"/>
            <a:ext cx="411949" cy="175078"/>
          </a:xfrm>
          <a:prstGeom prst="rect">
            <a:avLst/>
          </a:prstGeom>
        </p:spPr>
      </p:pic>
      <p:sp>
        <p:nvSpPr>
          <p:cNvPr id="15" name="Text 6"/>
          <p:cNvSpPr/>
          <p:nvPr/>
        </p:nvSpPr>
        <p:spPr>
          <a:xfrm>
            <a:off x="1628775" y="4371975"/>
            <a:ext cx="1671638" cy="4572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Confirms if prompt will run in Esmini or not</a:t>
            </a:r>
            <a:endParaRPr lang="en-US" sz="1140" dirty="0"/>
          </a:p>
        </p:txBody>
      </p:sp>
      <p:pic>
        <p:nvPicPr>
          <p:cNvPr id="16" name="Image 6" descr="preencoded.png">    </p:cNvPr>
          <p:cNvPicPr>
            <a:picLocks noChangeAspect="1"/>
          </p:cNvPicPr>
          <p:nvPr/>
        </p:nvPicPr>
        <p:blipFill>
          <a:blip r:embed="rId7"/>
          <a:srcRect l="0" r="0" t="0" b="0"/>
          <a:stretch/>
        </p:blipFill>
        <p:spPr>
          <a:xfrm>
            <a:off x="3233738" y="4610096"/>
            <a:ext cx="411949" cy="175078"/>
          </a:xfrm>
          <a:prstGeom prst="rect">
            <a:avLst/>
          </a:prstGeom>
        </p:spPr>
      </p:pic>
      <p:sp>
        <p:nvSpPr>
          <p:cNvPr id="17" name="Text 7"/>
          <p:cNvSpPr/>
          <p:nvPr/>
        </p:nvSpPr>
        <p:spPr>
          <a:xfrm>
            <a:off x="157163" y="4300538"/>
            <a:ext cx="1319213" cy="785813"/>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190500" y="1662113"/>
            <a:ext cx="1257300" cy="1333500"/>
          </a:xfrm>
          <a:prstGeom prst="rect">
            <a:avLst/>
          </a:prstGeom>
          <a:noFill/>
          <a:ln/>
        </p:spPr>
        <p:txBody>
          <a:bodyPr wrap="square" lIns="0" tIns="0" rIns="0" bIns="0" rtlCol="0" anchor="t"/>
          <a:lstStyle/>
          <a:p>
            <a:pPr algn="ctr" indent="0" marL="0">
              <a:lnSpc>
                <a:spcPts val="2508"/>
              </a:lnSpc>
              <a:buNone/>
            </a:pPr>
            <a:r>
              <a:rPr lang="en-US" sz="2280" spc="-50" kern="0" dirty="0">
                <a:solidFill>
                  <a:srgbClr val="000000">
                    <a:alpha val="99000"/>
                  </a:srgbClr>
                </a:solidFill>
                <a:latin typeface="Plus Jakarta Sans" pitchFamily="34" charset="0"/>
                <a:ea typeface="Plus Jakarta Sans" pitchFamily="34" charset="-122"/>
                <a:cs typeface="Plus Jakarta Sans" pitchFamily="34" charset="-120"/>
              </a:rPr>
              <a:t>Visuals of the Artifact</a:t>
            </a:r>
            <a:endParaRPr lang="en-US" sz="2280" dirty="0"/>
          </a:p>
          <a:p>
            <a:pPr algn="ctr" indent="0" marL="0">
              <a:lnSpc>
                <a:spcPts val="2508"/>
              </a:lnSpc>
              <a:buNone/>
            </a:pPr>
            <a:r>
              <a:rPr lang="en-US" sz="2280" spc="-50" kern="0" dirty="0">
                <a:solidFill>
                  <a:srgbClr val="000000">
                    <a:alpha val="99000"/>
                  </a:srgbClr>
                </a:solidFill>
                <a:latin typeface="Plus Jakarta Sans" pitchFamily="34" charset="0"/>
                <a:ea typeface="Plus Jakarta Sans" pitchFamily="34" charset="-122"/>
                <a:cs typeface="Plus Jakarta Sans" pitchFamily="34" charset="-120"/>
              </a:rPr>
              <a:t>(Filled In)</a:t>
            </a:r>
            <a:endParaRPr lang="en-US" sz="2280" dirty="0"/>
          </a:p>
        </p:txBody>
      </p:sp>
      <p:sp>
        <p:nvSpPr>
          <p:cNvPr id="3" name="Text 1"/>
          <p:cNvSpPr/>
          <p:nvPr/>
        </p:nvSpPr>
        <p:spPr>
          <a:xfrm>
            <a:off x="2076450" y="285750"/>
            <a:ext cx="1362075" cy="2286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Main Parameters</a:t>
            </a:r>
            <a:endParaRPr lang="en-US" sz="1140" dirty="0"/>
          </a:p>
        </p:txBody>
      </p:sp>
      <p:sp>
        <p:nvSpPr>
          <p:cNvPr id="4" name="Text 2"/>
          <p:cNvSpPr/>
          <p:nvPr/>
        </p:nvSpPr>
        <p:spPr>
          <a:xfrm>
            <a:off x="2290763" y="2047875"/>
            <a:ext cx="1362075" cy="6858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Additional possible information</a:t>
            </a:r>
            <a:endParaRPr lang="en-US" sz="1140" dirty="0"/>
          </a:p>
        </p:txBody>
      </p:sp>
      <p:sp>
        <p:nvSpPr>
          <p:cNvPr id="5" name="Text 3"/>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27</a:t>
            </a:r>
            <a:endParaRPr lang="en-US" sz="855" dirty="0"/>
          </a:p>
        </p:txBody>
      </p:sp>
      <p:pic>
        <p:nvPicPr>
          <p:cNvPr id="6" name="Image 0" descr="preencoded.png">    </p:cNvPr>
          <p:cNvPicPr>
            <a:picLocks noChangeAspect="1"/>
          </p:cNvPicPr>
          <p:nvPr/>
        </p:nvPicPr>
        <p:blipFill>
          <a:blip r:embed="rId1"/>
          <a:srcRect l="0" r="0" t="0" b="0"/>
          <a:stretch/>
        </p:blipFill>
        <p:spPr>
          <a:xfrm>
            <a:off x="3419475" y="404813"/>
            <a:ext cx="411956" cy="175357"/>
          </a:xfrm>
          <a:prstGeom prst="rect">
            <a:avLst/>
          </a:prstGeom>
        </p:spPr>
      </p:pic>
      <p:sp>
        <p:nvSpPr>
          <p:cNvPr id="7" name="Text 4"/>
          <p:cNvSpPr/>
          <p:nvPr/>
        </p:nvSpPr>
        <p:spPr>
          <a:xfrm>
            <a:off x="7291388" y="862013"/>
            <a:ext cx="1362075" cy="6858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User must fill out 5/6 of these parameters</a:t>
            </a:r>
            <a:endParaRPr lang="en-US" sz="1140" dirty="0"/>
          </a:p>
        </p:txBody>
      </p:sp>
      <p:pic>
        <p:nvPicPr>
          <p:cNvPr id="8" name="Image 1" descr="preencoded.png">    </p:cNvPr>
          <p:cNvPicPr>
            <a:picLocks noChangeAspect="1"/>
          </p:cNvPicPr>
          <p:nvPr/>
        </p:nvPicPr>
        <p:blipFill>
          <a:blip r:embed="rId2"/>
          <a:srcRect l="0" r="0" t="0" b="0"/>
          <a:stretch/>
        </p:blipFill>
        <p:spPr>
          <a:xfrm>
            <a:off x="6986586" y="1195388"/>
            <a:ext cx="412124" cy="175310"/>
          </a:xfrm>
          <a:prstGeom prst="rect">
            <a:avLst/>
          </a:prstGeom>
        </p:spPr>
      </p:pic>
      <p:sp>
        <p:nvSpPr>
          <p:cNvPr id="9" name="Text 5"/>
          <p:cNvSpPr/>
          <p:nvPr/>
        </p:nvSpPr>
        <p:spPr>
          <a:xfrm>
            <a:off x="7348538" y="2462213"/>
            <a:ext cx="1362075" cy="4572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Shows </a:t>
            </a:r>
            <a:endParaRPr lang="en-US" sz="1140" dirty="0"/>
          </a:p>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Prompt</a:t>
            </a:r>
            <a:endParaRPr lang="en-US" sz="1140" dirty="0"/>
          </a:p>
        </p:txBody>
      </p:sp>
      <p:pic>
        <p:nvPicPr>
          <p:cNvPr id="10" name="Image 2" descr="preencoded.png">    </p:cNvPr>
          <p:cNvPicPr>
            <a:picLocks noChangeAspect="1"/>
          </p:cNvPicPr>
          <p:nvPr/>
        </p:nvPicPr>
        <p:blipFill>
          <a:blip r:embed="rId3"/>
          <a:srcRect l="0" r="0" t="0" b="0"/>
          <a:stretch/>
        </p:blipFill>
        <p:spPr>
          <a:xfrm>
            <a:off x="7148511" y="2681288"/>
            <a:ext cx="412124" cy="175310"/>
          </a:xfrm>
          <a:prstGeom prst="rect">
            <a:avLst/>
          </a:prstGeom>
        </p:spPr>
      </p:pic>
      <p:pic>
        <p:nvPicPr>
          <p:cNvPr id="11" name="Image 3" descr="preencoded.png">    </p:cNvPr>
          <p:cNvPicPr>
            <a:picLocks noChangeAspect="1"/>
          </p:cNvPicPr>
          <p:nvPr/>
        </p:nvPicPr>
        <p:blipFill>
          <a:blip r:embed="rId4"/>
          <a:srcRect l="0" r="0" t="0" b="0"/>
          <a:stretch/>
        </p:blipFill>
        <p:spPr>
          <a:xfrm>
            <a:off x="3419475" y="2328858"/>
            <a:ext cx="411952" cy="175078"/>
          </a:xfrm>
          <a:prstGeom prst="rect">
            <a:avLst/>
          </a:prstGeom>
        </p:spPr>
      </p:pic>
      <p:sp>
        <p:nvSpPr>
          <p:cNvPr id="12" name="Text 6"/>
          <p:cNvSpPr/>
          <p:nvPr/>
        </p:nvSpPr>
        <p:spPr>
          <a:xfrm>
            <a:off x="1638300" y="4319588"/>
            <a:ext cx="1671638" cy="4572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Confirms if prompt will run in Esmini or not</a:t>
            </a:r>
            <a:endParaRPr lang="en-US" sz="1140" dirty="0"/>
          </a:p>
        </p:txBody>
      </p:sp>
      <p:pic>
        <p:nvPicPr>
          <p:cNvPr id="13" name="Image 4" descr="preencoded.png">    </p:cNvPr>
          <p:cNvPicPr>
            <a:picLocks noChangeAspect="1"/>
          </p:cNvPicPr>
          <p:nvPr/>
        </p:nvPicPr>
        <p:blipFill>
          <a:blip r:embed="rId5"/>
          <a:srcRect l="0" r="0" t="0" b="0"/>
          <a:stretch/>
        </p:blipFill>
        <p:spPr>
          <a:xfrm>
            <a:off x="3300413" y="4548183"/>
            <a:ext cx="411952" cy="175078"/>
          </a:xfrm>
          <a:prstGeom prst="rect">
            <a:avLst/>
          </a:prstGeom>
        </p:spPr>
      </p:pic>
      <p:pic>
        <p:nvPicPr>
          <p:cNvPr id="14" name="Image 5" descr="preencoded.png">    </p:cNvPr>
          <p:cNvPicPr>
            <a:picLocks noChangeAspect="1"/>
          </p:cNvPicPr>
          <p:nvPr/>
        </p:nvPicPr>
        <p:blipFill>
          <a:blip r:embed="rId6"/>
          <a:srcRect l="0" r="0" t="0" b="0"/>
          <a:stretch/>
        </p:blipFill>
        <p:spPr>
          <a:xfrm>
            <a:off x="3819525" y="38100"/>
            <a:ext cx="3162300" cy="5067300"/>
          </a:xfrm>
          <a:prstGeom prst="rect">
            <a:avLst/>
          </a:prstGeom>
        </p:spPr>
      </p:pic>
      <p:sp>
        <p:nvSpPr>
          <p:cNvPr id="15" name="Text 7"/>
          <p:cNvSpPr/>
          <p:nvPr/>
        </p:nvSpPr>
        <p:spPr>
          <a:xfrm>
            <a:off x="128588" y="4291013"/>
            <a:ext cx="1319213" cy="785813"/>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4833938" y="800100"/>
            <a:ext cx="3252788" cy="504825"/>
          </a:xfrm>
          <a:prstGeom prst="rect">
            <a:avLst/>
          </a:prstGeom>
          <a:noFill/>
          <a:ln/>
        </p:spPr>
        <p:txBody>
          <a:bodyPr wrap="square" lIns="0" tIns="0" rIns="0" bIns="0" rtlCol="0" anchor="t"/>
          <a:lstStyle/>
          <a:p>
            <a:pPr algn="ctr" indent="0" marL="0">
              <a:lnSpc>
                <a:spcPts val="1881"/>
              </a:lnSpc>
              <a:buNone/>
            </a:pPr>
            <a:r>
              <a:rPr lang="en-US" sz="1710" b="1" spc="-38" kern="0" dirty="0">
                <a:solidFill>
                  <a:srgbClr val="000000">
                    <a:alpha val="99000"/>
                  </a:srgbClr>
                </a:solidFill>
                <a:latin typeface="Plus Jakarta Sans" pitchFamily="34" charset="0"/>
                <a:ea typeface="Plus Jakarta Sans" pitchFamily="34" charset="-122"/>
                <a:cs typeface="Plus Jakarta Sans" pitchFamily="34" charset="-120"/>
              </a:rPr>
              <a:t>Visuals of the Artifact</a:t>
            </a:r>
            <a:endParaRPr lang="en-US" sz="1710" dirty="0"/>
          </a:p>
          <a:p>
            <a:pPr algn="ctr" indent="0" marL="0">
              <a:lnSpc>
                <a:spcPts val="1881"/>
              </a:lnSpc>
              <a:buNone/>
            </a:pPr>
            <a:r>
              <a:rPr lang="en-US" sz="1710" b="1" spc="-38" kern="0" dirty="0">
                <a:solidFill>
                  <a:srgbClr val="000000">
                    <a:alpha val="99000"/>
                  </a:srgbClr>
                </a:solidFill>
                <a:latin typeface="Plus Jakarta Sans" pitchFamily="34" charset="0"/>
                <a:ea typeface="Plus Jakarta Sans" pitchFamily="34" charset="-122"/>
                <a:cs typeface="Plus Jakarta Sans" pitchFamily="34" charset="-120"/>
              </a:rPr>
              <a:t>(Close Up - Filled In)</a:t>
            </a:r>
            <a:endParaRPr lang="en-US" sz="1710" dirty="0"/>
          </a:p>
        </p:txBody>
      </p:sp>
      <p:sp>
        <p:nvSpPr>
          <p:cNvPr id="3" name="Text 1"/>
          <p:cNvSpPr/>
          <p:nvPr/>
        </p:nvSpPr>
        <p:spPr>
          <a:xfrm>
            <a:off x="180975" y="2919413"/>
            <a:ext cx="1362075" cy="6858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Additional possible information</a:t>
            </a:r>
            <a:endParaRPr lang="en-US" sz="1140" dirty="0"/>
          </a:p>
        </p:txBody>
      </p:sp>
      <p:sp>
        <p:nvSpPr>
          <p:cNvPr id="4" name="Text 2"/>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28</a:t>
            </a:r>
            <a:endParaRPr lang="en-US" sz="855" dirty="0"/>
          </a:p>
        </p:txBody>
      </p:sp>
      <p:pic>
        <p:nvPicPr>
          <p:cNvPr id="5" name="Image 0" descr="preencoded.png">    </p:cNvPr>
          <p:cNvPicPr>
            <a:picLocks noChangeAspect="1"/>
          </p:cNvPicPr>
          <p:nvPr/>
        </p:nvPicPr>
        <p:blipFill>
          <a:blip r:embed="rId1"/>
          <a:srcRect l="0" r="0" t="0" b="0"/>
          <a:stretch/>
        </p:blipFill>
        <p:spPr>
          <a:xfrm>
            <a:off x="1524000" y="2643188"/>
            <a:ext cx="411956" cy="175357"/>
          </a:xfrm>
          <a:prstGeom prst="rect">
            <a:avLst/>
          </a:prstGeom>
        </p:spPr>
      </p:pic>
      <p:sp>
        <p:nvSpPr>
          <p:cNvPr id="6" name="Text 3"/>
          <p:cNvSpPr/>
          <p:nvPr/>
        </p:nvSpPr>
        <p:spPr>
          <a:xfrm>
            <a:off x="1023938" y="3795713"/>
            <a:ext cx="1362075" cy="6858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User must fill out 5/6 of these parameters</a:t>
            </a:r>
            <a:endParaRPr lang="en-US" sz="1140" dirty="0"/>
          </a:p>
        </p:txBody>
      </p:sp>
      <p:pic>
        <p:nvPicPr>
          <p:cNvPr id="7" name="Image 1" descr="preencoded.png">    </p:cNvPr>
          <p:cNvPicPr>
            <a:picLocks noChangeAspect="1"/>
          </p:cNvPicPr>
          <p:nvPr/>
        </p:nvPicPr>
        <p:blipFill>
          <a:blip r:embed="rId2"/>
          <a:srcRect l="0" r="0" t="0" b="0"/>
          <a:stretch/>
        </p:blipFill>
        <p:spPr>
          <a:xfrm>
            <a:off x="476249" y="4738688"/>
            <a:ext cx="412124" cy="175310"/>
          </a:xfrm>
          <a:prstGeom prst="rect">
            <a:avLst/>
          </a:prstGeom>
        </p:spPr>
      </p:pic>
      <p:sp>
        <p:nvSpPr>
          <p:cNvPr id="8" name="Text 4"/>
          <p:cNvSpPr/>
          <p:nvPr/>
        </p:nvSpPr>
        <p:spPr>
          <a:xfrm>
            <a:off x="2509838" y="4238625"/>
            <a:ext cx="1362075" cy="457200"/>
          </a:xfrm>
          <a:prstGeom prst="rect">
            <a:avLst/>
          </a:prstGeom>
          <a:noFill/>
          <a:ln/>
        </p:spPr>
        <p:txBody>
          <a:bodyPr wrap="square" lIns="0" tIns="0" rIns="0" bIns="0" rtlCol="0" anchor="t"/>
          <a:lstStyle/>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Shows </a:t>
            </a:r>
            <a:endParaRPr lang="en-US" sz="1140" dirty="0"/>
          </a:p>
          <a:p>
            <a:pPr algn="ctr" indent="0" marL="0">
              <a:lnSpc>
                <a:spcPts val="1710"/>
              </a:lnSpc>
              <a:buNone/>
            </a:pPr>
            <a:r>
              <a:rPr lang="en-US" sz="1140" b="1" spc="-25" kern="0" dirty="0">
                <a:solidFill>
                  <a:srgbClr val="000000">
                    <a:alpha val="99000"/>
                  </a:srgbClr>
                </a:solidFill>
                <a:latin typeface="Plus Jakarta Sans" pitchFamily="34" charset="0"/>
                <a:ea typeface="Plus Jakarta Sans" pitchFamily="34" charset="-122"/>
                <a:cs typeface="Plus Jakarta Sans" pitchFamily="34" charset="-120"/>
              </a:rPr>
              <a:t>Prompt</a:t>
            </a:r>
            <a:endParaRPr lang="en-US" sz="1140" dirty="0"/>
          </a:p>
        </p:txBody>
      </p:sp>
      <p:pic>
        <p:nvPicPr>
          <p:cNvPr id="9" name="Image 2" descr="preencoded.png">    </p:cNvPr>
          <p:cNvPicPr>
            <a:picLocks noChangeAspect="1"/>
          </p:cNvPicPr>
          <p:nvPr/>
        </p:nvPicPr>
        <p:blipFill>
          <a:blip r:embed="rId3"/>
          <a:srcRect l="0" r="0" t="0" b="0"/>
          <a:stretch/>
        </p:blipFill>
        <p:spPr>
          <a:xfrm>
            <a:off x="2309811" y="4700588"/>
            <a:ext cx="412124" cy="175310"/>
          </a:xfrm>
          <a:prstGeom prst="rect">
            <a:avLst/>
          </a:prstGeom>
        </p:spPr>
      </p:pic>
      <p:pic>
        <p:nvPicPr>
          <p:cNvPr id="10" name="Image 3" descr="preencoded.png">    </p:cNvPr>
          <p:cNvPicPr>
            <a:picLocks noChangeAspect="1"/>
          </p:cNvPicPr>
          <p:nvPr/>
        </p:nvPicPr>
        <p:blipFill>
          <a:blip r:embed="rId4"/>
          <a:srcRect l="0" r="0" t="0" b="0"/>
          <a:stretch/>
        </p:blipFill>
        <p:spPr>
          <a:xfrm>
            <a:off x="1309688" y="3200396"/>
            <a:ext cx="411952" cy="175078"/>
          </a:xfrm>
          <a:prstGeom prst="rect">
            <a:avLst/>
          </a:prstGeom>
        </p:spPr>
      </p:pic>
      <p:pic>
        <p:nvPicPr>
          <p:cNvPr id="11" name="Image 4" descr="preencoded.png">    </p:cNvPr>
          <p:cNvPicPr>
            <a:picLocks noChangeAspect="1"/>
          </p:cNvPicPr>
          <p:nvPr/>
        </p:nvPicPr>
        <p:blipFill>
          <a:blip r:embed="rId5"/>
          <a:srcRect l="0" r="0" t="0" b="0"/>
          <a:stretch/>
        </p:blipFill>
        <p:spPr>
          <a:xfrm>
            <a:off x="1843088" y="4010021"/>
            <a:ext cx="411952" cy="175078"/>
          </a:xfrm>
          <a:prstGeom prst="rect">
            <a:avLst/>
          </a:prstGeom>
        </p:spPr>
      </p:pic>
      <p:pic>
        <p:nvPicPr>
          <p:cNvPr id="12" name="Image 5" descr="preencoded.png">    </p:cNvPr>
          <p:cNvPicPr>
            <a:picLocks noChangeAspect="1"/>
          </p:cNvPicPr>
          <p:nvPr/>
        </p:nvPicPr>
        <p:blipFill>
          <a:blip r:embed="rId6"/>
          <a:srcRect l="0" r="0" t="0" b="0"/>
          <a:stretch/>
        </p:blipFill>
        <p:spPr>
          <a:xfrm>
            <a:off x="190500" y="200025"/>
            <a:ext cx="4010025" cy="4752975"/>
          </a:xfrm>
          <a:prstGeom prst="rect">
            <a:avLst/>
          </a:prstGeom>
        </p:spPr>
      </p:pic>
      <p:pic>
        <p:nvPicPr>
          <p:cNvPr id="13" name="Image 6" descr="preencoded.png">    </p:cNvPr>
          <p:cNvPicPr>
            <a:picLocks noChangeAspect="1"/>
          </p:cNvPicPr>
          <p:nvPr/>
        </p:nvPicPr>
        <p:blipFill>
          <a:blip r:embed="rId7"/>
          <a:srcRect l="0" r="0" t="0" b="0"/>
          <a:stretch/>
        </p:blipFill>
        <p:spPr>
          <a:xfrm>
            <a:off x="4333875" y="2052637"/>
            <a:ext cx="4710113" cy="2028825"/>
          </a:xfrm>
          <a:prstGeom prst="rect">
            <a:avLst/>
          </a:prstGeom>
        </p:spPr>
      </p:pic>
      <p:sp>
        <p:nvSpPr>
          <p:cNvPr id="14" name="Text 5"/>
          <p:cNvSpPr/>
          <p:nvPr/>
        </p:nvSpPr>
        <p:spPr>
          <a:xfrm>
            <a:off x="6453188" y="4662488"/>
            <a:ext cx="2690813" cy="314325"/>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390525" y="1662113"/>
            <a:ext cx="1624013" cy="1000125"/>
          </a:xfrm>
          <a:prstGeom prst="rect">
            <a:avLst/>
          </a:prstGeom>
          <a:noFill/>
          <a:ln/>
        </p:spPr>
        <p:txBody>
          <a:bodyPr wrap="square" lIns="0" tIns="0" rIns="0" bIns="0" rtlCol="0" anchor="t"/>
          <a:lstStyle/>
          <a:p>
            <a:pPr algn="ctr" indent="0" marL="0">
              <a:lnSpc>
                <a:spcPts val="2508"/>
              </a:lnSpc>
              <a:buNone/>
            </a:pPr>
            <a:r>
              <a:rPr lang="en-US" sz="2280" spc="-50" kern="0" dirty="0">
                <a:solidFill>
                  <a:srgbClr val="000000">
                    <a:alpha val="99000"/>
                  </a:srgbClr>
                </a:solidFill>
                <a:latin typeface="Plus Jakarta Sans" pitchFamily="34" charset="0"/>
                <a:ea typeface="Plus Jakarta Sans" pitchFamily="34" charset="-122"/>
                <a:cs typeface="Plus Jakarta Sans" pitchFamily="34" charset="-120"/>
              </a:rPr>
              <a:t>Visuals of the Artifact</a:t>
            </a:r>
            <a:endParaRPr lang="en-US" sz="2280" dirty="0"/>
          </a:p>
          <a:p>
            <a:pPr algn="ctr" indent="0" marL="0">
              <a:lnSpc>
                <a:spcPts val="2508"/>
              </a:lnSpc>
              <a:buNone/>
            </a:pPr>
            <a:r>
              <a:rPr lang="en-US" sz="2280" spc="-50" kern="0" dirty="0">
                <a:solidFill>
                  <a:srgbClr val="000000">
                    <a:alpha val="99000"/>
                  </a:srgbClr>
                </a:solidFill>
                <a:latin typeface="Plus Jakarta Sans" pitchFamily="34" charset="0"/>
                <a:ea typeface="Plus Jakarta Sans" pitchFamily="34" charset="-122"/>
                <a:cs typeface="Plus Jakarta Sans" pitchFamily="34" charset="-120"/>
              </a:rPr>
              <a:t>(XOSC File)</a:t>
            </a:r>
            <a:endParaRPr lang="en-US" sz="2280" dirty="0"/>
          </a:p>
        </p:txBody>
      </p:sp>
      <p:sp>
        <p:nvSpPr>
          <p:cNvPr id="3" name="Text 1"/>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29</a:t>
            </a:r>
            <a:endParaRPr lang="en-US" sz="855" dirty="0"/>
          </a:p>
        </p:txBody>
      </p:sp>
      <p:sp>
        <p:nvSpPr>
          <p:cNvPr id="4" name="Text 2"/>
          <p:cNvSpPr/>
          <p:nvPr/>
        </p:nvSpPr>
        <p:spPr>
          <a:xfrm>
            <a:off x="3409950" y="190500"/>
            <a:ext cx="5091113" cy="57150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Once the engineer is happy with their prompt, they can export the XOSC file to Esmini</a:t>
            </a:r>
            <a:endParaRPr lang="en-US" sz="1425" dirty="0"/>
          </a:p>
        </p:txBody>
      </p:sp>
      <p:pic>
        <p:nvPicPr>
          <p:cNvPr id="5" name="Image 0" descr="preencoded.png">    </p:cNvPr>
          <p:cNvPicPr>
            <a:picLocks noChangeAspect="1"/>
          </p:cNvPicPr>
          <p:nvPr/>
        </p:nvPicPr>
        <p:blipFill>
          <a:blip r:embed="rId1"/>
          <a:srcRect l="0" r="0" t="0" b="0"/>
          <a:stretch/>
        </p:blipFill>
        <p:spPr>
          <a:xfrm>
            <a:off x="3514725" y="800100"/>
            <a:ext cx="4819650" cy="4262438"/>
          </a:xfrm>
          <a:prstGeom prst="rect">
            <a:avLst/>
          </a:prstGeom>
        </p:spPr>
      </p:pic>
      <p:sp>
        <p:nvSpPr>
          <p:cNvPr id="6" name="Text 3"/>
          <p:cNvSpPr/>
          <p:nvPr/>
        </p:nvSpPr>
        <p:spPr>
          <a:xfrm>
            <a:off x="128588" y="4681538"/>
            <a:ext cx="2690813" cy="314325"/>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6676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Core Mechanics</a:t>
            </a:r>
            <a:endParaRPr lang="en-US" sz="2494" dirty="0"/>
          </a:p>
        </p:txBody>
      </p:sp>
      <p:sp>
        <p:nvSpPr>
          <p:cNvPr id="3" name="Shape 1"/>
          <p:cNvSpPr/>
          <p:nvPr/>
        </p:nvSpPr>
        <p:spPr>
          <a:xfrm>
            <a:off x="647700" y="1162050"/>
            <a:ext cx="7667625" cy="3524250"/>
          </a:xfrm>
          <a:prstGeom prst="roundRect">
            <a:avLst>
              <a:gd name="adj" fmla="val 4151"/>
            </a:avLst>
          </a:prstGeom>
          <a:solidFill>
            <a:srgbClr val="FFFFFF"/>
          </a:solidFill>
          <a:ln/>
        </p:spPr>
      </p:sp>
      <p:sp>
        <p:nvSpPr>
          <p:cNvPr id="4" name="Text 2"/>
          <p:cNvSpPr/>
          <p:nvPr/>
        </p:nvSpPr>
        <p:spPr>
          <a:xfrm>
            <a:off x="1457325" y="2281238"/>
            <a:ext cx="6229350" cy="16002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Instead of the engineers writing freeform prompts, the interface decomposes the scenario into discrete components — road type, weather, NPC type, NPC behavior, ego response, and time of day. </a:t>
            </a:r>
            <a:endParaRPr lang="en-US" sz="1425" dirty="0"/>
          </a:p>
          <a:p>
            <a:pPr algn="l" indent="0" marL="0">
              <a:lnSpc>
                <a:spcPts val="1710"/>
              </a:lnSpc>
              <a:buNone/>
            </a:pPr>
            <a:r>
              <a:rPr lang="en-US" sz="1425" b="1" i="1" spc="-31" kern="0" dirty="0">
                <a:solidFill>
                  <a:srgbClr val="000000">
                    <a:alpha val="99000"/>
                  </a:srgbClr>
                </a:solidFill>
                <a:latin typeface="Inter" pitchFamily="34" charset="0"/>
                <a:ea typeface="Inter" pitchFamily="34" charset="-122"/>
                <a:cs typeface="Inter" pitchFamily="34" charset="-120"/>
              </a:rPr>
              <a:t>Text2Scenario (2025)</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found that decomposing complex traffic scenarios into components before passing them to an LLM significantly improved output quality and consistency. [5]</a:t>
            </a:r>
            <a:endParaRPr lang="en-US" sz="1425" dirty="0"/>
          </a:p>
        </p:txBody>
      </p:sp>
      <p:sp>
        <p:nvSpPr>
          <p:cNvPr id="5" name="Text 3"/>
          <p:cNvSpPr/>
          <p:nvPr/>
        </p:nvSpPr>
        <p:spPr>
          <a:xfrm>
            <a:off x="1457325" y="1509713"/>
            <a:ext cx="636746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1. Structured prompt decomposition (guided builder fields)</a:t>
            </a:r>
            <a:endParaRPr lang="en-US" sz="1425" dirty="0"/>
          </a:p>
        </p:txBody>
      </p:sp>
      <p:sp>
        <p:nvSpPr>
          <p:cNvPr id="6"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30</a:t>
            </a:r>
            <a:endParaRPr lang="en-US" sz="85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6676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Core Mechanics</a:t>
            </a:r>
            <a:endParaRPr lang="en-US" sz="2494" dirty="0"/>
          </a:p>
        </p:txBody>
      </p:sp>
      <p:sp>
        <p:nvSpPr>
          <p:cNvPr id="3" name="Shape 1"/>
          <p:cNvSpPr/>
          <p:nvPr/>
        </p:nvSpPr>
        <p:spPr>
          <a:xfrm>
            <a:off x="647700" y="1162050"/>
            <a:ext cx="7667625" cy="3524250"/>
          </a:xfrm>
          <a:prstGeom prst="roundRect">
            <a:avLst>
              <a:gd name="adj" fmla="val 4151"/>
            </a:avLst>
          </a:prstGeom>
          <a:solidFill>
            <a:srgbClr val="FFFFFF"/>
          </a:solidFill>
          <a:ln/>
        </p:spPr>
      </p:sp>
      <p:sp>
        <p:nvSpPr>
          <p:cNvPr id="4" name="Text 2"/>
          <p:cNvSpPr/>
          <p:nvPr/>
        </p:nvSpPr>
        <p:spPr>
          <a:xfrm>
            <a:off x="1457325" y="2052637"/>
            <a:ext cx="6229350" cy="18288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The auto-generated prompt preview updates in real time as the engineer fills in fields, giving them a readable natural language sentence before anything is sent to the LLM. </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The </a:t>
            </a:r>
            <a:pPr algn="l" indent="0" marL="0">
              <a:lnSpc>
                <a:spcPts val="1710"/>
              </a:lnSpc>
              <a:buNone/>
            </a:pPr>
            <a:r>
              <a:rPr lang="en-US" sz="1425" b="1" i="1" spc="-31" kern="0" dirty="0">
                <a:solidFill>
                  <a:srgbClr val="000000">
                    <a:alpha val="99000"/>
                  </a:srgbClr>
                </a:solidFill>
                <a:latin typeface="Inter" pitchFamily="34" charset="0"/>
                <a:ea typeface="Inter" pitchFamily="34" charset="-122"/>
                <a:cs typeface="Inter" pitchFamily="34" charset="-120"/>
              </a:rPr>
              <a:t>CHI 2025 "Prototyping with Prompts"</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paper identified limited model interpretability as a key frustration for professionals working with LLMs in teams. Live preview directly addresses this by making the prompt transparent and legible before submission. [3]</a:t>
            </a:r>
            <a:endParaRPr lang="en-US" sz="1425" dirty="0"/>
          </a:p>
        </p:txBody>
      </p:sp>
      <p:sp>
        <p:nvSpPr>
          <p:cNvPr id="5" name="Text 3"/>
          <p:cNvSpPr/>
          <p:nvPr/>
        </p:nvSpPr>
        <p:spPr>
          <a:xfrm>
            <a:off x="1457325" y="1509713"/>
            <a:ext cx="6367463" cy="285750"/>
          </a:xfrm>
          <a:prstGeom prst="rect">
            <a:avLst/>
          </a:prstGeom>
          <a:noFill/>
          <a:ln/>
        </p:spPr>
        <p:txBody>
          <a:bodyPr wrap="square" lIns="0" tIns="0" rIns="0" bIns="0" rtlCol="0" anchor="t"/>
          <a:lstStyle/>
          <a:p>
            <a:pPr algn="ctr" marL="342900" indent="-342900">
              <a:lnSpc>
                <a:spcPts val="2138"/>
              </a:lnSpc>
              <a:buSzPct val="100000"/>
              <a:buFont typeface="+mj-lt"/>
              <a:buAutoNum type="arabicPeriod" startAt="1"/>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Live preview as immediate feedback</a:t>
            </a:r>
            <a:endParaRPr lang="en-US" sz="1425" dirty="0"/>
          </a:p>
        </p:txBody>
      </p:sp>
      <p:sp>
        <p:nvSpPr>
          <p:cNvPr id="6"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31</a:t>
            </a:r>
            <a:endParaRPr lang="en-US" sz="85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6676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Core Mechanics</a:t>
            </a:r>
            <a:endParaRPr lang="en-US" sz="2494" dirty="0"/>
          </a:p>
        </p:txBody>
      </p:sp>
      <p:sp>
        <p:nvSpPr>
          <p:cNvPr id="3" name="Shape 1"/>
          <p:cNvSpPr/>
          <p:nvPr/>
        </p:nvSpPr>
        <p:spPr>
          <a:xfrm>
            <a:off x="647700" y="1162050"/>
            <a:ext cx="7667625" cy="3524250"/>
          </a:xfrm>
          <a:prstGeom prst="roundRect">
            <a:avLst>
              <a:gd name="adj" fmla="val 4151"/>
            </a:avLst>
          </a:prstGeom>
          <a:solidFill>
            <a:srgbClr val="FFFFFF"/>
          </a:solidFill>
          <a:ln/>
        </p:spPr>
      </p:sp>
      <p:sp>
        <p:nvSpPr>
          <p:cNvPr id="4" name="Text 2"/>
          <p:cNvSpPr/>
          <p:nvPr/>
        </p:nvSpPr>
        <p:spPr>
          <a:xfrm>
            <a:off x="1457325" y="2124075"/>
            <a:ext cx="6229350" cy="16002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The Esmini readiness checklist (the six ticked/unticked items) is a nudge that draws attention to missing elements without blocking the user. The completeness progress bar reinforces this. </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The </a:t>
            </a:r>
            <a:pPr algn="l" indent="0" marL="0">
              <a:lnSpc>
                <a:spcPts val="1710"/>
              </a:lnSpc>
              <a:buNone/>
            </a:pPr>
            <a:r>
              <a:rPr lang="en-US" sz="1425" b="1" i="1" spc="-31" kern="0" dirty="0">
                <a:solidFill>
                  <a:srgbClr val="000000">
                    <a:alpha val="99000"/>
                  </a:srgbClr>
                </a:solidFill>
                <a:latin typeface="Inter" pitchFamily="34" charset="0"/>
                <a:ea typeface="Inter" pitchFamily="34" charset="-122"/>
                <a:cs typeface="Inter" pitchFamily="34" charset="-120"/>
              </a:rPr>
              <a:t>"Prompt-with-Me" (2025)</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paper showed that structured prompt management with explicit taxonomies reduces repetitive effort and improves prompt quality. [4]</a:t>
            </a:r>
            <a:endParaRPr lang="en-US" sz="1425" dirty="0"/>
          </a:p>
        </p:txBody>
      </p:sp>
      <p:sp>
        <p:nvSpPr>
          <p:cNvPr id="5" name="Text 3"/>
          <p:cNvSpPr/>
          <p:nvPr/>
        </p:nvSpPr>
        <p:spPr>
          <a:xfrm>
            <a:off x="1457325" y="1509713"/>
            <a:ext cx="6367463" cy="285750"/>
          </a:xfrm>
          <a:prstGeom prst="rect">
            <a:avLst/>
          </a:prstGeom>
          <a:noFill/>
          <a:ln/>
        </p:spPr>
        <p:txBody>
          <a:bodyPr wrap="square" lIns="0" tIns="0" rIns="0" bIns="0" rtlCol="0" anchor="t"/>
          <a:lstStyle/>
          <a:p>
            <a:pPr algn="ctr" marL="342900" indent="-342900">
              <a:lnSpc>
                <a:spcPts val="2138"/>
              </a:lnSpc>
              <a:buSzPct val="100000"/>
              <a:buFont typeface="+mj-lt"/>
              <a:buAutoNum type="arabicPeriod" startAt="1"/>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Readiness checklist as a nudging strategy</a:t>
            </a:r>
            <a:endParaRPr lang="en-US" sz="1425" dirty="0"/>
          </a:p>
        </p:txBody>
      </p:sp>
      <p:sp>
        <p:nvSpPr>
          <p:cNvPr id="6"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32</a:t>
            </a:r>
            <a:endParaRPr lang="en-US" sz="85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6676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Core Mechanics</a:t>
            </a:r>
            <a:endParaRPr lang="en-US" sz="2494" dirty="0"/>
          </a:p>
        </p:txBody>
      </p:sp>
      <p:sp>
        <p:nvSpPr>
          <p:cNvPr id="3" name="Shape 1"/>
          <p:cNvSpPr/>
          <p:nvPr/>
        </p:nvSpPr>
        <p:spPr>
          <a:xfrm>
            <a:off x="647700" y="1162050"/>
            <a:ext cx="7667625" cy="3524250"/>
          </a:xfrm>
          <a:prstGeom prst="roundRect">
            <a:avLst>
              <a:gd name="adj" fmla="val 4151"/>
            </a:avLst>
          </a:prstGeom>
          <a:solidFill>
            <a:srgbClr val="FFFFFF"/>
          </a:solidFill>
          <a:ln/>
        </p:spPr>
      </p:sp>
      <p:sp>
        <p:nvSpPr>
          <p:cNvPr id="4" name="Text 2"/>
          <p:cNvSpPr/>
          <p:nvPr/>
        </p:nvSpPr>
        <p:spPr>
          <a:xfrm>
            <a:off x="1457325" y="2124075"/>
            <a:ext cx="6229350" cy="18288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When Esmini validation fails, the interface automatically re-routes to the LLM for a refinement pass rather than surfacing a raw error to the engineer. </a:t>
            </a:r>
            <a:endParaRPr lang="en-US" sz="1425" dirty="0"/>
          </a:p>
          <a:p>
            <a:pPr algn="l" indent="0" marL="0">
              <a:lnSpc>
                <a:spcPts val="1710"/>
              </a:lnSpc>
              <a:buNone/>
            </a:pPr>
            <a:r>
              <a:rPr lang="en-US" sz="1425" b="1" i="1" spc="-31" kern="0" dirty="0">
                <a:solidFill>
                  <a:srgbClr val="000000">
                    <a:alpha val="99000"/>
                  </a:srgbClr>
                </a:solidFill>
                <a:latin typeface="Inter" pitchFamily="34" charset="0"/>
                <a:ea typeface="Inter" pitchFamily="34" charset="-122"/>
                <a:cs typeface="Inter" pitchFamily="34" charset="-120"/>
              </a:rPr>
              <a:t>OmniTester (2024)</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validated this closed-loop pattern as a central architectural strategy. It introduced a self-improvement mechanism specifically to reduce hallucination and improve scenario quality without requiring manual intervention from the user. [2]</a:t>
            </a:r>
            <a:endParaRPr lang="en-US" sz="1425" dirty="0"/>
          </a:p>
        </p:txBody>
      </p:sp>
      <p:sp>
        <p:nvSpPr>
          <p:cNvPr id="5" name="Text 3"/>
          <p:cNvSpPr/>
          <p:nvPr/>
        </p:nvSpPr>
        <p:spPr>
          <a:xfrm>
            <a:off x="1457325" y="1509713"/>
            <a:ext cx="636746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4. Closed-loop validation with auto-refinement</a:t>
            </a:r>
            <a:endParaRPr lang="en-US" sz="1425" dirty="0"/>
          </a:p>
        </p:txBody>
      </p:sp>
      <p:sp>
        <p:nvSpPr>
          <p:cNvPr id="6"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33</a:t>
            </a:r>
            <a:endParaRPr lang="en-US" sz="85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6676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Core Mechanics</a:t>
            </a:r>
            <a:endParaRPr lang="en-US" sz="2494" dirty="0"/>
          </a:p>
        </p:txBody>
      </p:sp>
      <p:sp>
        <p:nvSpPr>
          <p:cNvPr id="3" name="Shape 1"/>
          <p:cNvSpPr/>
          <p:nvPr/>
        </p:nvSpPr>
        <p:spPr>
          <a:xfrm>
            <a:off x="647700" y="1162050"/>
            <a:ext cx="7667625" cy="3524250"/>
          </a:xfrm>
          <a:prstGeom prst="roundRect">
            <a:avLst>
              <a:gd name="adj" fmla="val 4151"/>
            </a:avLst>
          </a:prstGeom>
          <a:solidFill>
            <a:srgbClr val="FFFFFF"/>
          </a:solidFill>
          <a:ln/>
        </p:spPr>
      </p:sp>
      <p:sp>
        <p:nvSpPr>
          <p:cNvPr id="4" name="Text 2"/>
          <p:cNvSpPr/>
          <p:nvPr/>
        </p:nvSpPr>
        <p:spPr>
          <a:xfrm>
            <a:off x="1457325" y="2124075"/>
            <a:ext cx="6367463" cy="2286000"/>
          </a:xfrm>
          <a:prstGeom prst="rect">
            <a:avLst/>
          </a:prstGeom>
          <a:noFill/>
          <a:ln/>
        </p:spPr>
        <p:txBody>
          <a:bodyPr wrap="square" lIns="0" tIns="0" rIns="0" bIns="0" rtlCol="0" anchor="t"/>
          <a:lstStyle/>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Making each pipeline step (parsing → generation → validation → refinement → export) visible to the user is a trust-building feedback modality. </a:t>
            </a:r>
            <a:endParaRPr lang="en-US" sz="1425" dirty="0"/>
          </a:p>
          <a:p>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The </a:t>
            </a:r>
            <a:pPr algn="l" indent="0" marL="0">
              <a:lnSpc>
                <a:spcPts val="1710"/>
              </a:lnSpc>
              <a:buNone/>
            </a:pPr>
            <a:r>
              <a:rPr lang="en-US" sz="1425" b="1" i="1" spc="-31" kern="0" dirty="0">
                <a:solidFill>
                  <a:srgbClr val="000000">
                    <a:alpha val="99000"/>
                  </a:srgbClr>
                </a:solidFill>
                <a:latin typeface="Inter" pitchFamily="34" charset="0"/>
                <a:ea typeface="Inter" pitchFamily="34" charset="-122"/>
                <a:cs typeface="Inter" pitchFamily="34" charset="-120"/>
              </a:rPr>
              <a:t>2025 AV Testing Survey</a:t>
            </a:r>
            <a:pPr algn="l" indent="0" marL="0">
              <a:lnSpc>
                <a:spcPts val="1710"/>
              </a:lnSpc>
              <a:buNone/>
            </a:pPr>
            <a:r>
              <a:rPr lang="en-US" sz="1425" spc="-31" kern="0" dirty="0">
                <a:solidFill>
                  <a:srgbClr val="000000">
                    <a:alpha val="99000"/>
                  </a:srgbClr>
                </a:solidFill>
                <a:latin typeface="Inter" pitchFamily="34" charset="0"/>
                <a:ea typeface="Inter" pitchFamily="34" charset="-122"/>
                <a:cs typeface="Inter" pitchFamily="34" charset="-120"/>
              </a:rPr>
              <a:t> notes that LLMs are used to translate natural language into structured information for downstream generation — making that translation visible step-by-step helps engineers understand where in the loop a failure occurred, which is especially important for the system engineers our tool targets who need auditability. [1]</a:t>
            </a:r>
            <a:endParaRPr lang="en-US" sz="1425" dirty="0"/>
          </a:p>
        </p:txBody>
      </p:sp>
      <p:sp>
        <p:nvSpPr>
          <p:cNvPr id="5" name="Text 3"/>
          <p:cNvSpPr/>
          <p:nvPr/>
        </p:nvSpPr>
        <p:spPr>
          <a:xfrm>
            <a:off x="1457325" y="1509713"/>
            <a:ext cx="636746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534AB7">
                    <a:alpha val="99000"/>
                  </a:srgbClr>
                </a:solidFill>
                <a:latin typeface="Plus Jakarta Sans" pitchFamily="34" charset="0"/>
                <a:ea typeface="Plus Jakarta Sans" pitchFamily="34" charset="-122"/>
                <a:cs typeface="Plus Jakarta Sans" pitchFamily="34" charset="-120"/>
              </a:rPr>
              <a:t>5. Pipeline status transparency</a:t>
            </a:r>
            <a:endParaRPr lang="en-US" sz="1425" dirty="0"/>
          </a:p>
        </p:txBody>
      </p:sp>
      <p:sp>
        <p:nvSpPr>
          <p:cNvPr id="6" name="Text 4"/>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34</a:t>
            </a:r>
            <a:endParaRPr lang="en-US" sz="85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1924050" y="490538"/>
            <a:ext cx="5291138"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Mapping to Efficiency Hypothesis</a:t>
            </a:r>
            <a:endParaRPr lang="en-US" sz="2494" dirty="0"/>
          </a:p>
        </p:txBody>
      </p:sp>
      <p:sp>
        <p:nvSpPr>
          <p:cNvPr id="4" name="Shape 2"/>
          <p:cNvSpPr/>
          <p:nvPr/>
        </p:nvSpPr>
        <p:spPr>
          <a:xfrm>
            <a:off x="300038" y="1171575"/>
            <a:ext cx="2533650" cy="2343150"/>
          </a:xfrm>
          <a:prstGeom prst="roundRect">
            <a:avLst/>
          </a:prstGeom>
          <a:solidFill>
            <a:srgbClr val="FFFFFF"/>
          </a:solidFill>
          <a:ln/>
        </p:spPr>
      </p:sp>
      <p:sp>
        <p:nvSpPr>
          <p:cNvPr id="5" name="Shape 3"/>
          <p:cNvSpPr/>
          <p:nvPr/>
        </p:nvSpPr>
        <p:spPr>
          <a:xfrm>
            <a:off x="300038" y="1171575"/>
            <a:ext cx="2533650" cy="2343150"/>
          </a:xfrm>
          <a:prstGeom prst="roundRect">
            <a:avLst/>
          </a:prstGeom>
          <a:solidFill>
            <a:srgbClr val="FFFFFF"/>
          </a:solidFill>
          <a:ln/>
        </p:spPr>
      </p:sp>
      <p:sp>
        <p:nvSpPr>
          <p:cNvPr id="6" name="Shape 4"/>
          <p:cNvSpPr/>
          <p:nvPr/>
        </p:nvSpPr>
        <p:spPr>
          <a:xfrm>
            <a:off x="300038" y="3729038"/>
            <a:ext cx="8181975" cy="1138238"/>
          </a:xfrm>
          <a:prstGeom prst="roundRect">
            <a:avLst/>
          </a:prstGeom>
          <a:solidFill>
            <a:srgbClr val="FFFFFF"/>
          </a:solidFill>
          <a:ln/>
        </p:spPr>
      </p:sp>
      <p:sp>
        <p:nvSpPr>
          <p:cNvPr id="7" name="Text 5"/>
          <p:cNvSpPr/>
          <p:nvPr/>
        </p:nvSpPr>
        <p:spPr>
          <a:xfrm>
            <a:off x="671513" y="1357313"/>
            <a:ext cx="1785938" cy="514350"/>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534AB7">
                    <a:alpha val="99000"/>
                  </a:srgbClr>
                </a:solidFill>
                <a:latin typeface="Inter" pitchFamily="34" charset="0"/>
                <a:ea typeface="Inter" pitchFamily="34" charset="-122"/>
                <a:cs typeface="Inter" pitchFamily="34" charset="-120"/>
              </a:rPr>
              <a:t>Structured Parameter </a:t>
            </a:r>
            <a:endParaRPr lang="en-US" sz="1283" dirty="0"/>
          </a:p>
          <a:p>
            <a:pPr algn="ctr" indent="0" marL="0">
              <a:lnSpc>
                <a:spcPts val="1924"/>
              </a:lnSpc>
              <a:buNone/>
            </a:pPr>
            <a:r>
              <a:rPr lang="en-US" sz="1283" b="1" spc="-28" kern="0" dirty="0">
                <a:solidFill>
                  <a:srgbClr val="534AB7">
                    <a:alpha val="99000"/>
                  </a:srgbClr>
                </a:solidFill>
                <a:latin typeface="Inter" pitchFamily="34" charset="0"/>
                <a:ea typeface="Inter" pitchFamily="34" charset="-122"/>
                <a:cs typeface="Inter" pitchFamily="34" charset="-120"/>
              </a:rPr>
              <a:t>Dropdowns</a:t>
            </a:r>
            <a:endParaRPr lang="en-US" sz="1283" dirty="0"/>
          </a:p>
        </p:txBody>
      </p:sp>
      <p:sp>
        <p:nvSpPr>
          <p:cNvPr id="8" name="Text 6"/>
          <p:cNvSpPr/>
          <p:nvPr/>
        </p:nvSpPr>
        <p:spPr>
          <a:xfrm>
            <a:off x="866775" y="4043363"/>
            <a:ext cx="1395413" cy="514350"/>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318EBC">
                    <a:alpha val="99000"/>
                  </a:srgbClr>
                </a:solidFill>
                <a:latin typeface="Inter" pitchFamily="34" charset="0"/>
                <a:ea typeface="Inter" pitchFamily="34" charset="-122"/>
                <a:cs typeface="Inter" pitchFamily="34" charset="-120"/>
              </a:rPr>
              <a:t>Auto-refinement </a:t>
            </a:r>
            <a:endParaRPr lang="en-US" sz="1283" dirty="0"/>
          </a:p>
          <a:p>
            <a:pPr algn="ctr" indent="0" marL="0">
              <a:lnSpc>
                <a:spcPts val="1924"/>
              </a:lnSpc>
              <a:buNone/>
            </a:pPr>
            <a:r>
              <a:rPr lang="en-US" sz="1283" b="1" spc="-28" kern="0" dirty="0">
                <a:solidFill>
                  <a:srgbClr val="318EBC">
                    <a:alpha val="99000"/>
                  </a:srgbClr>
                </a:solidFill>
                <a:latin typeface="Inter" pitchFamily="34" charset="0"/>
                <a:ea typeface="Inter" pitchFamily="34" charset="-122"/>
                <a:cs typeface="Inter" pitchFamily="34" charset="-120"/>
              </a:rPr>
              <a:t>Loop</a:t>
            </a:r>
            <a:endParaRPr lang="en-US" sz="1283" dirty="0"/>
          </a:p>
        </p:txBody>
      </p:sp>
      <p:sp>
        <p:nvSpPr>
          <p:cNvPr id="9" name="Text 7"/>
          <p:cNvSpPr/>
          <p:nvPr/>
        </p:nvSpPr>
        <p:spPr>
          <a:xfrm>
            <a:off x="481012" y="2014538"/>
            <a:ext cx="2166938" cy="13716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Eliminates the time spent deciding what information is required. Engineers select from predefined values instead of recalling and typing scenario parameters from scratch.</a:t>
            </a:r>
            <a:endParaRPr lang="en-US" sz="1140" dirty="0"/>
          </a:p>
        </p:txBody>
      </p:sp>
      <p:sp>
        <p:nvSpPr>
          <p:cNvPr id="10" name="Shape 8"/>
          <p:cNvSpPr/>
          <p:nvPr/>
        </p:nvSpPr>
        <p:spPr>
          <a:xfrm>
            <a:off x="3100388" y="1200150"/>
            <a:ext cx="2533650" cy="2314575"/>
          </a:xfrm>
          <a:prstGeom prst="roundRect">
            <a:avLst/>
          </a:prstGeom>
          <a:solidFill>
            <a:srgbClr val="FFFFFF"/>
          </a:solidFill>
          <a:ln/>
        </p:spPr>
      </p:sp>
      <p:sp>
        <p:nvSpPr>
          <p:cNvPr id="11" name="Shape 9"/>
          <p:cNvSpPr/>
          <p:nvPr/>
        </p:nvSpPr>
        <p:spPr>
          <a:xfrm>
            <a:off x="3100388" y="1200150"/>
            <a:ext cx="2533650" cy="2314575"/>
          </a:xfrm>
          <a:prstGeom prst="roundRect">
            <a:avLst/>
          </a:prstGeom>
          <a:solidFill>
            <a:srgbClr val="FFFFFF"/>
          </a:solidFill>
          <a:ln/>
        </p:spPr>
      </p:sp>
      <p:sp>
        <p:nvSpPr>
          <p:cNvPr id="12" name="Text 10"/>
          <p:cNvSpPr/>
          <p:nvPr/>
        </p:nvSpPr>
        <p:spPr>
          <a:xfrm>
            <a:off x="3614738" y="1409700"/>
            <a:ext cx="1495425" cy="257175"/>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095141">
                    <a:alpha val="99000"/>
                  </a:srgbClr>
                </a:solidFill>
                <a:latin typeface="Inter" pitchFamily="34" charset="0"/>
                <a:ea typeface="Inter" pitchFamily="34" charset="-122"/>
                <a:cs typeface="Inter" pitchFamily="34" charset="-120"/>
              </a:rPr>
              <a:t>Quick-insert chips</a:t>
            </a:r>
            <a:endParaRPr lang="en-US" sz="1283" dirty="0"/>
          </a:p>
        </p:txBody>
      </p:sp>
      <p:sp>
        <p:nvSpPr>
          <p:cNvPr id="13" name="Text 11"/>
          <p:cNvSpPr/>
          <p:nvPr/>
        </p:nvSpPr>
        <p:spPr>
          <a:xfrm>
            <a:off x="3281363" y="2171700"/>
            <a:ext cx="2166938" cy="11430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One-click insertion of common scenario modifiers removes the need to recall and type Esmini-compatible terminology, cutting time spent on phrasing.</a:t>
            </a:r>
            <a:endParaRPr lang="en-US" sz="1140" dirty="0"/>
          </a:p>
        </p:txBody>
      </p:sp>
      <p:sp>
        <p:nvSpPr>
          <p:cNvPr id="14" name="Text 12"/>
          <p:cNvSpPr/>
          <p:nvPr/>
        </p:nvSpPr>
        <p:spPr>
          <a:xfrm>
            <a:off x="3281363" y="3929063"/>
            <a:ext cx="4867275" cy="6858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Validation errors are patched by the LLM automatically rather than returned raw to the engineer, removing the time cost of manual error interpretation and re-prompting.</a:t>
            </a:r>
            <a:endParaRPr lang="en-US" sz="1140" dirty="0"/>
          </a:p>
        </p:txBody>
      </p:sp>
      <p:sp>
        <p:nvSpPr>
          <p:cNvPr id="15" name="Shape 13"/>
          <p:cNvSpPr/>
          <p:nvPr/>
        </p:nvSpPr>
        <p:spPr>
          <a:xfrm>
            <a:off x="5948363" y="1200150"/>
            <a:ext cx="2533650" cy="2314575"/>
          </a:xfrm>
          <a:prstGeom prst="roundRect">
            <a:avLst/>
          </a:prstGeom>
          <a:solidFill>
            <a:srgbClr val="FFFFFF"/>
          </a:solidFill>
          <a:ln/>
        </p:spPr>
      </p:sp>
      <p:sp>
        <p:nvSpPr>
          <p:cNvPr id="16" name="Text 14"/>
          <p:cNvSpPr/>
          <p:nvPr/>
        </p:nvSpPr>
        <p:spPr>
          <a:xfrm>
            <a:off x="6391275" y="1409700"/>
            <a:ext cx="1638300" cy="257175"/>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CCB128">
                    <a:alpha val="99000"/>
                  </a:srgbClr>
                </a:solidFill>
                <a:latin typeface="Inter" pitchFamily="34" charset="0"/>
                <a:ea typeface="Inter" pitchFamily="34" charset="-122"/>
                <a:cs typeface="Inter" pitchFamily="34" charset="-120"/>
              </a:rPr>
              <a:t>Live prompt preview</a:t>
            </a:r>
            <a:endParaRPr lang="en-US" sz="1283" dirty="0"/>
          </a:p>
        </p:txBody>
      </p:sp>
      <p:sp>
        <p:nvSpPr>
          <p:cNvPr id="17" name="Text 15"/>
          <p:cNvSpPr/>
          <p:nvPr/>
        </p:nvSpPr>
        <p:spPr>
          <a:xfrm>
            <a:off x="6129338" y="2171700"/>
            <a:ext cx="2166938" cy="11430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Engineers verify their intent before generating, reducing failed attempts and the iterations needed to reach a valid scenario.</a:t>
            </a:r>
            <a:endParaRPr lang="en-US" sz="1140" dirty="0"/>
          </a:p>
        </p:txBody>
      </p:sp>
      <p:sp>
        <p:nvSpPr>
          <p:cNvPr id="18" name="Text 16"/>
          <p:cNvSpPr/>
          <p:nvPr/>
        </p:nvSpPr>
        <p:spPr>
          <a:xfrm>
            <a:off x="8791575" y="475773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35</a:t>
            </a:r>
            <a:endParaRPr lang="en-US" sz="85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90488" y="490538"/>
            <a:ext cx="89630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Mapping to Quality Hypothesis</a:t>
            </a:r>
            <a:endParaRPr lang="en-US" sz="2494" dirty="0"/>
          </a:p>
        </p:txBody>
      </p:sp>
      <p:sp>
        <p:nvSpPr>
          <p:cNvPr id="4" name="Shape 2"/>
          <p:cNvSpPr/>
          <p:nvPr/>
        </p:nvSpPr>
        <p:spPr>
          <a:xfrm>
            <a:off x="300038" y="1171575"/>
            <a:ext cx="2533650" cy="2343150"/>
          </a:xfrm>
          <a:prstGeom prst="roundRect">
            <a:avLst/>
          </a:prstGeom>
          <a:solidFill>
            <a:srgbClr val="FFFFFF"/>
          </a:solidFill>
          <a:ln/>
        </p:spPr>
      </p:sp>
      <p:sp>
        <p:nvSpPr>
          <p:cNvPr id="5" name="Shape 3"/>
          <p:cNvSpPr/>
          <p:nvPr/>
        </p:nvSpPr>
        <p:spPr>
          <a:xfrm>
            <a:off x="300038" y="1171575"/>
            <a:ext cx="2533650" cy="2343150"/>
          </a:xfrm>
          <a:prstGeom prst="roundRect">
            <a:avLst/>
          </a:prstGeom>
          <a:solidFill>
            <a:srgbClr val="FFFFFF"/>
          </a:solidFill>
          <a:ln/>
        </p:spPr>
      </p:sp>
      <p:sp>
        <p:nvSpPr>
          <p:cNvPr id="6" name="Shape 4"/>
          <p:cNvSpPr/>
          <p:nvPr/>
        </p:nvSpPr>
        <p:spPr>
          <a:xfrm>
            <a:off x="300038" y="3729038"/>
            <a:ext cx="8181975" cy="1138238"/>
          </a:xfrm>
          <a:prstGeom prst="roundRect">
            <a:avLst/>
          </a:prstGeom>
          <a:solidFill>
            <a:srgbClr val="FFFFFF"/>
          </a:solidFill>
          <a:ln/>
        </p:spPr>
      </p:sp>
      <p:sp>
        <p:nvSpPr>
          <p:cNvPr id="7" name="Text 5"/>
          <p:cNvSpPr/>
          <p:nvPr/>
        </p:nvSpPr>
        <p:spPr>
          <a:xfrm>
            <a:off x="661988" y="1357313"/>
            <a:ext cx="1800225" cy="514350"/>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534AB7">
                    <a:alpha val="99000"/>
                  </a:srgbClr>
                </a:solidFill>
                <a:latin typeface="Inter" pitchFamily="34" charset="0"/>
                <a:ea typeface="Inter" pitchFamily="34" charset="-122"/>
                <a:cs typeface="Inter" pitchFamily="34" charset="-120"/>
              </a:rPr>
              <a:t>Predefined parameter </a:t>
            </a:r>
            <a:endParaRPr lang="en-US" sz="1283" dirty="0"/>
          </a:p>
          <a:p>
            <a:pPr algn="ctr" indent="0" marL="0">
              <a:lnSpc>
                <a:spcPts val="1924"/>
              </a:lnSpc>
              <a:buNone/>
            </a:pPr>
            <a:r>
              <a:rPr lang="en-US" sz="1283" b="1" spc="-28" kern="0" dirty="0">
                <a:solidFill>
                  <a:srgbClr val="534AB7">
                    <a:alpha val="99000"/>
                  </a:srgbClr>
                </a:solidFill>
                <a:latin typeface="Inter" pitchFamily="34" charset="0"/>
                <a:ea typeface="Inter" pitchFamily="34" charset="-122"/>
                <a:cs typeface="Inter" pitchFamily="34" charset="-120"/>
              </a:rPr>
              <a:t>dropdowns</a:t>
            </a:r>
            <a:endParaRPr lang="en-US" sz="1283" dirty="0"/>
          </a:p>
        </p:txBody>
      </p:sp>
      <p:sp>
        <p:nvSpPr>
          <p:cNvPr id="8" name="Text 6"/>
          <p:cNvSpPr/>
          <p:nvPr/>
        </p:nvSpPr>
        <p:spPr>
          <a:xfrm>
            <a:off x="866775" y="4043363"/>
            <a:ext cx="1395413" cy="514350"/>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318EBC">
                    <a:alpha val="99000"/>
                  </a:srgbClr>
                </a:solidFill>
                <a:latin typeface="Inter" pitchFamily="34" charset="0"/>
                <a:ea typeface="Inter" pitchFamily="34" charset="-122"/>
                <a:cs typeface="Inter" pitchFamily="34" charset="-120"/>
              </a:rPr>
              <a:t>Auto-refinement </a:t>
            </a:r>
            <a:endParaRPr lang="en-US" sz="1283" dirty="0"/>
          </a:p>
          <a:p>
            <a:pPr algn="ctr" indent="0" marL="0">
              <a:lnSpc>
                <a:spcPts val="1924"/>
              </a:lnSpc>
              <a:buNone/>
            </a:pPr>
            <a:r>
              <a:rPr lang="en-US" sz="1283" b="1" spc="-28" kern="0" dirty="0">
                <a:solidFill>
                  <a:srgbClr val="318EBC">
                    <a:alpha val="99000"/>
                  </a:srgbClr>
                </a:solidFill>
                <a:latin typeface="Inter" pitchFamily="34" charset="0"/>
                <a:ea typeface="Inter" pitchFamily="34" charset="-122"/>
                <a:cs typeface="Inter" pitchFamily="34" charset="-120"/>
              </a:rPr>
              <a:t>Loop</a:t>
            </a:r>
            <a:endParaRPr lang="en-US" sz="1283" dirty="0"/>
          </a:p>
        </p:txBody>
      </p:sp>
      <p:sp>
        <p:nvSpPr>
          <p:cNvPr id="9" name="Text 7"/>
          <p:cNvSpPr/>
          <p:nvPr/>
        </p:nvSpPr>
        <p:spPr>
          <a:xfrm>
            <a:off x="481012" y="2171700"/>
            <a:ext cx="2166938" cy="6858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Constrains ego speed, lane count, and traffic density to a curated set of realistic values. </a:t>
            </a:r>
            <a:endParaRPr lang="en-US" sz="1140" dirty="0"/>
          </a:p>
        </p:txBody>
      </p:sp>
      <p:sp>
        <p:nvSpPr>
          <p:cNvPr id="10" name="Shape 8"/>
          <p:cNvSpPr/>
          <p:nvPr/>
        </p:nvSpPr>
        <p:spPr>
          <a:xfrm>
            <a:off x="3100388" y="1200150"/>
            <a:ext cx="2533650" cy="2314575"/>
          </a:xfrm>
          <a:prstGeom prst="roundRect">
            <a:avLst/>
          </a:prstGeom>
          <a:solidFill>
            <a:srgbClr val="FFFFFF"/>
          </a:solidFill>
          <a:ln/>
        </p:spPr>
      </p:sp>
      <p:sp>
        <p:nvSpPr>
          <p:cNvPr id="11" name="Shape 9"/>
          <p:cNvSpPr/>
          <p:nvPr/>
        </p:nvSpPr>
        <p:spPr>
          <a:xfrm>
            <a:off x="3100388" y="1200150"/>
            <a:ext cx="2533650" cy="2314575"/>
          </a:xfrm>
          <a:prstGeom prst="roundRect">
            <a:avLst/>
          </a:prstGeom>
          <a:solidFill>
            <a:srgbClr val="FFFFFF"/>
          </a:solidFill>
          <a:ln/>
        </p:spPr>
      </p:sp>
      <p:sp>
        <p:nvSpPr>
          <p:cNvPr id="12" name="Text 10"/>
          <p:cNvSpPr/>
          <p:nvPr/>
        </p:nvSpPr>
        <p:spPr>
          <a:xfrm>
            <a:off x="3686175" y="1409700"/>
            <a:ext cx="1357313" cy="514350"/>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095141">
                    <a:alpha val="99000"/>
                  </a:srgbClr>
                </a:solidFill>
                <a:latin typeface="Inter" pitchFamily="34" charset="0"/>
                <a:ea typeface="Inter" pitchFamily="34" charset="-122"/>
                <a:cs typeface="Inter" pitchFamily="34" charset="-120"/>
              </a:rPr>
              <a:t>Guided scenario </a:t>
            </a:r>
            <a:endParaRPr lang="en-US" sz="1283" dirty="0"/>
          </a:p>
          <a:p>
            <a:pPr algn="ctr" indent="0" marL="0">
              <a:lnSpc>
                <a:spcPts val="1924"/>
              </a:lnSpc>
              <a:buNone/>
            </a:pPr>
            <a:r>
              <a:rPr lang="en-US" sz="1283" b="1" spc="-28" kern="0" dirty="0">
                <a:solidFill>
                  <a:srgbClr val="095141">
                    <a:alpha val="99000"/>
                  </a:srgbClr>
                </a:solidFill>
                <a:latin typeface="Inter" pitchFamily="34" charset="0"/>
                <a:ea typeface="Inter" pitchFamily="34" charset="-122"/>
                <a:cs typeface="Inter" pitchFamily="34" charset="-120"/>
              </a:rPr>
              <a:t>builder fields</a:t>
            </a:r>
            <a:endParaRPr lang="en-US" sz="1283" dirty="0"/>
          </a:p>
        </p:txBody>
      </p:sp>
      <p:sp>
        <p:nvSpPr>
          <p:cNvPr id="13" name="Text 11"/>
          <p:cNvSpPr/>
          <p:nvPr/>
        </p:nvSpPr>
        <p:spPr>
          <a:xfrm>
            <a:off x="3281363" y="2171700"/>
            <a:ext cx="2166938" cy="11430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Separates road type, NPC type, NPC behaviour, and ego response into distinct fields with contextually appropriate options. </a:t>
            </a:r>
            <a:endParaRPr lang="en-US" sz="1140" dirty="0"/>
          </a:p>
        </p:txBody>
      </p:sp>
      <p:sp>
        <p:nvSpPr>
          <p:cNvPr id="14" name="Text 12"/>
          <p:cNvSpPr/>
          <p:nvPr/>
        </p:nvSpPr>
        <p:spPr>
          <a:xfrm>
            <a:off x="3281363" y="3862387"/>
            <a:ext cx="4867275" cy="9144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When Esmini flags a logical inconsistency, the LLM patches it automatically. This catches semantic issues that pass the structured fields but fail at simulation — e.g. overlapping actor trajectories at high density.</a:t>
            </a:r>
            <a:endParaRPr lang="en-US" sz="1140" dirty="0"/>
          </a:p>
        </p:txBody>
      </p:sp>
      <p:sp>
        <p:nvSpPr>
          <p:cNvPr id="15" name="Shape 13"/>
          <p:cNvSpPr/>
          <p:nvPr/>
        </p:nvSpPr>
        <p:spPr>
          <a:xfrm>
            <a:off x="5948363" y="1200150"/>
            <a:ext cx="2533650" cy="2314575"/>
          </a:xfrm>
          <a:prstGeom prst="roundRect">
            <a:avLst/>
          </a:prstGeom>
          <a:solidFill>
            <a:srgbClr val="FFFFFF"/>
          </a:solidFill>
          <a:ln/>
        </p:spPr>
      </p:sp>
      <p:sp>
        <p:nvSpPr>
          <p:cNvPr id="16" name="Text 14"/>
          <p:cNvSpPr/>
          <p:nvPr/>
        </p:nvSpPr>
        <p:spPr>
          <a:xfrm>
            <a:off x="6391275" y="1409700"/>
            <a:ext cx="1638300" cy="257175"/>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CCB128">
                    <a:alpha val="99000"/>
                  </a:srgbClr>
                </a:solidFill>
                <a:latin typeface="Inter" pitchFamily="34" charset="0"/>
                <a:ea typeface="Inter" pitchFamily="34" charset="-122"/>
                <a:cs typeface="Inter" pitchFamily="34" charset="-120"/>
              </a:rPr>
              <a:t>Live prompt preview</a:t>
            </a:r>
            <a:endParaRPr lang="en-US" sz="1283" dirty="0"/>
          </a:p>
        </p:txBody>
      </p:sp>
      <p:sp>
        <p:nvSpPr>
          <p:cNvPr id="17" name="Text 15"/>
          <p:cNvSpPr/>
          <p:nvPr/>
        </p:nvSpPr>
        <p:spPr>
          <a:xfrm>
            <a:off x="6129338" y="2019300"/>
            <a:ext cx="2166938" cy="13716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Assembles the scenario into a readable sentence before generation, allowing engineers to spot semantic contradictions  — before the LLM processes it.</a:t>
            </a:r>
            <a:endParaRPr lang="en-US" sz="1140" dirty="0"/>
          </a:p>
        </p:txBody>
      </p:sp>
      <p:sp>
        <p:nvSpPr>
          <p:cNvPr id="18" name="Text 16"/>
          <p:cNvSpPr/>
          <p:nvPr/>
        </p:nvSpPr>
        <p:spPr>
          <a:xfrm>
            <a:off x="8791575" y="475773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36</a:t>
            </a:r>
            <a:endParaRPr lang="en-US" sz="85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90488" y="490538"/>
            <a:ext cx="896302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Mapping to Trust Hypothesis</a:t>
            </a:r>
            <a:endParaRPr lang="en-US" sz="2494" dirty="0"/>
          </a:p>
        </p:txBody>
      </p:sp>
      <p:sp>
        <p:nvSpPr>
          <p:cNvPr id="4" name="Shape 2"/>
          <p:cNvSpPr/>
          <p:nvPr/>
        </p:nvSpPr>
        <p:spPr>
          <a:xfrm>
            <a:off x="300038" y="1171575"/>
            <a:ext cx="2533650" cy="2343150"/>
          </a:xfrm>
          <a:prstGeom prst="roundRect">
            <a:avLst/>
          </a:prstGeom>
          <a:solidFill>
            <a:srgbClr val="FFFFFF"/>
          </a:solidFill>
          <a:ln/>
        </p:spPr>
      </p:sp>
      <p:sp>
        <p:nvSpPr>
          <p:cNvPr id="5" name="Shape 3"/>
          <p:cNvSpPr/>
          <p:nvPr/>
        </p:nvSpPr>
        <p:spPr>
          <a:xfrm>
            <a:off x="300038" y="1171575"/>
            <a:ext cx="2533650" cy="2343150"/>
          </a:xfrm>
          <a:prstGeom prst="roundRect">
            <a:avLst/>
          </a:prstGeom>
          <a:solidFill>
            <a:srgbClr val="FFFFFF"/>
          </a:solidFill>
          <a:ln/>
        </p:spPr>
      </p:sp>
      <p:sp>
        <p:nvSpPr>
          <p:cNvPr id="6" name="Shape 4"/>
          <p:cNvSpPr/>
          <p:nvPr/>
        </p:nvSpPr>
        <p:spPr>
          <a:xfrm>
            <a:off x="300038" y="3729038"/>
            <a:ext cx="8181975" cy="1138238"/>
          </a:xfrm>
          <a:prstGeom prst="roundRect">
            <a:avLst/>
          </a:prstGeom>
          <a:solidFill>
            <a:srgbClr val="FFFFFF"/>
          </a:solidFill>
          <a:ln/>
        </p:spPr>
      </p:sp>
      <p:sp>
        <p:nvSpPr>
          <p:cNvPr id="7" name="Text 5"/>
          <p:cNvSpPr/>
          <p:nvPr/>
        </p:nvSpPr>
        <p:spPr>
          <a:xfrm>
            <a:off x="495300" y="1357313"/>
            <a:ext cx="2138363" cy="257175"/>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534AB7">
                    <a:alpha val="99000"/>
                  </a:srgbClr>
                </a:solidFill>
                <a:latin typeface="Inter" pitchFamily="34" charset="0"/>
                <a:ea typeface="Inter" pitchFamily="34" charset="-122"/>
                <a:cs typeface="Inter" pitchFamily="34" charset="-120"/>
              </a:rPr>
              <a:t>Esmini readiness checklist</a:t>
            </a:r>
            <a:endParaRPr lang="en-US" sz="1283" dirty="0"/>
          </a:p>
        </p:txBody>
      </p:sp>
      <p:sp>
        <p:nvSpPr>
          <p:cNvPr id="8" name="Text 6"/>
          <p:cNvSpPr/>
          <p:nvPr/>
        </p:nvSpPr>
        <p:spPr>
          <a:xfrm>
            <a:off x="1066800" y="4043363"/>
            <a:ext cx="995363" cy="514350"/>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318EBC">
                    <a:alpha val="99000"/>
                  </a:srgbClr>
                </a:solidFill>
                <a:latin typeface="Inter" pitchFamily="34" charset="0"/>
                <a:ea typeface="Inter" pitchFamily="34" charset="-122"/>
                <a:cs typeface="Inter" pitchFamily="34" charset="-120"/>
              </a:rPr>
              <a:t>Live prompt </a:t>
            </a:r>
            <a:endParaRPr lang="en-US" sz="1283" dirty="0"/>
          </a:p>
          <a:p>
            <a:pPr algn="ctr" indent="0" marL="0">
              <a:lnSpc>
                <a:spcPts val="1924"/>
              </a:lnSpc>
              <a:buNone/>
            </a:pPr>
            <a:r>
              <a:rPr lang="en-US" sz="1283" b="1" spc="-28" kern="0" dirty="0">
                <a:solidFill>
                  <a:srgbClr val="318EBC">
                    <a:alpha val="99000"/>
                  </a:srgbClr>
                </a:solidFill>
                <a:latin typeface="Inter" pitchFamily="34" charset="0"/>
                <a:ea typeface="Inter" pitchFamily="34" charset="-122"/>
                <a:cs typeface="Inter" pitchFamily="34" charset="-120"/>
              </a:rPr>
              <a:t>preview</a:t>
            </a:r>
            <a:endParaRPr lang="en-US" sz="1283" dirty="0"/>
          </a:p>
        </p:txBody>
      </p:sp>
      <p:sp>
        <p:nvSpPr>
          <p:cNvPr id="9" name="Text 7"/>
          <p:cNvSpPr/>
          <p:nvPr/>
        </p:nvSpPr>
        <p:spPr>
          <a:xfrm>
            <a:off x="481012" y="2171700"/>
            <a:ext cx="2166938" cy="9144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A fully ticked checklist gives engineers an explicit signal that all required elements are present before generation.</a:t>
            </a:r>
            <a:endParaRPr lang="en-US" sz="1140" dirty="0"/>
          </a:p>
        </p:txBody>
      </p:sp>
      <p:sp>
        <p:nvSpPr>
          <p:cNvPr id="10" name="Shape 8"/>
          <p:cNvSpPr/>
          <p:nvPr/>
        </p:nvSpPr>
        <p:spPr>
          <a:xfrm>
            <a:off x="3100388" y="1200150"/>
            <a:ext cx="2533650" cy="2314575"/>
          </a:xfrm>
          <a:prstGeom prst="roundRect">
            <a:avLst/>
          </a:prstGeom>
          <a:solidFill>
            <a:srgbClr val="FFFFFF"/>
          </a:solidFill>
          <a:ln/>
        </p:spPr>
      </p:sp>
      <p:sp>
        <p:nvSpPr>
          <p:cNvPr id="11" name="Shape 9"/>
          <p:cNvSpPr/>
          <p:nvPr/>
        </p:nvSpPr>
        <p:spPr>
          <a:xfrm>
            <a:off x="3100388" y="1200150"/>
            <a:ext cx="2533650" cy="2314575"/>
          </a:xfrm>
          <a:prstGeom prst="roundRect">
            <a:avLst/>
          </a:prstGeom>
          <a:solidFill>
            <a:srgbClr val="FFFFFF"/>
          </a:solidFill>
          <a:ln/>
        </p:spPr>
      </p:sp>
      <p:sp>
        <p:nvSpPr>
          <p:cNvPr id="12" name="Text 10"/>
          <p:cNvSpPr/>
          <p:nvPr/>
        </p:nvSpPr>
        <p:spPr>
          <a:xfrm>
            <a:off x="3338513" y="1409700"/>
            <a:ext cx="2047875" cy="257175"/>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095141">
                    <a:alpha val="99000"/>
                  </a:srgbClr>
                </a:solidFill>
                <a:latin typeface="Inter" pitchFamily="34" charset="0"/>
                <a:ea typeface="Inter" pitchFamily="34" charset="-122"/>
                <a:cs typeface="Inter" pitchFamily="34" charset="-120"/>
              </a:rPr>
              <a:t>Validation passed banner</a:t>
            </a:r>
            <a:endParaRPr lang="en-US" sz="1283" dirty="0"/>
          </a:p>
        </p:txBody>
      </p:sp>
      <p:sp>
        <p:nvSpPr>
          <p:cNvPr id="13" name="Text 11"/>
          <p:cNvSpPr/>
          <p:nvPr/>
        </p:nvSpPr>
        <p:spPr>
          <a:xfrm>
            <a:off x="3295650" y="1943100"/>
            <a:ext cx="2166938" cy="11430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An explicit green confirmation that Esmini accepted the scenario removes residual doubt about whether the file will run. </a:t>
            </a:r>
            <a:endParaRPr lang="en-US" sz="1140" dirty="0"/>
          </a:p>
        </p:txBody>
      </p:sp>
      <p:sp>
        <p:nvSpPr>
          <p:cNvPr id="14" name="Text 12"/>
          <p:cNvSpPr/>
          <p:nvPr/>
        </p:nvSpPr>
        <p:spPr>
          <a:xfrm>
            <a:off x="3281363" y="3862387"/>
            <a:ext cx="4867275" cy="9144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Engineers can read their scenario as a coherent sentence before generating. Seeing intent reflected back in plain language reduces the uncertainty of "did I describe this correctly?" — a primary source of low confidence in blank-screen conditions.</a:t>
            </a:r>
            <a:endParaRPr lang="en-US" sz="1140" dirty="0"/>
          </a:p>
        </p:txBody>
      </p:sp>
      <p:sp>
        <p:nvSpPr>
          <p:cNvPr id="15" name="Shape 13"/>
          <p:cNvSpPr/>
          <p:nvPr/>
        </p:nvSpPr>
        <p:spPr>
          <a:xfrm>
            <a:off x="5948363" y="1200150"/>
            <a:ext cx="2533650" cy="2314575"/>
          </a:xfrm>
          <a:prstGeom prst="roundRect">
            <a:avLst/>
          </a:prstGeom>
          <a:solidFill>
            <a:srgbClr val="FFFFFF"/>
          </a:solidFill>
          <a:ln/>
        </p:spPr>
      </p:sp>
      <p:sp>
        <p:nvSpPr>
          <p:cNvPr id="16" name="Text 14"/>
          <p:cNvSpPr/>
          <p:nvPr/>
        </p:nvSpPr>
        <p:spPr>
          <a:xfrm>
            <a:off x="6324600" y="1409700"/>
            <a:ext cx="1776413" cy="257175"/>
          </a:xfrm>
          <a:prstGeom prst="rect">
            <a:avLst/>
          </a:prstGeom>
          <a:noFill/>
          <a:ln/>
        </p:spPr>
        <p:txBody>
          <a:bodyPr wrap="square" lIns="0" tIns="0" rIns="0" bIns="0" rtlCol="0" anchor="t"/>
          <a:lstStyle/>
          <a:p>
            <a:pPr algn="ctr" indent="0" marL="0">
              <a:lnSpc>
                <a:spcPts val="1924"/>
              </a:lnSpc>
              <a:buNone/>
            </a:pPr>
            <a:r>
              <a:rPr lang="en-US" sz="1283" b="1" spc="-28" kern="0" dirty="0">
                <a:solidFill>
                  <a:srgbClr val="CCB128">
                    <a:alpha val="99000"/>
                  </a:srgbClr>
                </a:solidFill>
                <a:latin typeface="Inter" pitchFamily="34" charset="0"/>
                <a:ea typeface="Inter" pitchFamily="34" charset="-122"/>
                <a:cs typeface="Inter" pitchFamily="34" charset="-120"/>
              </a:rPr>
              <a:t>Visible pipeline status</a:t>
            </a:r>
            <a:endParaRPr lang="en-US" sz="1283" dirty="0"/>
          </a:p>
        </p:txBody>
      </p:sp>
      <p:sp>
        <p:nvSpPr>
          <p:cNvPr id="17" name="Text 15"/>
          <p:cNvSpPr/>
          <p:nvPr/>
        </p:nvSpPr>
        <p:spPr>
          <a:xfrm>
            <a:off x="6129338" y="2019300"/>
            <a:ext cx="2166938" cy="11430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Showing each step — parsed, generated, validated, refined, ready — gives engineers a full audit trail of what the system checked.</a:t>
            </a:r>
            <a:endParaRPr lang="en-US" sz="1140" dirty="0"/>
          </a:p>
        </p:txBody>
      </p:sp>
      <p:sp>
        <p:nvSpPr>
          <p:cNvPr id="18" name="Text 16"/>
          <p:cNvSpPr/>
          <p:nvPr/>
        </p:nvSpPr>
        <p:spPr>
          <a:xfrm>
            <a:off x="8791575" y="475773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37</a:t>
            </a:r>
            <a:endParaRPr lang="en-US" sz="85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sp>
        <p:nvSpPr>
          <p:cNvPr id="4"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05</a:t>
            </a:r>
            <a:endParaRPr lang="en-US" sz="24938" dirty="0"/>
          </a:p>
        </p:txBody>
      </p:sp>
      <p:sp>
        <p:nvSpPr>
          <p:cNvPr id="5" name="Text 2"/>
          <p:cNvSpPr/>
          <p:nvPr/>
        </p:nvSpPr>
        <p:spPr>
          <a:xfrm>
            <a:off x="742950" y="1047750"/>
            <a:ext cx="3786188" cy="2014538"/>
          </a:xfrm>
          <a:prstGeom prst="rect">
            <a:avLst/>
          </a:prstGeom>
          <a:noFill/>
          <a:ln/>
        </p:spPr>
        <p:txBody>
          <a:bodyPr wrap="square" lIns="0" tIns="0" rIns="0" bIns="0" rtlCol="0" anchor="t"/>
          <a:lstStyle/>
          <a:p>
            <a:pPr algn="l" indent="0" marL="0">
              <a:lnSpc>
                <a:spcPts val="5016"/>
              </a:lnSpc>
              <a:buNone/>
            </a:pPr>
            <a:r>
              <a:rPr lang="en-US" sz="4560" b="1" dirty="0">
                <a:solidFill>
                  <a:srgbClr val="000000">
                    <a:alpha val="99000"/>
                  </a:srgbClr>
                </a:solidFill>
                <a:latin typeface="Plus Jakarta Sans" pitchFamily="34" charset="0"/>
                <a:ea typeface="Plus Jakarta Sans" pitchFamily="34" charset="-122"/>
                <a:cs typeface="Plus Jakarta Sans" pitchFamily="34" charset="-120"/>
              </a:rPr>
              <a:t>Research Design Sketch</a:t>
            </a:r>
            <a:endParaRPr lang="en-US" sz="4560" dirty="0"/>
          </a:p>
        </p:txBody>
      </p:sp>
      <p:sp>
        <p:nvSpPr>
          <p:cNvPr id="6" name="Text 3"/>
          <p:cNvSpPr/>
          <p:nvPr/>
        </p:nvSpPr>
        <p:spPr>
          <a:xfrm>
            <a:off x="7053263" y="76200"/>
            <a:ext cx="200025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233362" y="795338"/>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USER GROUP &amp; SCREENING</a:t>
            </a:r>
            <a:endParaRPr lang="en-US" sz="2494" dirty="0"/>
          </a:p>
        </p:txBody>
      </p:sp>
      <p:sp>
        <p:nvSpPr>
          <p:cNvPr id="5" name="Shape 2"/>
          <p:cNvSpPr/>
          <p:nvPr/>
        </p:nvSpPr>
        <p:spPr>
          <a:xfrm>
            <a:off x="2957513" y="233362"/>
            <a:ext cx="6096000" cy="4814888"/>
          </a:xfrm>
          <a:prstGeom prst="roundRect">
            <a:avLst>
              <a:gd name="adj" fmla="val 2849"/>
            </a:avLst>
          </a:prstGeom>
          <a:solidFill>
            <a:srgbClr val="FBF4BD"/>
          </a:solidFill>
          <a:ln/>
        </p:spPr>
      </p:sp>
      <p:sp>
        <p:nvSpPr>
          <p:cNvPr id="6" name="Shape 3"/>
          <p:cNvSpPr/>
          <p:nvPr/>
        </p:nvSpPr>
        <p:spPr>
          <a:xfrm>
            <a:off x="3505200" y="1066800"/>
            <a:ext cx="5033963" cy="3409950"/>
          </a:xfrm>
          <a:prstGeom prst="rect">
            <a:avLst/>
          </a:prstGeom>
          <a:noFill/>
          <a:ln/>
        </p:spPr>
      </p:sp>
      <p:sp>
        <p:nvSpPr>
          <p:cNvPr id="7" name="Shape 4"/>
          <p:cNvSpPr/>
          <p:nvPr/>
        </p:nvSpPr>
        <p:spPr>
          <a:xfrm>
            <a:off x="3505200" y="1066800"/>
            <a:ext cx="5033963" cy="3409950"/>
          </a:xfrm>
          <a:prstGeom prst="rect">
            <a:avLst/>
          </a:prstGeom>
          <a:noFill/>
          <a:ln/>
        </p:spPr>
      </p:sp>
      <p:sp>
        <p:nvSpPr>
          <p:cNvPr id="8" name="Text 5"/>
          <p:cNvSpPr/>
          <p:nvPr/>
        </p:nvSpPr>
        <p:spPr>
          <a:xfrm>
            <a:off x="3505200" y="1066800"/>
            <a:ext cx="5033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Early-Career Systems Engineers</a:t>
            </a:r>
            <a:endParaRPr lang="en-US" sz="1425" dirty="0"/>
          </a:p>
        </p:txBody>
      </p:sp>
      <p:sp>
        <p:nvSpPr>
          <p:cNvPr id="9" name="Text 6"/>
          <p:cNvSpPr/>
          <p:nvPr/>
        </p:nvSpPr>
        <p:spPr>
          <a:xfrm>
            <a:off x="3505200" y="1390650"/>
            <a:ext cx="5033963" cy="308610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Targeting professionals with 0–2 years of experience in autonomous vehicle simulation.</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8-12 participants per condition </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Criteria: Direct exposure to scenario generation.</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Screening Q1: "Have you worked with simulation scenarios?" (Yes/No)</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Q2: Self-rated familiarity with simulation tools on a 1–5 scale.</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Q3: Prior experience with LLMs (1–5 scale)</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Q4: Degree program / engineering background</a:t>
            </a:r>
            <a:endParaRPr lang="en-US" sz="1283" dirty="0"/>
          </a:p>
          <a:p>
            <a:pPr algn="l" marL="342900" indent="-342900">
              <a:lnSpc>
                <a:spcPts val="1924"/>
              </a:lnSpc>
              <a:buSzPct val="100000"/>
              <a:buChar char="•"/>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Q5: Self-rated familiarity with autonomous vehicles (1–5 scale)</a:t>
            </a:r>
            <a:endParaRPr lang="en-US" sz="1283" dirty="0"/>
          </a:p>
        </p:txBody>
      </p:sp>
      <p:sp>
        <p:nvSpPr>
          <p:cNvPr id="10" name="Text 7"/>
          <p:cNvSpPr/>
          <p:nvPr/>
        </p:nvSpPr>
        <p:spPr>
          <a:xfrm>
            <a:off x="8743950" y="4843463"/>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39</a:t>
            </a:r>
            <a:endParaRPr lang="en-US" sz="855" dirty="0"/>
          </a:p>
        </p:txBody>
      </p:sp>
      <p:sp>
        <p:nvSpPr>
          <p:cNvPr id="11" name="Text 8"/>
          <p:cNvSpPr/>
          <p:nvPr/>
        </p:nvSpPr>
        <p:spPr>
          <a:xfrm>
            <a:off x="7053263" y="61912"/>
            <a:ext cx="200025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
        <p:nvSpPr>
          <p:cNvPr id="12" name="Text 9"/>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457200" y="695325"/>
            <a:ext cx="2381250"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RESEARCH DESIGN</a:t>
            </a:r>
            <a:endParaRPr lang="en-US" sz="2494" dirty="0"/>
          </a:p>
        </p:txBody>
      </p:sp>
      <p:sp>
        <p:nvSpPr>
          <p:cNvPr id="5" name="Text 2"/>
          <p:cNvSpPr/>
          <p:nvPr/>
        </p:nvSpPr>
        <p:spPr>
          <a:xfrm>
            <a:off x="8772525" y="48148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40</a:t>
            </a:r>
            <a:endParaRPr lang="en-US" sz="855" dirty="0"/>
          </a:p>
        </p:txBody>
      </p:sp>
      <p:sp>
        <p:nvSpPr>
          <p:cNvPr id="6" name="Shape 3"/>
          <p:cNvSpPr/>
          <p:nvPr/>
        </p:nvSpPr>
        <p:spPr>
          <a:xfrm>
            <a:off x="957263" y="1809750"/>
            <a:ext cx="1881187" cy="2681288"/>
          </a:xfrm>
          <a:prstGeom prst="roundRect">
            <a:avLst/>
          </a:prstGeom>
          <a:solidFill>
            <a:srgbClr val="F5F1E9"/>
          </a:solidFill>
          <a:ln/>
        </p:spPr>
      </p:sp>
      <p:sp>
        <p:nvSpPr>
          <p:cNvPr id="7" name="Text 4"/>
          <p:cNvSpPr/>
          <p:nvPr/>
        </p:nvSpPr>
        <p:spPr>
          <a:xfrm>
            <a:off x="1166813" y="1990725"/>
            <a:ext cx="1138238" cy="257175"/>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STUDY TYPE</a:t>
            </a:r>
            <a:endParaRPr lang="en-US" sz="1247" dirty="0"/>
          </a:p>
        </p:txBody>
      </p:sp>
      <p:sp>
        <p:nvSpPr>
          <p:cNvPr id="8" name="Text 5"/>
          <p:cNvSpPr/>
          <p:nvPr/>
        </p:nvSpPr>
        <p:spPr>
          <a:xfrm>
            <a:off x="1166813" y="2505075"/>
            <a:ext cx="1533525" cy="657225"/>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Between- subjects</a:t>
            </a:r>
            <a:endParaRPr lang="en-US" sz="1140" dirty="0"/>
          </a:p>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Comparative</a:t>
            </a:r>
            <a:endParaRPr lang="en-US" sz="1140" dirty="0"/>
          </a:p>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Analysis evaluating Interaction</a:t>
            </a:r>
            <a:endParaRPr lang="en-US" sz="1140" dirty="0"/>
          </a:p>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Efficiency &amp; Output quality</a:t>
            </a:r>
            <a:endParaRPr lang="en-US" sz="1140" dirty="0"/>
          </a:p>
        </p:txBody>
      </p:sp>
      <p:sp>
        <p:nvSpPr>
          <p:cNvPr id="9" name="Shape 6"/>
          <p:cNvSpPr/>
          <p:nvPr/>
        </p:nvSpPr>
        <p:spPr>
          <a:xfrm>
            <a:off x="3738563" y="1809750"/>
            <a:ext cx="1881187" cy="2681288"/>
          </a:xfrm>
          <a:prstGeom prst="roundRect">
            <a:avLst/>
          </a:prstGeom>
          <a:solidFill>
            <a:srgbClr val="F5F1E9"/>
          </a:solidFill>
          <a:ln/>
        </p:spPr>
      </p:sp>
      <p:sp>
        <p:nvSpPr>
          <p:cNvPr id="10" name="Text 7"/>
          <p:cNvSpPr/>
          <p:nvPr/>
        </p:nvSpPr>
        <p:spPr>
          <a:xfrm>
            <a:off x="3948112" y="1966912"/>
            <a:ext cx="1309688" cy="962779"/>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INDEPENDENT VARIABLES</a:t>
            </a:r>
            <a:endParaRPr lang="en-US" sz="1247" dirty="0"/>
          </a:p>
        </p:txBody>
      </p:sp>
      <p:sp>
        <p:nvSpPr>
          <p:cNvPr id="11" name="Text 8"/>
          <p:cNvSpPr/>
          <p:nvPr/>
        </p:nvSpPr>
        <p:spPr>
          <a:xfrm>
            <a:off x="3948112" y="2681288"/>
            <a:ext cx="1519238" cy="160020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Modular Selection UI / Interface Type </a:t>
            </a:r>
            <a:endParaRPr lang="en-US" sz="1140" dirty="0"/>
          </a:p>
          <a:p>
            <a:pPr algn="l" marL="342900" indent="-342900">
              <a:lnSpc>
                <a:spcPts val="1710"/>
              </a:lnSpc>
              <a:buSzPct val="100000"/>
              <a:buChar char="•"/>
            </a:pPr>
            <a:r>
              <a:rPr lang="en-US" sz="1140" spc="-25" kern="0" dirty="0">
                <a:solidFill>
                  <a:srgbClr val="000000">
                    <a:alpha val="99000"/>
                  </a:srgbClr>
                </a:solidFill>
                <a:latin typeface="Inter" pitchFamily="34" charset="0"/>
                <a:ea typeface="Inter" pitchFamily="34" charset="-122"/>
                <a:cs typeface="Inter" pitchFamily="34" charset="-120"/>
              </a:rPr>
              <a:t>Guided Interface (Condition A)</a:t>
            </a:r>
            <a:endParaRPr lang="en-US" sz="1140" dirty="0"/>
          </a:p>
          <a:p>
            <a:pPr algn="l" marL="342900" indent="-342900">
              <a:lnSpc>
                <a:spcPts val="1710"/>
              </a:lnSpc>
              <a:buSzPct val="100000"/>
              <a:buChar char="•"/>
            </a:pPr>
            <a:r>
              <a:rPr lang="en-US" sz="1140" spc="-25" kern="0" dirty="0">
                <a:solidFill>
                  <a:srgbClr val="000000">
                    <a:alpha val="99000"/>
                  </a:srgbClr>
                </a:solidFill>
                <a:latin typeface="Inter" pitchFamily="34" charset="0"/>
                <a:ea typeface="Inter" pitchFamily="34" charset="-122"/>
                <a:cs typeface="Inter" pitchFamily="34" charset="-120"/>
              </a:rPr>
              <a:t>Blank Prompt Screen (Condition B)</a:t>
            </a:r>
            <a:endParaRPr lang="en-US" sz="1140" dirty="0"/>
          </a:p>
        </p:txBody>
      </p:sp>
      <p:sp>
        <p:nvSpPr>
          <p:cNvPr id="12" name="Shape 9"/>
          <p:cNvSpPr/>
          <p:nvPr/>
        </p:nvSpPr>
        <p:spPr>
          <a:xfrm>
            <a:off x="6519863" y="1809750"/>
            <a:ext cx="1881187" cy="2681288"/>
          </a:xfrm>
          <a:prstGeom prst="roundRect">
            <a:avLst/>
          </a:prstGeom>
          <a:solidFill>
            <a:srgbClr val="F5F1E9"/>
          </a:solidFill>
          <a:ln/>
        </p:spPr>
      </p:sp>
      <p:sp>
        <p:nvSpPr>
          <p:cNvPr id="13" name="Text 10"/>
          <p:cNvSpPr/>
          <p:nvPr/>
        </p:nvSpPr>
        <p:spPr>
          <a:xfrm>
            <a:off x="6729413" y="1966912"/>
            <a:ext cx="1309688" cy="962779"/>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DEPENDENT VARIABLES</a:t>
            </a:r>
            <a:endParaRPr lang="en-US" sz="1247" dirty="0"/>
          </a:p>
        </p:txBody>
      </p:sp>
      <p:sp>
        <p:nvSpPr>
          <p:cNvPr id="14" name="Text 11"/>
          <p:cNvSpPr/>
          <p:nvPr/>
        </p:nvSpPr>
        <p:spPr>
          <a:xfrm>
            <a:off x="6729413" y="2805113"/>
            <a:ext cx="1538288" cy="1371600"/>
          </a:xfrm>
          <a:prstGeom prst="rect">
            <a:avLst/>
          </a:prstGeom>
          <a:noFill/>
          <a:ln/>
        </p:spPr>
        <p:txBody>
          <a:bodyPr wrap="square" lIns="0" tIns="0" rIns="0" bIns="0" rtlCol="0" anchor="t"/>
          <a:lstStyle/>
          <a:p>
            <a:pPr algn="l" marL="342900" indent="-342900">
              <a:lnSpc>
                <a:spcPts val="1710"/>
              </a:lnSpc>
              <a:buSzPct val="100000"/>
              <a:buFont typeface="+mj-lt"/>
              <a:buAutoNum type="arabicPeriod" startAt="1"/>
            </a:pPr>
            <a:r>
              <a:rPr lang="en-US" sz="1140" spc="-25" kern="0" dirty="0">
                <a:solidFill>
                  <a:srgbClr val="000000">
                    <a:alpha val="99000"/>
                  </a:srgbClr>
                </a:solidFill>
                <a:latin typeface="Inter" pitchFamily="34" charset="0"/>
                <a:ea typeface="Inter" pitchFamily="34" charset="-122"/>
                <a:cs typeface="Inter" pitchFamily="34" charset="-120"/>
              </a:rPr>
              <a:t>Task Completion Time</a:t>
            </a:r>
            <a:endParaRPr lang="en-US" sz="1140" dirty="0"/>
          </a:p>
          <a:p>
            <a:pPr algn="l" marL="342900" indent="-342900">
              <a:lnSpc>
                <a:spcPts val="1710"/>
              </a:lnSpc>
              <a:buSzPct val="100000"/>
              <a:buFont typeface="+mj-lt"/>
              <a:buAutoNum type="arabicPeriod" startAt="1"/>
            </a:pPr>
            <a:r>
              <a:rPr lang="en-US" sz="1140" spc="-25" kern="0" dirty="0">
                <a:solidFill>
                  <a:srgbClr val="000000">
                    <a:alpha val="99000"/>
                  </a:srgbClr>
                </a:solidFill>
                <a:latin typeface="Inter" pitchFamily="34" charset="0"/>
                <a:ea typeface="Inter" pitchFamily="34" charset="-122"/>
                <a:cs typeface="Inter" pitchFamily="34" charset="-120"/>
              </a:rPr>
              <a:t>Trust / User Confidence</a:t>
            </a:r>
            <a:endParaRPr lang="en-US" sz="1140" dirty="0"/>
          </a:p>
          <a:p>
            <a:pPr algn="l" marL="342900" indent="-342900">
              <a:lnSpc>
                <a:spcPts val="1710"/>
              </a:lnSpc>
              <a:buSzPct val="100000"/>
              <a:buFont typeface="+mj-lt"/>
              <a:buAutoNum type="arabicPeriod" startAt="1"/>
            </a:pPr>
            <a:r>
              <a:rPr lang="en-US" sz="1140" spc="-25" kern="0" dirty="0">
                <a:solidFill>
                  <a:srgbClr val="000000">
                    <a:alpha val="99000"/>
                  </a:srgbClr>
                </a:solidFill>
                <a:latin typeface="Inter" pitchFamily="34" charset="0"/>
                <a:ea typeface="Inter" pitchFamily="34" charset="-122"/>
                <a:cs typeface="Inter" pitchFamily="34" charset="-120"/>
              </a:rPr>
              <a:t>Realisticness / Prompt Quality</a:t>
            </a:r>
            <a:endParaRPr lang="en-US" sz="1140" dirty="0"/>
          </a:p>
        </p:txBody>
      </p:sp>
      <p:sp>
        <p:nvSpPr>
          <p:cNvPr id="15" name="Text 12"/>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16" name="Text 13"/>
          <p:cNvSpPr/>
          <p:nvPr/>
        </p:nvSpPr>
        <p:spPr>
          <a:xfrm>
            <a:off x="7053263" y="76200"/>
            <a:ext cx="200025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233362" y="7477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MODULAR SELECTION UI</a:t>
            </a:r>
            <a:endParaRPr lang="en-US" sz="2494" dirty="0"/>
          </a:p>
        </p:txBody>
      </p:sp>
      <p:sp>
        <p:nvSpPr>
          <p:cNvPr id="5" name="Text 2"/>
          <p:cNvSpPr/>
          <p:nvPr/>
        </p:nvSpPr>
        <p:spPr>
          <a:xfrm>
            <a:off x="3762375" y="1433513"/>
            <a:ext cx="4733925" cy="2571750"/>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Instead of free-text prompting, our design provides pre-defined fields to minimize cognitive load.</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Environment:</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 Highway, Urban, Rural selections.</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Weather</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 Fog, Rain, Clear presets.</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Actors</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 Ego car, NPCs, and Pedestrian counts.</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Dynamics</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 Initial speeds, positions, and lanes.</a:t>
            </a:r>
            <a:endParaRPr lang="en-US" sz="1283" dirty="0"/>
          </a:p>
        </p:txBody>
      </p:sp>
      <p:sp>
        <p:nvSpPr>
          <p:cNvPr id="6" name="Text 3"/>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7" name="Text 4"/>
          <p:cNvSpPr/>
          <p:nvPr/>
        </p:nvSpPr>
        <p:spPr>
          <a:xfrm>
            <a:off x="7053263" y="61912"/>
            <a:ext cx="200025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
        <p:nvSpPr>
          <p:cNvPr id="8" name="Text 5"/>
          <p:cNvSpPr/>
          <p:nvPr/>
        </p:nvSpPr>
        <p:spPr>
          <a:xfrm>
            <a:off x="8791575"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41</a:t>
            </a:r>
            <a:endParaRPr lang="en-US" sz="85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233362" y="7477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MODULAR SELECTION UI</a:t>
            </a:r>
            <a:endParaRPr lang="en-US" sz="2494" dirty="0"/>
          </a:p>
        </p:txBody>
      </p:sp>
      <p:sp>
        <p:nvSpPr>
          <p:cNvPr id="5" name="Text 2"/>
          <p:cNvSpPr/>
          <p:nvPr/>
        </p:nvSpPr>
        <p:spPr>
          <a:xfrm>
            <a:off x="233362" y="4457700"/>
            <a:ext cx="2486025" cy="471488"/>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pic>
        <p:nvPicPr>
          <p:cNvPr id="6" name="Image 0" descr="preencoded.png">    </p:cNvPr>
          <p:cNvPicPr>
            <a:picLocks noChangeAspect="1"/>
          </p:cNvPicPr>
          <p:nvPr/>
        </p:nvPicPr>
        <p:blipFill>
          <a:blip r:embed="rId1"/>
          <a:srcRect l="0" r="0" t="0" b="13253"/>
          <a:stretch/>
        </p:blipFill>
        <p:spPr>
          <a:xfrm>
            <a:off x="3771900" y="-333375"/>
            <a:ext cx="4710113" cy="5143500"/>
          </a:xfrm>
          <a:prstGeom prst="rect">
            <a:avLst/>
          </a:prstGeom>
        </p:spPr>
      </p:pic>
      <p:sp>
        <p:nvSpPr>
          <p:cNvPr id="7" name="Text 3"/>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8" name="Text 4"/>
          <p:cNvSpPr/>
          <p:nvPr/>
        </p:nvSpPr>
        <p:spPr>
          <a:xfrm>
            <a:off x="7053263" y="61912"/>
            <a:ext cx="200025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
        <p:nvSpPr>
          <p:cNvPr id="9" name="Text 5"/>
          <p:cNvSpPr/>
          <p:nvPr/>
        </p:nvSpPr>
        <p:spPr>
          <a:xfrm>
            <a:off x="8843963"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42</a:t>
            </a:r>
            <a:endParaRPr lang="en-US" sz="85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457200" y="695325"/>
            <a:ext cx="349567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DETAILED PARAMETER MAPPING</a:t>
            </a:r>
            <a:endParaRPr lang="en-US" sz="2494" dirty="0"/>
          </a:p>
        </p:txBody>
      </p:sp>
      <p:sp>
        <p:nvSpPr>
          <p:cNvPr id="5" name="Text 2"/>
          <p:cNvSpPr/>
          <p:nvPr/>
        </p:nvSpPr>
        <p:spPr>
          <a:xfrm>
            <a:off x="8772525" y="48148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43</a:t>
            </a:r>
            <a:endParaRPr lang="en-US" sz="855" dirty="0"/>
          </a:p>
        </p:txBody>
      </p:sp>
      <p:sp>
        <p:nvSpPr>
          <p:cNvPr id="6" name="Shape 3"/>
          <p:cNvSpPr/>
          <p:nvPr/>
        </p:nvSpPr>
        <p:spPr>
          <a:xfrm>
            <a:off x="619125" y="1900238"/>
            <a:ext cx="2371725" cy="2714625"/>
          </a:xfrm>
          <a:prstGeom prst="roundRect">
            <a:avLst/>
          </a:prstGeom>
          <a:solidFill>
            <a:srgbClr val="F5F1E9"/>
          </a:solidFill>
          <a:ln/>
        </p:spPr>
      </p:sp>
      <p:sp>
        <p:nvSpPr>
          <p:cNvPr id="7" name="Text 4"/>
          <p:cNvSpPr/>
          <p:nvPr/>
        </p:nvSpPr>
        <p:spPr>
          <a:xfrm>
            <a:off x="871538" y="2109788"/>
            <a:ext cx="1863690" cy="448567"/>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Road &amp; Environment</a:t>
            </a:r>
            <a:endParaRPr lang="en-US" sz="1247" dirty="0"/>
          </a:p>
        </p:txBody>
      </p:sp>
      <p:sp>
        <p:nvSpPr>
          <p:cNvPr id="8" name="Text 5"/>
          <p:cNvSpPr/>
          <p:nvPr/>
        </p:nvSpPr>
        <p:spPr>
          <a:xfrm>
            <a:off x="871538" y="2774910"/>
            <a:ext cx="1609725" cy="820720"/>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Manual selection of road types and weather conditions ensures physical constraints are met by the system automatically.</a:t>
            </a:r>
            <a:endParaRPr lang="en-US" sz="1140" dirty="0"/>
          </a:p>
        </p:txBody>
      </p:sp>
      <p:sp>
        <p:nvSpPr>
          <p:cNvPr id="9" name="Shape 6"/>
          <p:cNvSpPr/>
          <p:nvPr/>
        </p:nvSpPr>
        <p:spPr>
          <a:xfrm>
            <a:off x="3419475" y="1900238"/>
            <a:ext cx="2371725" cy="2714625"/>
          </a:xfrm>
          <a:prstGeom prst="roundRect">
            <a:avLst/>
          </a:prstGeom>
          <a:solidFill>
            <a:srgbClr val="F5F1E9"/>
          </a:solidFill>
          <a:ln/>
        </p:spPr>
      </p:sp>
      <p:sp>
        <p:nvSpPr>
          <p:cNvPr id="10" name="Text 7"/>
          <p:cNvSpPr/>
          <p:nvPr/>
        </p:nvSpPr>
        <p:spPr>
          <a:xfrm>
            <a:off x="3671888" y="2109788"/>
            <a:ext cx="1863690" cy="448815"/>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NPC Behavior</a:t>
            </a:r>
            <a:endParaRPr lang="en-US" sz="1247" dirty="0"/>
          </a:p>
        </p:txBody>
      </p:sp>
      <p:sp>
        <p:nvSpPr>
          <p:cNvPr id="11" name="Text 8"/>
          <p:cNvSpPr/>
          <p:nvPr/>
        </p:nvSpPr>
        <p:spPr>
          <a:xfrm>
            <a:off x="3671888" y="2774203"/>
            <a:ext cx="1609725" cy="821174"/>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Define if other cars are controllable or system-decided. Set specific conditions like "Lead vehicle brakes suddenly."</a:t>
            </a:r>
            <a:endParaRPr lang="en-US" sz="1140" dirty="0"/>
          </a:p>
        </p:txBody>
      </p:sp>
      <p:sp>
        <p:nvSpPr>
          <p:cNvPr id="12" name="Shape 9"/>
          <p:cNvSpPr/>
          <p:nvPr/>
        </p:nvSpPr>
        <p:spPr>
          <a:xfrm>
            <a:off x="6219825" y="1900238"/>
            <a:ext cx="2371725" cy="2714625"/>
          </a:xfrm>
          <a:prstGeom prst="roundRect">
            <a:avLst/>
          </a:prstGeom>
          <a:solidFill>
            <a:srgbClr val="F5F1E9"/>
          </a:solidFill>
          <a:ln/>
        </p:spPr>
      </p:sp>
      <p:sp>
        <p:nvSpPr>
          <p:cNvPr id="13" name="Text 10"/>
          <p:cNvSpPr/>
          <p:nvPr/>
        </p:nvSpPr>
        <p:spPr>
          <a:xfrm>
            <a:off x="6472238" y="2109788"/>
            <a:ext cx="1863690" cy="448815"/>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Event Triggers</a:t>
            </a:r>
            <a:endParaRPr lang="en-US" sz="1247" dirty="0"/>
          </a:p>
        </p:txBody>
      </p:sp>
      <p:sp>
        <p:nvSpPr>
          <p:cNvPr id="14" name="Text 11"/>
          <p:cNvSpPr/>
          <p:nvPr/>
        </p:nvSpPr>
        <p:spPr>
          <a:xfrm>
            <a:off x="6472238" y="2774203"/>
            <a:ext cx="1609725" cy="821174"/>
          </a:xfrm>
          <a:prstGeom prst="rect">
            <a:avLst/>
          </a:prstGeom>
          <a:noFill/>
          <a:ln/>
        </p:spPr>
        <p:txBody>
          <a:bodyPr wrap="square" lIns="0" tIns="0" rIns="0" bIns="0" rtlCol="0" anchor="t"/>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Specific high-risk events: Emergency braking, tailgating NPC, or vehicle merging with a small gap.</a:t>
            </a:r>
            <a:endParaRPr lang="en-US" sz="1140" dirty="0"/>
          </a:p>
        </p:txBody>
      </p:sp>
      <p:sp>
        <p:nvSpPr>
          <p:cNvPr id="15" name="Text 12"/>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16" name="Text 13"/>
          <p:cNvSpPr/>
          <p:nvPr/>
        </p:nvSpPr>
        <p:spPr>
          <a:xfrm>
            <a:off x="7053263" y="76200"/>
            <a:ext cx="200025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457200" y="695325"/>
            <a:ext cx="349567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AUTOMATED SCENARIO PIPELINE</a:t>
            </a:r>
            <a:endParaRPr lang="en-US" sz="2494" dirty="0"/>
          </a:p>
        </p:txBody>
      </p:sp>
      <p:sp>
        <p:nvSpPr>
          <p:cNvPr id="5" name="Text 2"/>
          <p:cNvSpPr/>
          <p:nvPr/>
        </p:nvSpPr>
        <p:spPr>
          <a:xfrm>
            <a:off x="8772525" y="48148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44</a:t>
            </a:r>
            <a:endParaRPr lang="en-US" sz="855" dirty="0"/>
          </a:p>
        </p:txBody>
      </p:sp>
      <p:pic>
        <p:nvPicPr>
          <p:cNvPr id="6" name="Image 0" descr="preencoded.png">    </p:cNvPr>
          <p:cNvPicPr>
            <a:picLocks noChangeAspect="1"/>
          </p:cNvPicPr>
          <p:nvPr/>
        </p:nvPicPr>
        <p:blipFill>
          <a:blip r:embed="rId1"/>
          <a:srcRect l="0" r="0" t="0" b="0"/>
          <a:stretch/>
        </p:blipFill>
        <p:spPr>
          <a:xfrm>
            <a:off x="976312" y="2647950"/>
            <a:ext cx="7794799" cy="1370121"/>
          </a:xfrm>
          <a:prstGeom prst="rect">
            <a:avLst/>
          </a:prstGeom>
        </p:spPr>
      </p:pic>
      <p:sp>
        <p:nvSpPr>
          <p:cNvPr id="7" name="Text 3"/>
          <p:cNvSpPr/>
          <p:nvPr/>
        </p:nvSpPr>
        <p:spPr>
          <a:xfrm>
            <a:off x="233362" y="4462463"/>
            <a:ext cx="2486025" cy="471488"/>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
        <p:nvSpPr>
          <p:cNvPr id="8" name="Text 4"/>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9" name="Text 5"/>
          <p:cNvSpPr/>
          <p:nvPr/>
        </p:nvSpPr>
        <p:spPr>
          <a:xfrm>
            <a:off x="7053263" y="76200"/>
            <a:ext cx="200025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233362" y="747713"/>
            <a:ext cx="2486025" cy="1100138"/>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ESMINI READINESS CRITERIA</a:t>
            </a:r>
            <a:endParaRPr lang="en-US" sz="2494" dirty="0"/>
          </a:p>
        </p:txBody>
      </p:sp>
      <p:sp>
        <p:nvSpPr>
          <p:cNvPr id="5" name="Text 2"/>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6" name="Text 3"/>
          <p:cNvSpPr/>
          <p:nvPr/>
        </p:nvSpPr>
        <p:spPr>
          <a:xfrm>
            <a:off x="7053263" y="61912"/>
            <a:ext cx="200025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
        <p:nvSpPr>
          <p:cNvPr id="7" name="Shape 4"/>
          <p:cNvSpPr/>
          <p:nvPr/>
        </p:nvSpPr>
        <p:spPr>
          <a:xfrm>
            <a:off x="2309813" y="1524000"/>
            <a:ext cx="6434138" cy="455384"/>
          </a:xfrm>
          <a:prstGeom prst="rect">
            <a:avLst/>
          </a:prstGeom>
          <a:solidFill>
            <a:srgbClr val="F5F1E9"/>
          </a:solidFill>
          <a:ln/>
        </p:spPr>
      </p:sp>
      <p:sp>
        <p:nvSpPr>
          <p:cNvPr id="8" name="Text 5"/>
          <p:cNvSpPr/>
          <p:nvPr/>
        </p:nvSpPr>
        <p:spPr>
          <a:xfrm>
            <a:off x="2574229" y="1656206"/>
            <a:ext cx="695325" cy="190500"/>
          </a:xfrm>
          <a:prstGeom prst="rect">
            <a:avLst/>
          </a:prstGeom>
          <a:noFill/>
          <a:ln/>
        </p:spPr>
        <p:txBody>
          <a:bodyPr wrap="square" lIns="0" tIns="0" rIns="0" bIns="0" rtlCol="0" anchor="t"/>
          <a:lstStyle/>
          <a:p>
            <a:pPr algn="l" indent="0" marL="0">
              <a:lnSpc>
                <a:spcPts val="1442"/>
              </a:lnSpc>
              <a:buNone/>
            </a:pPr>
            <a:r>
              <a:rPr lang="en-US" sz="961" b="1" spc="67" kern="0" dirty="0">
                <a:solidFill>
                  <a:srgbClr val="000000">
                    <a:alpha val="99000"/>
                  </a:srgbClr>
                </a:solidFill>
                <a:latin typeface="Plus Jakarta Sans" pitchFamily="34" charset="0"/>
                <a:ea typeface="Plus Jakarta Sans" pitchFamily="34" charset="-122"/>
                <a:cs typeface="Plus Jakarta Sans" pitchFamily="34" charset="-120"/>
              </a:rPr>
              <a:t>Condition</a:t>
            </a:r>
            <a:endParaRPr lang="en-US" sz="961" dirty="0"/>
          </a:p>
        </p:txBody>
      </p:sp>
      <p:sp>
        <p:nvSpPr>
          <p:cNvPr id="9" name="Text 6"/>
          <p:cNvSpPr/>
          <p:nvPr/>
        </p:nvSpPr>
        <p:spPr>
          <a:xfrm>
            <a:off x="5177998" y="1656206"/>
            <a:ext cx="976312" cy="190500"/>
          </a:xfrm>
          <a:prstGeom prst="rect">
            <a:avLst/>
          </a:prstGeom>
          <a:noFill/>
          <a:ln/>
        </p:spPr>
        <p:txBody>
          <a:bodyPr wrap="square" lIns="0" tIns="0" rIns="0" bIns="0" rtlCol="0" anchor="t"/>
          <a:lstStyle/>
          <a:p>
            <a:pPr algn="l" indent="0" marL="0">
              <a:lnSpc>
                <a:spcPts val="1442"/>
              </a:lnSpc>
              <a:buNone/>
            </a:pPr>
            <a:r>
              <a:rPr lang="en-US" sz="961" b="1" spc="67" kern="0" dirty="0">
                <a:solidFill>
                  <a:srgbClr val="000000">
                    <a:alpha val="99000"/>
                  </a:srgbClr>
                </a:solidFill>
                <a:latin typeface="Plus Jakarta Sans" pitchFamily="34" charset="0"/>
                <a:ea typeface="Plus Jakarta Sans" pitchFamily="34" charset="-122"/>
                <a:cs typeface="Plus Jakarta Sans" pitchFamily="34" charset="-120"/>
              </a:rPr>
              <a:t>Requirements</a:t>
            </a:r>
            <a:endParaRPr lang="en-US" sz="961" dirty="0"/>
          </a:p>
        </p:txBody>
      </p:sp>
      <p:sp>
        <p:nvSpPr>
          <p:cNvPr id="10" name="Text 7"/>
          <p:cNvSpPr/>
          <p:nvPr/>
        </p:nvSpPr>
        <p:spPr>
          <a:xfrm>
            <a:off x="7833182" y="1656206"/>
            <a:ext cx="452438" cy="190500"/>
          </a:xfrm>
          <a:prstGeom prst="rect">
            <a:avLst/>
          </a:prstGeom>
          <a:noFill/>
          <a:ln/>
        </p:spPr>
        <p:txBody>
          <a:bodyPr wrap="square" lIns="0" tIns="0" rIns="0" bIns="0" rtlCol="0" anchor="t"/>
          <a:lstStyle/>
          <a:p>
            <a:pPr algn="l" indent="0" marL="0">
              <a:lnSpc>
                <a:spcPts val="1442"/>
              </a:lnSpc>
              <a:buNone/>
            </a:pPr>
            <a:r>
              <a:rPr lang="en-US" sz="961" b="1" spc="67" kern="0" dirty="0">
                <a:solidFill>
                  <a:srgbClr val="000000">
                    <a:alpha val="99000"/>
                  </a:srgbClr>
                </a:solidFill>
                <a:latin typeface="Plus Jakarta Sans" pitchFamily="34" charset="0"/>
                <a:ea typeface="Plus Jakarta Sans" pitchFamily="34" charset="-122"/>
                <a:cs typeface="Plus Jakarta Sans" pitchFamily="34" charset="-120"/>
              </a:rPr>
              <a:t>Status</a:t>
            </a:r>
            <a:endParaRPr lang="en-US" sz="961" dirty="0"/>
          </a:p>
        </p:txBody>
      </p:sp>
      <p:sp>
        <p:nvSpPr>
          <p:cNvPr id="11" name="Shape 8"/>
          <p:cNvSpPr/>
          <p:nvPr/>
        </p:nvSpPr>
        <p:spPr>
          <a:xfrm>
            <a:off x="2309813" y="1975712"/>
            <a:ext cx="6434138" cy="455384"/>
          </a:xfrm>
          <a:prstGeom prst="rect">
            <a:avLst/>
          </a:prstGeom>
          <a:solidFill>
            <a:srgbClr val="FFFFFF"/>
          </a:solidFill>
          <a:ln/>
        </p:spPr>
      </p:sp>
      <p:sp>
        <p:nvSpPr>
          <p:cNvPr id="12" name="Text 9"/>
          <p:cNvSpPr/>
          <p:nvPr/>
        </p:nvSpPr>
        <p:spPr>
          <a:xfrm>
            <a:off x="2574229" y="2107918"/>
            <a:ext cx="714375"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Road Type</a:t>
            </a:r>
            <a:endParaRPr lang="en-US" sz="961" dirty="0"/>
          </a:p>
        </p:txBody>
      </p:sp>
      <p:sp>
        <p:nvSpPr>
          <p:cNvPr id="13" name="Text 10"/>
          <p:cNvSpPr/>
          <p:nvPr/>
        </p:nvSpPr>
        <p:spPr>
          <a:xfrm>
            <a:off x="5177998" y="2107918"/>
            <a:ext cx="1466850"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Highway/Urban/Rural</a:t>
            </a:r>
            <a:endParaRPr lang="en-US" sz="961" dirty="0"/>
          </a:p>
        </p:txBody>
      </p:sp>
      <p:sp>
        <p:nvSpPr>
          <p:cNvPr id="14" name="Text 11"/>
          <p:cNvSpPr/>
          <p:nvPr/>
        </p:nvSpPr>
        <p:spPr>
          <a:xfrm>
            <a:off x="7833182" y="2107918"/>
            <a:ext cx="195263"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Ok</a:t>
            </a:r>
            <a:endParaRPr lang="en-US" sz="961" dirty="0"/>
          </a:p>
        </p:txBody>
      </p:sp>
      <p:sp>
        <p:nvSpPr>
          <p:cNvPr id="15" name="Shape 12"/>
          <p:cNvSpPr/>
          <p:nvPr/>
        </p:nvSpPr>
        <p:spPr>
          <a:xfrm>
            <a:off x="2309813" y="2427424"/>
            <a:ext cx="6434138" cy="455384"/>
          </a:xfrm>
          <a:prstGeom prst="rect">
            <a:avLst/>
          </a:prstGeom>
          <a:solidFill>
            <a:srgbClr val="F6F6F6"/>
          </a:solidFill>
          <a:ln/>
        </p:spPr>
      </p:sp>
      <p:sp>
        <p:nvSpPr>
          <p:cNvPr id="16" name="Text 13"/>
          <p:cNvSpPr/>
          <p:nvPr/>
        </p:nvSpPr>
        <p:spPr>
          <a:xfrm>
            <a:off x="2574229" y="2559630"/>
            <a:ext cx="576263"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Weather</a:t>
            </a:r>
            <a:endParaRPr lang="en-US" sz="961" dirty="0"/>
          </a:p>
        </p:txBody>
      </p:sp>
      <p:sp>
        <p:nvSpPr>
          <p:cNvPr id="17" name="Text 14"/>
          <p:cNvSpPr/>
          <p:nvPr/>
        </p:nvSpPr>
        <p:spPr>
          <a:xfrm>
            <a:off x="5177998" y="2559630"/>
            <a:ext cx="1133475"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Clear/Rainy/Fog</a:t>
            </a:r>
            <a:endParaRPr lang="en-US" sz="961" dirty="0"/>
          </a:p>
        </p:txBody>
      </p:sp>
      <p:sp>
        <p:nvSpPr>
          <p:cNvPr id="18" name="Text 15"/>
          <p:cNvSpPr/>
          <p:nvPr/>
        </p:nvSpPr>
        <p:spPr>
          <a:xfrm>
            <a:off x="7833182" y="2559630"/>
            <a:ext cx="209550"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OK</a:t>
            </a:r>
            <a:endParaRPr lang="en-US" sz="961" dirty="0"/>
          </a:p>
        </p:txBody>
      </p:sp>
      <p:sp>
        <p:nvSpPr>
          <p:cNvPr id="19" name="Shape 16"/>
          <p:cNvSpPr/>
          <p:nvPr/>
        </p:nvSpPr>
        <p:spPr>
          <a:xfrm>
            <a:off x="2309813" y="2879136"/>
            <a:ext cx="6434138" cy="455384"/>
          </a:xfrm>
          <a:prstGeom prst="rect">
            <a:avLst/>
          </a:prstGeom>
          <a:solidFill>
            <a:srgbClr val="FFFFFF"/>
          </a:solidFill>
          <a:ln/>
        </p:spPr>
      </p:sp>
      <p:sp>
        <p:nvSpPr>
          <p:cNvPr id="20" name="Text 17"/>
          <p:cNvSpPr/>
          <p:nvPr/>
        </p:nvSpPr>
        <p:spPr>
          <a:xfrm>
            <a:off x="2574229" y="3011342"/>
            <a:ext cx="638175"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NPC Role</a:t>
            </a:r>
            <a:endParaRPr lang="en-US" sz="961" dirty="0"/>
          </a:p>
        </p:txBody>
      </p:sp>
      <p:sp>
        <p:nvSpPr>
          <p:cNvPr id="21" name="Text 18"/>
          <p:cNvSpPr/>
          <p:nvPr/>
        </p:nvSpPr>
        <p:spPr>
          <a:xfrm>
            <a:off x="5177998" y="3011342"/>
            <a:ext cx="1347788"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Behaviors Assigned</a:t>
            </a:r>
            <a:endParaRPr lang="en-US" sz="961" dirty="0"/>
          </a:p>
        </p:txBody>
      </p:sp>
      <p:sp>
        <p:nvSpPr>
          <p:cNvPr id="22" name="Text 19"/>
          <p:cNvSpPr/>
          <p:nvPr/>
        </p:nvSpPr>
        <p:spPr>
          <a:xfrm>
            <a:off x="7833182" y="3011342"/>
            <a:ext cx="195263"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Ok</a:t>
            </a:r>
            <a:endParaRPr lang="en-US" sz="961" dirty="0"/>
          </a:p>
        </p:txBody>
      </p:sp>
      <p:sp>
        <p:nvSpPr>
          <p:cNvPr id="23" name="Shape 20"/>
          <p:cNvSpPr/>
          <p:nvPr/>
        </p:nvSpPr>
        <p:spPr>
          <a:xfrm>
            <a:off x="2309813" y="3330848"/>
            <a:ext cx="6434138" cy="455384"/>
          </a:xfrm>
          <a:prstGeom prst="rect">
            <a:avLst/>
          </a:prstGeom>
          <a:solidFill>
            <a:srgbClr val="F6F6F6"/>
          </a:solidFill>
          <a:ln/>
        </p:spPr>
      </p:sp>
      <p:sp>
        <p:nvSpPr>
          <p:cNvPr id="24" name="Text 21"/>
          <p:cNvSpPr/>
          <p:nvPr/>
        </p:nvSpPr>
        <p:spPr>
          <a:xfrm>
            <a:off x="2574229" y="3463054"/>
            <a:ext cx="976312"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Trigger Events</a:t>
            </a:r>
            <a:endParaRPr lang="en-US" sz="961" dirty="0"/>
          </a:p>
        </p:txBody>
      </p:sp>
      <p:sp>
        <p:nvSpPr>
          <p:cNvPr id="25" name="Text 22"/>
          <p:cNvSpPr/>
          <p:nvPr/>
        </p:nvSpPr>
        <p:spPr>
          <a:xfrm>
            <a:off x="5177998" y="3463054"/>
            <a:ext cx="1709738"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Critical situation defined</a:t>
            </a:r>
            <a:endParaRPr lang="en-US" sz="961" dirty="0"/>
          </a:p>
        </p:txBody>
      </p:sp>
      <p:sp>
        <p:nvSpPr>
          <p:cNvPr id="26" name="Text 23"/>
          <p:cNvSpPr/>
          <p:nvPr/>
        </p:nvSpPr>
        <p:spPr>
          <a:xfrm>
            <a:off x="7833182" y="3463054"/>
            <a:ext cx="195263"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Ok</a:t>
            </a:r>
            <a:endParaRPr lang="en-US" sz="961" dirty="0"/>
          </a:p>
        </p:txBody>
      </p:sp>
      <p:sp>
        <p:nvSpPr>
          <p:cNvPr id="27" name="Shape 24"/>
          <p:cNvSpPr/>
          <p:nvPr/>
        </p:nvSpPr>
        <p:spPr>
          <a:xfrm>
            <a:off x="2309813" y="3782560"/>
            <a:ext cx="6434138" cy="455384"/>
          </a:xfrm>
          <a:prstGeom prst="rect">
            <a:avLst/>
          </a:prstGeom>
          <a:solidFill>
            <a:srgbClr val="FFFFFF"/>
          </a:solidFill>
          <a:ln/>
        </p:spPr>
      </p:sp>
      <p:sp>
        <p:nvSpPr>
          <p:cNvPr id="28" name="Text 25"/>
          <p:cNvSpPr/>
          <p:nvPr/>
        </p:nvSpPr>
        <p:spPr>
          <a:xfrm>
            <a:off x="2574229" y="3914766"/>
            <a:ext cx="795338"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Time of Day</a:t>
            </a:r>
            <a:endParaRPr lang="en-US" sz="961" dirty="0"/>
          </a:p>
        </p:txBody>
      </p:sp>
      <p:sp>
        <p:nvSpPr>
          <p:cNvPr id="29" name="Text 26"/>
          <p:cNvSpPr/>
          <p:nvPr/>
        </p:nvSpPr>
        <p:spPr>
          <a:xfrm>
            <a:off x="5177998" y="3914766"/>
            <a:ext cx="1528763"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Day/night Lighting set</a:t>
            </a:r>
            <a:endParaRPr lang="en-US" sz="961" dirty="0"/>
          </a:p>
        </p:txBody>
      </p:sp>
      <p:sp>
        <p:nvSpPr>
          <p:cNvPr id="30" name="Text 27"/>
          <p:cNvSpPr/>
          <p:nvPr/>
        </p:nvSpPr>
        <p:spPr>
          <a:xfrm>
            <a:off x="7833182" y="3914766"/>
            <a:ext cx="195263" cy="190500"/>
          </a:xfrm>
          <a:prstGeom prst="rect">
            <a:avLst/>
          </a:prstGeom>
          <a:noFill/>
          <a:ln/>
        </p:spPr>
        <p:txBody>
          <a:bodyPr wrap="square" lIns="0" tIns="0" rIns="0" bIns="0" rtlCol="0" anchor="t"/>
          <a:lstStyle/>
          <a:p>
            <a:pPr algn="l" indent="0" marL="0">
              <a:lnSpc>
                <a:spcPts val="1442"/>
              </a:lnSpc>
              <a:buNone/>
            </a:pPr>
            <a:r>
              <a:rPr lang="en-US" sz="961" spc="67" kern="0" dirty="0">
                <a:solidFill>
                  <a:srgbClr val="000000">
                    <a:alpha val="99000"/>
                  </a:srgbClr>
                </a:solidFill>
                <a:latin typeface="Plus Jakarta Sans" pitchFamily="34" charset="0"/>
                <a:ea typeface="Plus Jakarta Sans" pitchFamily="34" charset="-122"/>
                <a:cs typeface="Plus Jakarta Sans" pitchFamily="34" charset="-120"/>
              </a:rPr>
              <a:t>Ok</a:t>
            </a:r>
            <a:endParaRPr lang="en-US" sz="961" dirty="0"/>
          </a:p>
        </p:txBody>
      </p:sp>
      <p:sp>
        <p:nvSpPr>
          <p:cNvPr id="31" name="Text 28"/>
          <p:cNvSpPr/>
          <p:nvPr/>
        </p:nvSpPr>
        <p:spPr>
          <a:xfrm>
            <a:off x="874395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45</a:t>
            </a:r>
            <a:endParaRPr lang="en-US" sz="85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457200" y="695325"/>
            <a:ext cx="4681538" cy="1100138"/>
          </a:xfrm>
          <a:prstGeom prst="rect">
            <a:avLst/>
          </a:prstGeom>
          <a:noFill/>
          <a:ln/>
        </p:spPr>
        <p:txBody>
          <a:bodyPr wrap="square" lIns="0" tIns="0" rIns="0" bIns="0" rtlCol="0" anchor="t"/>
          <a:lstStyle/>
          <a:p>
            <a:pPr algn="l" indent="0" marL="0">
              <a:lnSpc>
                <a:spcPts val="2743"/>
              </a:lnSpc>
              <a:buNone/>
            </a:pPr>
            <a:r>
              <a:rPr lang="en-US" sz="2494" b="1" spc="-55" kern="0" dirty="0">
                <a:solidFill>
                  <a:srgbClr val="000000">
                    <a:alpha val="99000"/>
                  </a:srgbClr>
                </a:solidFill>
                <a:latin typeface="Plus Jakarta Sans" pitchFamily="34" charset="0"/>
                <a:ea typeface="Plus Jakarta Sans" pitchFamily="34" charset="-122"/>
                <a:cs typeface="Plus Jakarta Sans" pitchFamily="34" charset="-120"/>
              </a:rPr>
              <a:t>Planned measures:</a:t>
            </a:r>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  EXPERT SCORING FOR QUALITY  (ACCEPTABLE: 16/20)</a:t>
            </a:r>
            <a:endParaRPr lang="en-US" sz="2494" dirty="0"/>
          </a:p>
        </p:txBody>
      </p:sp>
      <p:sp>
        <p:nvSpPr>
          <p:cNvPr id="5" name="Text 2"/>
          <p:cNvSpPr/>
          <p:nvPr/>
        </p:nvSpPr>
        <p:spPr>
          <a:xfrm>
            <a:off x="8772525" y="48148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46</a:t>
            </a:r>
            <a:endParaRPr lang="en-US" sz="855" dirty="0"/>
          </a:p>
        </p:txBody>
      </p:sp>
      <p:sp>
        <p:nvSpPr>
          <p:cNvPr id="6" name="Shape 3"/>
          <p:cNvSpPr/>
          <p:nvPr/>
        </p:nvSpPr>
        <p:spPr>
          <a:xfrm>
            <a:off x="676275" y="2357438"/>
            <a:ext cx="7794082" cy="361161"/>
          </a:xfrm>
          <a:prstGeom prst="rect">
            <a:avLst/>
          </a:prstGeom>
          <a:solidFill>
            <a:srgbClr val="F5F1E9"/>
          </a:solidFill>
          <a:ln/>
        </p:spPr>
      </p:sp>
      <p:sp>
        <p:nvSpPr>
          <p:cNvPr id="7" name="Shape 4"/>
          <p:cNvSpPr/>
          <p:nvPr/>
        </p:nvSpPr>
        <p:spPr>
          <a:xfrm>
            <a:off x="676275" y="2715685"/>
            <a:ext cx="7794082" cy="361161"/>
          </a:xfrm>
          <a:prstGeom prst="rect">
            <a:avLst/>
          </a:prstGeom>
          <a:solidFill>
            <a:srgbClr val="FFFFFF"/>
          </a:solidFill>
          <a:ln/>
        </p:spPr>
      </p:sp>
      <p:sp>
        <p:nvSpPr>
          <p:cNvPr id="8" name="Shape 5"/>
          <p:cNvSpPr/>
          <p:nvPr/>
        </p:nvSpPr>
        <p:spPr>
          <a:xfrm>
            <a:off x="676275" y="3073924"/>
            <a:ext cx="7794082" cy="361161"/>
          </a:xfrm>
          <a:prstGeom prst="rect">
            <a:avLst/>
          </a:prstGeom>
          <a:solidFill>
            <a:srgbClr val="F6F6F6"/>
          </a:solidFill>
          <a:ln/>
        </p:spPr>
      </p:sp>
      <p:sp>
        <p:nvSpPr>
          <p:cNvPr id="9" name="Shape 6"/>
          <p:cNvSpPr/>
          <p:nvPr/>
        </p:nvSpPr>
        <p:spPr>
          <a:xfrm>
            <a:off x="676275" y="3432191"/>
            <a:ext cx="7794082" cy="361161"/>
          </a:xfrm>
          <a:prstGeom prst="rect">
            <a:avLst/>
          </a:prstGeom>
          <a:solidFill>
            <a:srgbClr val="FFFFFF"/>
          </a:solidFill>
          <a:ln/>
        </p:spPr>
      </p:sp>
      <p:sp>
        <p:nvSpPr>
          <p:cNvPr id="10" name="Shape 7"/>
          <p:cNvSpPr/>
          <p:nvPr/>
        </p:nvSpPr>
        <p:spPr>
          <a:xfrm>
            <a:off x="676275" y="3790429"/>
            <a:ext cx="7794082" cy="361161"/>
          </a:xfrm>
          <a:prstGeom prst="rect">
            <a:avLst/>
          </a:prstGeom>
          <a:solidFill>
            <a:srgbClr val="F6F6F6"/>
          </a:solidFill>
          <a:ln/>
        </p:spPr>
      </p:sp>
      <p:sp>
        <p:nvSpPr>
          <p:cNvPr id="11" name="Text 8"/>
          <p:cNvSpPr/>
          <p:nvPr/>
        </p:nvSpPr>
        <p:spPr>
          <a:xfrm>
            <a:off x="1040341" y="2462315"/>
            <a:ext cx="423863" cy="152400"/>
          </a:xfrm>
          <a:prstGeom prst="rect">
            <a:avLst/>
          </a:prstGeom>
          <a:noFill/>
          <a:ln/>
        </p:spPr>
        <p:txBody>
          <a:bodyPr wrap="square" lIns="0" tIns="0" rIns="0" bIns="0" rtlCol="0" anchor="t"/>
          <a:lstStyle/>
          <a:p>
            <a:pPr algn="l" indent="0" marL="0">
              <a:lnSpc>
                <a:spcPts val="1144"/>
              </a:lnSpc>
              <a:buNone/>
            </a:pPr>
            <a:r>
              <a:rPr lang="en-US" sz="763" b="1" spc="53" kern="0" dirty="0">
                <a:solidFill>
                  <a:srgbClr val="000000">
                    <a:alpha val="99000"/>
                  </a:srgbClr>
                </a:solidFill>
                <a:latin typeface="Plus Jakarta Sans" pitchFamily="34" charset="0"/>
                <a:ea typeface="Plus Jakarta Sans" pitchFamily="34" charset="-122"/>
                <a:cs typeface="Plus Jakarta Sans" pitchFamily="34" charset="-120"/>
              </a:rPr>
              <a:t>Criteria</a:t>
            </a:r>
            <a:endParaRPr lang="en-US" sz="763" dirty="0"/>
          </a:p>
        </p:txBody>
      </p:sp>
      <p:sp>
        <p:nvSpPr>
          <p:cNvPr id="12" name="Text 9"/>
          <p:cNvSpPr/>
          <p:nvPr/>
        </p:nvSpPr>
        <p:spPr>
          <a:xfrm>
            <a:off x="1040341" y="2820563"/>
            <a:ext cx="557213"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Feasibility</a:t>
            </a:r>
            <a:endParaRPr lang="en-US" sz="763" dirty="0"/>
          </a:p>
        </p:txBody>
      </p:sp>
      <p:sp>
        <p:nvSpPr>
          <p:cNvPr id="13" name="Text 10"/>
          <p:cNvSpPr/>
          <p:nvPr/>
        </p:nvSpPr>
        <p:spPr>
          <a:xfrm>
            <a:off x="1040341" y="3178801"/>
            <a:ext cx="681038"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Consistency</a:t>
            </a:r>
            <a:endParaRPr lang="en-US" sz="763" dirty="0"/>
          </a:p>
        </p:txBody>
      </p:sp>
      <p:sp>
        <p:nvSpPr>
          <p:cNvPr id="14" name="Text 11"/>
          <p:cNvSpPr/>
          <p:nvPr/>
        </p:nvSpPr>
        <p:spPr>
          <a:xfrm>
            <a:off x="1040341" y="3537049"/>
            <a:ext cx="800100"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Completeness</a:t>
            </a:r>
            <a:endParaRPr lang="en-US" sz="763" dirty="0"/>
          </a:p>
        </p:txBody>
      </p:sp>
      <p:sp>
        <p:nvSpPr>
          <p:cNvPr id="15" name="Text 12"/>
          <p:cNvSpPr/>
          <p:nvPr/>
        </p:nvSpPr>
        <p:spPr>
          <a:xfrm>
            <a:off x="1040341" y="3895306"/>
            <a:ext cx="561975"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Relevance</a:t>
            </a:r>
            <a:endParaRPr lang="en-US" sz="763" dirty="0"/>
          </a:p>
        </p:txBody>
      </p:sp>
      <p:sp>
        <p:nvSpPr>
          <p:cNvPr id="16" name="Text 13"/>
          <p:cNvSpPr/>
          <p:nvPr/>
        </p:nvSpPr>
        <p:spPr>
          <a:xfrm>
            <a:off x="2974298" y="2462315"/>
            <a:ext cx="404813" cy="152400"/>
          </a:xfrm>
          <a:prstGeom prst="rect">
            <a:avLst/>
          </a:prstGeom>
          <a:noFill/>
          <a:ln/>
        </p:spPr>
        <p:txBody>
          <a:bodyPr wrap="square" lIns="0" tIns="0" rIns="0" bIns="0" rtlCol="0" anchor="t"/>
          <a:lstStyle/>
          <a:p>
            <a:pPr algn="l" indent="0" marL="0">
              <a:lnSpc>
                <a:spcPts val="1144"/>
              </a:lnSpc>
              <a:buNone/>
            </a:pPr>
            <a:r>
              <a:rPr lang="en-US" sz="763" b="1" spc="53" kern="0" dirty="0">
                <a:solidFill>
                  <a:srgbClr val="000000">
                    <a:alpha val="99000"/>
                  </a:srgbClr>
                </a:solidFill>
                <a:latin typeface="Plus Jakarta Sans" pitchFamily="34" charset="0"/>
                <a:ea typeface="Plus Jakarta Sans" pitchFamily="34" charset="-122"/>
                <a:cs typeface="Plus Jakarta Sans" pitchFamily="34" charset="-120"/>
              </a:rPr>
              <a:t>1(poor)</a:t>
            </a:r>
            <a:endParaRPr lang="en-US" sz="763" dirty="0"/>
          </a:p>
        </p:txBody>
      </p:sp>
      <p:sp>
        <p:nvSpPr>
          <p:cNvPr id="17" name="Text 14"/>
          <p:cNvSpPr/>
          <p:nvPr/>
        </p:nvSpPr>
        <p:spPr>
          <a:xfrm>
            <a:off x="2974298" y="2820563"/>
            <a:ext cx="1028700"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Not possible in sim</a:t>
            </a:r>
            <a:endParaRPr lang="en-US" sz="763" dirty="0"/>
          </a:p>
        </p:txBody>
      </p:sp>
      <p:sp>
        <p:nvSpPr>
          <p:cNvPr id="18" name="Text 15"/>
          <p:cNvSpPr/>
          <p:nvPr/>
        </p:nvSpPr>
        <p:spPr>
          <a:xfrm>
            <a:off x="2974298" y="3178801"/>
            <a:ext cx="823913"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Contradictions</a:t>
            </a:r>
            <a:endParaRPr lang="en-US" sz="763" dirty="0"/>
          </a:p>
        </p:txBody>
      </p:sp>
      <p:sp>
        <p:nvSpPr>
          <p:cNvPr id="19" name="Text 16"/>
          <p:cNvSpPr/>
          <p:nvPr/>
        </p:nvSpPr>
        <p:spPr>
          <a:xfrm>
            <a:off x="2974298" y="3537049"/>
            <a:ext cx="942975"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Missing elements</a:t>
            </a:r>
            <a:endParaRPr lang="en-US" sz="763" dirty="0"/>
          </a:p>
        </p:txBody>
      </p:sp>
      <p:sp>
        <p:nvSpPr>
          <p:cNvPr id="20" name="Text 17"/>
          <p:cNvSpPr/>
          <p:nvPr/>
        </p:nvSpPr>
        <p:spPr>
          <a:xfrm>
            <a:off x="2974298" y="3895306"/>
            <a:ext cx="919162"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No match to task</a:t>
            </a:r>
            <a:endParaRPr lang="en-US" sz="763" dirty="0"/>
          </a:p>
        </p:txBody>
      </p:sp>
      <p:sp>
        <p:nvSpPr>
          <p:cNvPr id="21" name="Text 18"/>
          <p:cNvSpPr/>
          <p:nvPr/>
        </p:nvSpPr>
        <p:spPr>
          <a:xfrm>
            <a:off x="5138351" y="2462315"/>
            <a:ext cx="700088" cy="152400"/>
          </a:xfrm>
          <a:prstGeom prst="rect">
            <a:avLst/>
          </a:prstGeom>
          <a:noFill/>
          <a:ln/>
        </p:spPr>
        <p:txBody>
          <a:bodyPr wrap="square" lIns="0" tIns="0" rIns="0" bIns="0" rtlCol="0" anchor="t"/>
          <a:lstStyle/>
          <a:p>
            <a:pPr algn="l" indent="0" marL="0">
              <a:lnSpc>
                <a:spcPts val="1144"/>
              </a:lnSpc>
              <a:buNone/>
            </a:pPr>
            <a:r>
              <a:rPr lang="en-US" sz="763" b="1" spc="53" kern="0" dirty="0">
                <a:solidFill>
                  <a:srgbClr val="000000">
                    <a:alpha val="99000"/>
                  </a:srgbClr>
                </a:solidFill>
                <a:latin typeface="Plus Jakarta Sans" pitchFamily="34" charset="0"/>
                <a:ea typeface="Plus Jakarta Sans" pitchFamily="34" charset="-122"/>
                <a:cs typeface="Plus Jakarta Sans" pitchFamily="34" charset="-120"/>
              </a:rPr>
              <a:t>3(Moderate)</a:t>
            </a:r>
            <a:endParaRPr lang="en-US" sz="763" dirty="0"/>
          </a:p>
        </p:txBody>
      </p:sp>
      <p:sp>
        <p:nvSpPr>
          <p:cNvPr id="22" name="Text 19"/>
          <p:cNvSpPr/>
          <p:nvPr/>
        </p:nvSpPr>
        <p:spPr>
          <a:xfrm>
            <a:off x="5138351" y="2820563"/>
            <a:ext cx="681038"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Some issues</a:t>
            </a:r>
            <a:endParaRPr lang="en-US" sz="763" dirty="0"/>
          </a:p>
        </p:txBody>
      </p:sp>
      <p:sp>
        <p:nvSpPr>
          <p:cNvPr id="23" name="Text 20"/>
          <p:cNvSpPr/>
          <p:nvPr/>
        </p:nvSpPr>
        <p:spPr>
          <a:xfrm>
            <a:off x="5138351" y="3178801"/>
            <a:ext cx="666750"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Minor issues</a:t>
            </a:r>
            <a:endParaRPr lang="en-US" sz="763" dirty="0"/>
          </a:p>
        </p:txBody>
      </p:sp>
      <p:sp>
        <p:nvSpPr>
          <p:cNvPr id="24" name="Text 21"/>
          <p:cNvSpPr/>
          <p:nvPr/>
        </p:nvSpPr>
        <p:spPr>
          <a:xfrm>
            <a:off x="5138351" y="3537049"/>
            <a:ext cx="295275"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Parial</a:t>
            </a:r>
            <a:endParaRPr lang="en-US" sz="763" dirty="0"/>
          </a:p>
        </p:txBody>
      </p:sp>
      <p:sp>
        <p:nvSpPr>
          <p:cNvPr id="25" name="Text 22"/>
          <p:cNvSpPr/>
          <p:nvPr/>
        </p:nvSpPr>
        <p:spPr>
          <a:xfrm>
            <a:off x="5138351" y="3895306"/>
            <a:ext cx="914400"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Partial alignment</a:t>
            </a:r>
            <a:endParaRPr lang="en-US" sz="763" dirty="0"/>
          </a:p>
        </p:txBody>
      </p:sp>
      <p:sp>
        <p:nvSpPr>
          <p:cNvPr id="26" name="Text 23"/>
          <p:cNvSpPr/>
          <p:nvPr/>
        </p:nvSpPr>
        <p:spPr>
          <a:xfrm>
            <a:off x="7188812" y="2462315"/>
            <a:ext cx="676275" cy="152400"/>
          </a:xfrm>
          <a:prstGeom prst="rect">
            <a:avLst/>
          </a:prstGeom>
          <a:noFill/>
          <a:ln/>
        </p:spPr>
        <p:txBody>
          <a:bodyPr wrap="square" lIns="0" tIns="0" rIns="0" bIns="0" rtlCol="0" anchor="t"/>
          <a:lstStyle/>
          <a:p>
            <a:pPr algn="l" indent="0" marL="0">
              <a:lnSpc>
                <a:spcPts val="1144"/>
              </a:lnSpc>
              <a:buNone/>
            </a:pPr>
            <a:r>
              <a:rPr lang="en-US" sz="763" b="1" spc="53" kern="0" dirty="0">
                <a:solidFill>
                  <a:srgbClr val="000000">
                    <a:alpha val="99000"/>
                  </a:srgbClr>
                </a:solidFill>
                <a:latin typeface="Plus Jakarta Sans" pitchFamily="34" charset="0"/>
                <a:ea typeface="Plus Jakarta Sans" pitchFamily="34" charset="-122"/>
                <a:cs typeface="Plus Jakarta Sans" pitchFamily="34" charset="-120"/>
              </a:rPr>
              <a:t>5(Excellent)</a:t>
            </a:r>
            <a:endParaRPr lang="en-US" sz="763" dirty="0"/>
          </a:p>
        </p:txBody>
      </p:sp>
      <p:sp>
        <p:nvSpPr>
          <p:cNvPr id="27" name="Text 24"/>
          <p:cNvSpPr/>
          <p:nvPr/>
        </p:nvSpPr>
        <p:spPr>
          <a:xfrm>
            <a:off x="7188812" y="2820563"/>
            <a:ext cx="806787"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Fully feasible</a:t>
            </a:r>
            <a:endParaRPr lang="en-US" sz="763" dirty="0"/>
          </a:p>
        </p:txBody>
      </p:sp>
      <p:sp>
        <p:nvSpPr>
          <p:cNvPr id="28" name="Text 25"/>
          <p:cNvSpPr/>
          <p:nvPr/>
        </p:nvSpPr>
        <p:spPr>
          <a:xfrm>
            <a:off x="7188812" y="3178801"/>
            <a:ext cx="914552"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Fully coherent</a:t>
            </a:r>
            <a:endParaRPr lang="en-US" sz="763" dirty="0"/>
          </a:p>
        </p:txBody>
      </p:sp>
      <p:sp>
        <p:nvSpPr>
          <p:cNvPr id="29" name="Text 26"/>
          <p:cNvSpPr/>
          <p:nvPr/>
        </p:nvSpPr>
        <p:spPr>
          <a:xfrm>
            <a:off x="7188812" y="3537049"/>
            <a:ext cx="771836"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All present</a:t>
            </a:r>
            <a:endParaRPr lang="en-US" sz="763" dirty="0"/>
          </a:p>
        </p:txBody>
      </p:sp>
      <p:sp>
        <p:nvSpPr>
          <p:cNvPr id="30" name="Text 27"/>
          <p:cNvSpPr/>
          <p:nvPr/>
        </p:nvSpPr>
        <p:spPr>
          <a:xfrm>
            <a:off x="7188812" y="3895306"/>
            <a:ext cx="914552" cy="152400"/>
          </a:xfrm>
          <a:prstGeom prst="rect">
            <a:avLst/>
          </a:prstGeom>
          <a:noFill/>
          <a:ln/>
        </p:spPr>
        <p:txBody>
          <a:bodyPr wrap="square" lIns="0" tIns="0" rIns="0" bIns="0" rtlCol="0" anchor="t"/>
          <a:lstStyle/>
          <a:p>
            <a:pPr algn="l" indent="0" marL="0">
              <a:lnSpc>
                <a:spcPts val="1144"/>
              </a:lnSpc>
              <a:buNone/>
            </a:pPr>
            <a:r>
              <a:rPr lang="en-US" sz="763" spc="53" kern="0" dirty="0">
                <a:solidFill>
                  <a:srgbClr val="000000">
                    <a:alpha val="99000"/>
                  </a:srgbClr>
                </a:solidFill>
                <a:latin typeface="Plus Jakarta Sans" pitchFamily="34" charset="0"/>
                <a:ea typeface="Plus Jakarta Sans" pitchFamily="34" charset="-122"/>
                <a:cs typeface="Plus Jakarta Sans" pitchFamily="34" charset="-120"/>
              </a:rPr>
              <a:t>Fully aligned</a:t>
            </a:r>
            <a:endParaRPr lang="en-US" sz="763" dirty="0"/>
          </a:p>
        </p:txBody>
      </p:sp>
      <p:sp>
        <p:nvSpPr>
          <p:cNvPr id="31" name="Text 28"/>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32" name="Text 29"/>
          <p:cNvSpPr/>
          <p:nvPr/>
        </p:nvSpPr>
        <p:spPr>
          <a:xfrm>
            <a:off x="7053263" y="76200"/>
            <a:ext cx="200025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457200" y="695325"/>
            <a:ext cx="3495675" cy="733425"/>
          </a:xfrm>
          <a:prstGeom prst="rect">
            <a:avLst/>
          </a:prstGeom>
          <a:noFill/>
          <a:ln/>
        </p:spPr>
        <p:txBody>
          <a:bodyPr wrap="square" lIns="0" tIns="0" rIns="0" bIns="0" rtlCol="0" anchor="t"/>
          <a:lstStyle/>
          <a:p>
            <a:pPr algn="l" indent="0" marL="0">
              <a:lnSpc>
                <a:spcPts val="2743"/>
              </a:lnSpc>
              <a:buNone/>
            </a:pPr>
            <a:r>
              <a:rPr lang="en-US" sz="2494" b="1" spc="-55" kern="0" dirty="0">
                <a:solidFill>
                  <a:srgbClr val="000000">
                    <a:alpha val="99000"/>
                  </a:srgbClr>
                </a:solidFill>
                <a:latin typeface="Plus Jakarta Sans" pitchFamily="34" charset="0"/>
                <a:ea typeface="Plus Jakarta Sans" pitchFamily="34" charset="-122"/>
                <a:cs typeface="Plus Jakarta Sans" pitchFamily="34" charset="-120"/>
              </a:rPr>
              <a:t>Planned measures:</a:t>
            </a:r>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 Task Completion Time</a:t>
            </a:r>
            <a:endParaRPr lang="en-US" sz="2494" dirty="0"/>
          </a:p>
        </p:txBody>
      </p:sp>
      <p:sp>
        <p:nvSpPr>
          <p:cNvPr id="5" name="Text 2"/>
          <p:cNvSpPr/>
          <p:nvPr/>
        </p:nvSpPr>
        <p:spPr>
          <a:xfrm>
            <a:off x="8772525" y="48148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47</a:t>
            </a:r>
            <a:endParaRPr lang="en-US" sz="855" dirty="0"/>
          </a:p>
        </p:txBody>
      </p:sp>
      <p:sp>
        <p:nvSpPr>
          <p:cNvPr id="6" name="Shape 3"/>
          <p:cNvSpPr/>
          <p:nvPr/>
        </p:nvSpPr>
        <p:spPr>
          <a:xfrm>
            <a:off x="619125" y="1900238"/>
            <a:ext cx="2371725" cy="2714625"/>
          </a:xfrm>
          <a:prstGeom prst="roundRect">
            <a:avLst/>
          </a:prstGeom>
          <a:solidFill>
            <a:srgbClr val="F5F1E9"/>
          </a:solidFill>
          <a:ln/>
        </p:spPr>
      </p:sp>
      <p:sp>
        <p:nvSpPr>
          <p:cNvPr id="7" name="Text 4"/>
          <p:cNvSpPr/>
          <p:nvPr/>
        </p:nvSpPr>
        <p:spPr>
          <a:xfrm>
            <a:off x="952500" y="2862263"/>
            <a:ext cx="1863690" cy="448567"/>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Instrument: </a:t>
            </a:r>
            <a:endParaRPr lang="en-US" sz="1247" dirty="0"/>
          </a:p>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Session Timer</a:t>
            </a:r>
            <a:endParaRPr lang="en-US" sz="1247" dirty="0"/>
          </a:p>
        </p:txBody>
      </p:sp>
      <p:sp>
        <p:nvSpPr>
          <p:cNvPr id="8" name="Shape 5"/>
          <p:cNvSpPr/>
          <p:nvPr/>
        </p:nvSpPr>
        <p:spPr>
          <a:xfrm>
            <a:off x="3595688" y="1900238"/>
            <a:ext cx="2371725" cy="2714625"/>
          </a:xfrm>
          <a:prstGeom prst="roundRect">
            <a:avLst/>
          </a:prstGeom>
          <a:solidFill>
            <a:srgbClr val="F5F1E9"/>
          </a:solidFill>
          <a:ln/>
        </p:spPr>
      </p:sp>
      <p:sp>
        <p:nvSpPr>
          <p:cNvPr id="9" name="Text 6"/>
          <p:cNvSpPr/>
          <p:nvPr/>
        </p:nvSpPr>
        <p:spPr>
          <a:xfrm>
            <a:off x="3848100" y="2147888"/>
            <a:ext cx="1863690" cy="448567"/>
          </a:xfrm>
          <a:prstGeom prst="rect">
            <a:avLst/>
          </a:prstGeom>
          <a:noFill/>
          <a:ln/>
        </p:spPr>
        <p:txBody>
          <a:bodyPr wrap="square" lIns="0" tIns="0" rIns="0" bIns="0" rtlCol="0" anchor="t"/>
          <a:lstStyle/>
          <a:p>
            <a:pPr algn="l" indent="0" marL="0">
              <a:lnSpc>
                <a:spcPts val="1710"/>
              </a:lnSpc>
              <a:buNone/>
            </a:pPr>
            <a:r>
              <a:rPr lang="en-US" sz="1140" spc="80" kern="0" dirty="0">
                <a:solidFill>
                  <a:srgbClr val="000000">
                    <a:alpha val="99000"/>
                  </a:srgbClr>
                </a:solidFill>
                <a:latin typeface="Plus Jakarta Sans" pitchFamily="34" charset="0"/>
                <a:ea typeface="Plus Jakarta Sans" pitchFamily="34" charset="-122"/>
                <a:cs typeface="Plus Jakarta Sans" pitchFamily="34" charset="-120"/>
              </a:rPr>
              <a:t>A stopwatch or screen recording timestamp measuring the duration from the participant's first interaction with the tool to the moment they click "Export .xosc".</a:t>
            </a:r>
            <a:endParaRPr lang="en-US" sz="1140" dirty="0"/>
          </a:p>
        </p:txBody>
      </p:sp>
      <p:sp>
        <p:nvSpPr>
          <p:cNvPr id="10" name="Shape 7"/>
          <p:cNvSpPr/>
          <p:nvPr/>
        </p:nvSpPr>
        <p:spPr>
          <a:xfrm>
            <a:off x="3519488" y="1900238"/>
            <a:ext cx="2371725" cy="2714625"/>
          </a:xfrm>
          <a:prstGeom prst="roundRect">
            <a:avLst/>
          </a:prstGeom>
          <a:solidFill>
            <a:srgbClr val="F5F1E9"/>
          </a:solidFill>
          <a:ln/>
        </p:spPr>
      </p:sp>
      <p:sp>
        <p:nvSpPr>
          <p:cNvPr id="11" name="Text 8"/>
          <p:cNvSpPr/>
          <p:nvPr/>
        </p:nvSpPr>
        <p:spPr>
          <a:xfrm>
            <a:off x="3771900" y="2147888"/>
            <a:ext cx="1863690" cy="448567"/>
          </a:xfrm>
          <a:prstGeom prst="rect">
            <a:avLst/>
          </a:prstGeom>
          <a:noFill/>
          <a:ln/>
        </p:spPr>
        <p:txBody>
          <a:bodyPr wrap="square" lIns="0" tIns="0" rIns="0" bIns="0" rtlCol="0" anchor="t"/>
          <a:lstStyle/>
          <a:p>
            <a:pPr algn="l" indent="0" marL="0">
              <a:lnSpc>
                <a:spcPts val="1657"/>
              </a:lnSpc>
              <a:buNone/>
            </a:pPr>
            <a:r>
              <a:rPr lang="en-US" sz="1104" spc="77" kern="0" dirty="0">
                <a:solidFill>
                  <a:srgbClr val="000000">
                    <a:alpha val="99000"/>
                  </a:srgbClr>
                </a:solidFill>
                <a:latin typeface="Plus Jakarta Sans" pitchFamily="34" charset="0"/>
                <a:ea typeface="Plus Jakarta Sans" pitchFamily="34" charset="-122"/>
                <a:cs typeface="Plus Jakarta Sans" pitchFamily="34" charset="-120"/>
              </a:rPr>
              <a:t>A stopwatch or screen recording timestamp measuring the duration from the participant's first interaction with the tool to the moment they click "Export .xosc".</a:t>
            </a:r>
            <a:endParaRPr lang="en-US" sz="1104" dirty="0"/>
          </a:p>
        </p:txBody>
      </p:sp>
      <p:sp>
        <p:nvSpPr>
          <p:cNvPr id="12" name="Shape 9"/>
          <p:cNvSpPr/>
          <p:nvPr/>
        </p:nvSpPr>
        <p:spPr>
          <a:xfrm>
            <a:off x="6415088" y="1900238"/>
            <a:ext cx="2371725" cy="2714625"/>
          </a:xfrm>
          <a:prstGeom prst="roundRect">
            <a:avLst/>
          </a:prstGeom>
          <a:solidFill>
            <a:srgbClr val="F5F1E9"/>
          </a:solidFill>
          <a:ln/>
        </p:spPr>
      </p:sp>
      <p:sp>
        <p:nvSpPr>
          <p:cNvPr id="13" name="Text 10"/>
          <p:cNvSpPr/>
          <p:nvPr/>
        </p:nvSpPr>
        <p:spPr>
          <a:xfrm>
            <a:off x="6667500" y="2147888"/>
            <a:ext cx="1863690" cy="448567"/>
          </a:xfrm>
          <a:prstGeom prst="rect">
            <a:avLst/>
          </a:prstGeom>
          <a:noFill/>
          <a:ln/>
        </p:spPr>
        <p:txBody>
          <a:bodyPr wrap="square" lIns="0" tIns="0" rIns="0" bIns="0" rtlCol="0" anchor="t"/>
          <a:lstStyle/>
          <a:p>
            <a:pPr algn="l" indent="0" marL="0">
              <a:lnSpc>
                <a:spcPts val="1657"/>
              </a:lnSpc>
              <a:buNone/>
            </a:pPr>
            <a:r>
              <a:rPr lang="en-US" sz="1104" spc="77" kern="0" dirty="0">
                <a:solidFill>
                  <a:srgbClr val="000000">
                    <a:alpha val="99000"/>
                  </a:srgbClr>
                </a:solidFill>
                <a:latin typeface="Plus Jakarta Sans" pitchFamily="34" charset="0"/>
                <a:ea typeface="Plus Jakarta Sans" pitchFamily="34" charset="-122"/>
                <a:cs typeface="Plus Jakarta Sans" pitchFamily="34" charset="-120"/>
              </a:rPr>
              <a:t>If a participant does not complete the task, time-on-task is recorded up to the session cutoff and flagged as incomplete. This metric is observer-logged, not self-reported.</a:t>
            </a:r>
            <a:endParaRPr lang="en-US" sz="1104" dirty="0"/>
          </a:p>
        </p:txBody>
      </p:sp>
      <p:sp>
        <p:nvSpPr>
          <p:cNvPr id="14" name="Text 11"/>
          <p:cNvSpPr/>
          <p:nvPr/>
        </p:nvSpPr>
        <p:spPr>
          <a:xfrm>
            <a:off x="90488" y="76200"/>
            <a:ext cx="62579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DESIGN SKETCH</a:t>
            </a:r>
            <a:endParaRPr lang="en-US" sz="784" dirty="0"/>
          </a:p>
        </p:txBody>
      </p:sp>
      <p:sp>
        <p:nvSpPr>
          <p:cNvPr id="15" name="Text 12"/>
          <p:cNvSpPr/>
          <p:nvPr/>
        </p:nvSpPr>
        <p:spPr>
          <a:xfrm>
            <a:off x="8062913" y="76200"/>
            <a:ext cx="99060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COURTNEY HUCK</a:t>
            </a:r>
            <a:endParaRPr lang="en-US" sz="784"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1366838" y="528638"/>
            <a:ext cx="6410325" cy="366713"/>
          </a:xfrm>
          <a:prstGeom prst="rect">
            <a:avLst/>
          </a:prstGeom>
          <a:noFill/>
          <a:ln/>
        </p:spPr>
        <p:txBody>
          <a:bodyPr wrap="square" lIns="0" tIns="0" rIns="0" bIns="0" rtlCol="0" anchor="t"/>
          <a:lstStyle/>
          <a:p>
            <a:pPr algn="l" indent="0" marL="0">
              <a:lnSpc>
                <a:spcPts val="2743"/>
              </a:lnSpc>
              <a:buNone/>
            </a:pPr>
            <a:r>
              <a:rPr lang="en-US" sz="2494" b="1" spc="-55" kern="0" dirty="0">
                <a:solidFill>
                  <a:srgbClr val="000000">
                    <a:alpha val="99000"/>
                  </a:srgbClr>
                </a:solidFill>
                <a:latin typeface="Plus Jakarta Sans" pitchFamily="34" charset="0"/>
                <a:ea typeface="Plus Jakarta Sans" pitchFamily="34" charset="-122"/>
                <a:cs typeface="Plus Jakarta Sans" pitchFamily="34" charset="-120"/>
              </a:rPr>
              <a:t>Planned measures:</a:t>
            </a:r>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 Trust - Likert Scale</a:t>
            </a:r>
            <a:endParaRPr lang="en-US" sz="2494" dirty="0"/>
          </a:p>
        </p:txBody>
      </p:sp>
      <p:sp>
        <p:nvSpPr>
          <p:cNvPr id="5" name="Text 2"/>
          <p:cNvSpPr/>
          <p:nvPr/>
        </p:nvSpPr>
        <p:spPr>
          <a:xfrm>
            <a:off x="8772525" y="48148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47</a:t>
            </a:r>
            <a:endParaRPr lang="en-US" sz="855" dirty="0"/>
          </a:p>
        </p:txBody>
      </p:sp>
      <p:sp>
        <p:nvSpPr>
          <p:cNvPr id="6" name="Text 3"/>
          <p:cNvSpPr/>
          <p:nvPr/>
        </p:nvSpPr>
        <p:spPr>
          <a:xfrm>
            <a:off x="514350" y="1238250"/>
            <a:ext cx="7643813" cy="571500"/>
          </a:xfrm>
          <a:prstGeom prst="rect">
            <a:avLst/>
          </a:prstGeom>
          <a:noFill/>
          <a:ln/>
        </p:spPr>
        <p:txBody>
          <a:bodyPr wrap="square" lIns="0" tIns="0" rIns="0" bIns="0" rtlCol="0" anchor="ctr"/>
          <a:lstStyle/>
          <a:p>
            <a:pPr algn="l" indent="0" marL="0">
              <a:lnSpc>
                <a:spcPts val="2138"/>
              </a:lnSpc>
              <a:buNone/>
            </a:pPr>
            <a:r>
              <a:rPr lang="en-US" sz="1425" i="1" spc="-31" kern="0" dirty="0">
                <a:solidFill>
                  <a:srgbClr val="000000">
                    <a:alpha val="99000"/>
                  </a:srgbClr>
                </a:solidFill>
                <a:latin typeface="Inter" pitchFamily="34" charset="0"/>
                <a:ea typeface="Inter" pitchFamily="34" charset="-122"/>
                <a:cs typeface="Inter" pitchFamily="34" charset="-120"/>
              </a:rPr>
              <a:t>"How confident are you that the scenario you just created would run correctly in Esmini?"</a:t>
            </a:r>
            <a:endParaRPr lang="en-US" sz="1425" dirty="0"/>
          </a:p>
        </p:txBody>
      </p:sp>
      <p:sp>
        <p:nvSpPr>
          <p:cNvPr id="7" name="Text 4"/>
          <p:cNvSpPr/>
          <p:nvPr/>
        </p:nvSpPr>
        <p:spPr>
          <a:xfrm>
            <a:off x="514350" y="4586288"/>
            <a:ext cx="7991475" cy="457200"/>
          </a:xfrm>
          <a:prstGeom prst="rect">
            <a:avLst/>
          </a:prstGeom>
          <a:noFill/>
          <a:ln/>
        </p:spPr>
        <p:txBody>
          <a:bodyPr wrap="square" lIns="0" tIns="0" rIns="0" bIns="0" rtlCol="0" anchor="ctr"/>
          <a:lstStyle/>
          <a:p>
            <a:pPr algn="l" indent="0" marL="0">
              <a:lnSpc>
                <a:spcPts val="1710"/>
              </a:lnSpc>
              <a:buNone/>
            </a:pPr>
            <a:r>
              <a:rPr lang="en-US" sz="1140" spc="-25" kern="0" dirty="0">
                <a:solidFill>
                  <a:srgbClr val="000000">
                    <a:alpha val="99000"/>
                  </a:srgbClr>
                </a:solidFill>
                <a:latin typeface="Inter" pitchFamily="34" charset="0"/>
                <a:ea typeface="Inter" pitchFamily="34" charset="-122"/>
                <a:cs typeface="Inter" pitchFamily="34" charset="-120"/>
              </a:rPr>
              <a:t>*Administered immediately after the task ends to capture in-the-moment confidence</a:t>
            </a:r>
            <a:endParaRPr lang="en-US" sz="1140" dirty="0"/>
          </a:p>
        </p:txBody>
      </p:sp>
      <p:pic>
        <p:nvPicPr>
          <p:cNvPr id="8" name="Image 0" descr="preencoded.png">    </p:cNvPr>
          <p:cNvPicPr>
            <a:picLocks noChangeAspect="1"/>
          </p:cNvPicPr>
          <p:nvPr/>
        </p:nvPicPr>
        <p:blipFill>
          <a:blip r:embed="rId1"/>
          <a:srcRect l="0" r="0" t="0" b="0"/>
          <a:stretch/>
        </p:blipFill>
        <p:spPr>
          <a:xfrm>
            <a:off x="514350" y="1643063"/>
            <a:ext cx="5848350" cy="2762250"/>
          </a:xfrm>
          <a:prstGeom prst="rect">
            <a:avLst/>
          </a:prstGeom>
        </p:spPr>
      </p:pic>
      <p:sp>
        <p:nvSpPr>
          <p:cNvPr id="9" name="Text 5"/>
          <p:cNvSpPr/>
          <p:nvPr/>
        </p:nvSpPr>
        <p:spPr>
          <a:xfrm>
            <a:off x="90488" y="76200"/>
            <a:ext cx="582930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LITERATURE REVIEW</a:t>
            </a:r>
            <a:endParaRPr lang="en-US" sz="784" dirty="0"/>
          </a:p>
        </p:txBody>
      </p:sp>
      <p:sp>
        <p:nvSpPr>
          <p:cNvPr id="10" name="Text 6"/>
          <p:cNvSpPr/>
          <p:nvPr/>
        </p:nvSpPr>
        <p:spPr>
          <a:xfrm>
            <a:off x="8062913" y="76200"/>
            <a:ext cx="99060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COURTNEY HUCK</a:t>
            </a:r>
            <a:endParaRPr lang="en-US" sz="784"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233362" y="7477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Procedure </a:t>
            </a:r>
            <a:endParaRPr lang="en-US" sz="2494" dirty="0"/>
          </a:p>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Outline</a:t>
            </a:r>
            <a:endParaRPr lang="en-US" sz="2494" dirty="0"/>
          </a:p>
        </p:txBody>
      </p:sp>
      <p:sp>
        <p:nvSpPr>
          <p:cNvPr id="5" name="Text 2"/>
          <p:cNvSpPr/>
          <p:nvPr/>
        </p:nvSpPr>
        <p:spPr>
          <a:xfrm>
            <a:off x="90488" y="76200"/>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
        <p:nvSpPr>
          <p:cNvPr id="6" name="Text 3"/>
          <p:cNvSpPr/>
          <p:nvPr/>
        </p:nvSpPr>
        <p:spPr>
          <a:xfrm>
            <a:off x="8034338" y="57150"/>
            <a:ext cx="99060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COURTNEY HUCK</a:t>
            </a:r>
            <a:endParaRPr lang="en-US" sz="784" dirty="0"/>
          </a:p>
        </p:txBody>
      </p:sp>
      <p:sp>
        <p:nvSpPr>
          <p:cNvPr id="7" name="Text 4"/>
          <p:cNvSpPr/>
          <p:nvPr/>
        </p:nvSpPr>
        <p:spPr>
          <a:xfrm>
            <a:off x="874395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48</a:t>
            </a:r>
            <a:endParaRPr lang="en-US" sz="855" dirty="0"/>
          </a:p>
        </p:txBody>
      </p:sp>
      <p:pic>
        <p:nvPicPr>
          <p:cNvPr id="8" name="Image 0" descr="preencoded.png">    </p:cNvPr>
          <p:cNvPicPr>
            <a:picLocks noChangeAspect="1"/>
          </p:cNvPicPr>
          <p:nvPr/>
        </p:nvPicPr>
        <p:blipFill>
          <a:blip r:embed="rId1"/>
          <a:srcRect l="0" r="0" t="0" b="0"/>
          <a:stretch/>
        </p:blipFill>
        <p:spPr>
          <a:xfrm>
            <a:off x="4281488" y="423863"/>
            <a:ext cx="3795713" cy="4572000"/>
          </a:xfrm>
          <a:prstGeom prst="rect">
            <a:avLst/>
          </a:prstGeom>
        </p:spPr>
      </p:pic>
      <p:sp>
        <p:nvSpPr>
          <p:cNvPr id="9" name="Text 5"/>
          <p:cNvSpPr/>
          <p:nvPr/>
        </p:nvSpPr>
        <p:spPr>
          <a:xfrm>
            <a:off x="233362" y="4429125"/>
            <a:ext cx="2486025" cy="471488"/>
          </a:xfrm>
          <a:prstGeom prst="rect">
            <a:avLst/>
          </a:prstGeom>
          <a:noFill/>
          <a:ln/>
        </p:spPr>
        <p:txBody>
          <a:bodyPr wrap="square" lIns="0" tIns="0" rIns="0" bIns="0" rtlCol="0" anchor="ctr"/>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Diagram generated with Claude Sonnet 4.5 (Anthropic, 2025). Content reflects authors' own design.</a:t>
            </a:r>
            <a:endParaRPr lang="en-US" sz="784"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Text 1"/>
          <p:cNvSpPr/>
          <p:nvPr/>
        </p:nvSpPr>
        <p:spPr>
          <a:xfrm>
            <a:off x="233362" y="747713"/>
            <a:ext cx="2486025" cy="1100138"/>
          </a:xfrm>
          <a:prstGeom prst="rect">
            <a:avLst/>
          </a:prstGeom>
          <a:noFill/>
          <a:ln/>
        </p:spPr>
        <p:txBody>
          <a:bodyPr wrap="square" lIns="0" tIns="0" rIns="0" bIns="0" rtlCol="0" anchor="t"/>
          <a:lstStyle/>
          <a:p>
            <a:pPr algn="l" indent="0" marL="0">
              <a:lnSpc>
                <a:spcPts val="2743"/>
              </a:lnSpc>
              <a:buNone/>
            </a:pPr>
            <a:r>
              <a:rPr lang="en-US" sz="2494" spc="-55" kern="0" dirty="0">
                <a:solidFill>
                  <a:srgbClr val="1E1E1E">
                    <a:alpha val="99000"/>
                  </a:srgbClr>
                </a:solidFill>
                <a:latin typeface="Plus Jakarta Sans" pitchFamily="34" charset="0"/>
                <a:ea typeface="Plus Jakarta Sans" pitchFamily="34" charset="-122"/>
                <a:cs typeface="Plus Jakarta Sans" pitchFamily="34" charset="-120"/>
              </a:rPr>
              <a:t>Session Structure (30-50 min)</a:t>
            </a:r>
            <a:endParaRPr lang="en-US" sz="2494" dirty="0"/>
          </a:p>
        </p:txBody>
      </p:sp>
      <p:sp>
        <p:nvSpPr>
          <p:cNvPr id="5" name="Text 2"/>
          <p:cNvSpPr/>
          <p:nvPr/>
        </p:nvSpPr>
        <p:spPr>
          <a:xfrm>
            <a:off x="90488" y="76200"/>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
        <p:nvSpPr>
          <p:cNvPr id="6" name="Text 3"/>
          <p:cNvSpPr/>
          <p:nvPr/>
        </p:nvSpPr>
        <p:spPr>
          <a:xfrm>
            <a:off x="8062913" y="76200"/>
            <a:ext cx="99060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COURTNEY HUCK</a:t>
            </a:r>
            <a:endParaRPr lang="en-US" sz="784" dirty="0"/>
          </a:p>
        </p:txBody>
      </p:sp>
      <p:sp>
        <p:nvSpPr>
          <p:cNvPr id="7" name="Text 4"/>
          <p:cNvSpPr/>
          <p:nvPr/>
        </p:nvSpPr>
        <p:spPr>
          <a:xfrm>
            <a:off x="874395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49</a:t>
            </a:r>
            <a:endParaRPr lang="en-US" sz="855"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3057525" y="1000125"/>
          <a:ext cx="5995988" cy="3143250"/>
        </p:xfrm>
        <a:graphic>
          <a:graphicData uri="http://schemas.openxmlformats.org/drawingml/2006/table">
            <a:tbl>
              <a:tblPr/>
              <a:tblGrid>
                <a:gridCol w="1931194"/>
                <a:gridCol w="4064794"/>
              </a:tblGrid>
              <a:tr h="623888">
                <a:tc>
                  <a:txBody>
                    <a:bodyPr/>
                    <a:lstStyle/>
                    <a:p>
                      <a:pPr algn="l" indent="0" marL="0">
                        <a:lnSpc>
                          <a:spcPts val="1710"/>
                        </a:lnSpc>
                        <a:buNone/>
                      </a:pPr>
                      <a:r>
                        <a:rPr lang="en-US" sz="1140" b="1" spc="-13" kern="0" dirty="0">
                          <a:solidFill>
                            <a:srgbClr val="1E1E1E">
                              <a:alpha val="99000"/>
                            </a:srgbClr>
                          </a:solidFill>
                          <a:latin typeface="Inter" pitchFamily="34" charset="0"/>
                          <a:ea typeface="Inter" pitchFamily="34" charset="-122"/>
                          <a:cs typeface="Inter" pitchFamily="34" charset="-120"/>
                        </a:rPr>
                        <a:t>Time</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indent="0" marL="0">
                        <a:lnSpc>
                          <a:spcPts val="1710"/>
                        </a:lnSpc>
                        <a:buNone/>
                      </a:pPr>
                      <a:r>
                        <a:rPr lang="en-US" sz="1140" b="1" spc="-13" kern="0" dirty="0">
                          <a:solidFill>
                            <a:srgbClr val="1E1E1E">
                              <a:alpha val="99000"/>
                            </a:srgbClr>
                          </a:solidFill>
                          <a:latin typeface="Inter" pitchFamily="34" charset="0"/>
                          <a:ea typeface="Inter" pitchFamily="34" charset="-122"/>
                          <a:cs typeface="Inter" pitchFamily="34" charset="-120"/>
                        </a:rPr>
                        <a:t>Activity</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23888">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0–5 min</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Welcome, informed consent, screening questionnaire</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47700">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5–10 min</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Brief orientation to the task (no tool tutorial since it’s part of the test)</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23888">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10–40 min</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Task on assigned condition</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23888">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40–50 min</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indent="0" marL="0">
                        <a:lnSpc>
                          <a:spcPts val="1710"/>
                        </a:lnSpc>
                        <a:buNone/>
                      </a:pPr>
                      <a:r>
                        <a:rPr lang="en-US" sz="1140" spc="-13" kern="0" dirty="0">
                          <a:solidFill>
                            <a:srgbClr val="1E1E1E">
                              <a:alpha val="99000"/>
                            </a:srgbClr>
                          </a:solidFill>
                          <a:latin typeface="Inter" pitchFamily="34" charset="0"/>
                          <a:ea typeface="Inter" pitchFamily="34" charset="-122"/>
                          <a:cs typeface="Inter" pitchFamily="34" charset="-120"/>
                        </a:rPr>
                        <a:t>Likert confidence/trust rating</a:t>
                      </a:r>
                      <a:endParaRPr lang="en-US" sz="1200" dirty="0"/>
                    </a:p>
                  </a:txBody>
                  <a:tcPr marL="91440" marR="91440" marT="45720" marB="4572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3362"/>
            <a:ext cx="2771775" cy="4814888"/>
          </a:xfrm>
          <a:prstGeom prst="roundRect">
            <a:avLst>
              <a:gd name="adj" fmla="val 4948"/>
            </a:avLst>
          </a:prstGeom>
          <a:solidFill>
            <a:srgbClr val="F5F1E9"/>
          </a:solidFill>
          <a:ln/>
        </p:spPr>
      </p:sp>
      <p:sp>
        <p:nvSpPr>
          <p:cNvPr id="3" name="Text 1"/>
          <p:cNvSpPr/>
          <p:nvPr/>
        </p:nvSpPr>
        <p:spPr>
          <a:xfrm>
            <a:off x="233362" y="7477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Realism &amp; Feasibility</a:t>
            </a:r>
            <a:endParaRPr lang="en-US" sz="2494" dirty="0"/>
          </a:p>
        </p:txBody>
      </p:sp>
      <p:sp>
        <p:nvSpPr>
          <p:cNvPr id="4" name="Text 2"/>
          <p:cNvSpPr/>
          <p:nvPr/>
        </p:nvSpPr>
        <p:spPr>
          <a:xfrm>
            <a:off x="90488" y="76200"/>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
        <p:nvSpPr>
          <p:cNvPr id="5" name="Text 3"/>
          <p:cNvSpPr/>
          <p:nvPr/>
        </p:nvSpPr>
        <p:spPr>
          <a:xfrm>
            <a:off x="7053263" y="61912"/>
            <a:ext cx="200025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
        <p:nvSpPr>
          <p:cNvPr id="6" name="Text 4"/>
          <p:cNvSpPr/>
          <p:nvPr/>
        </p:nvSpPr>
        <p:spPr>
          <a:xfrm>
            <a:off x="874395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45</a:t>
            </a:r>
            <a:endParaRPr lang="en-US" sz="855" dirty="0"/>
          </a:p>
        </p:txBody>
      </p:sp>
      <p:sp>
        <p:nvSpPr>
          <p:cNvPr id="7" name="Text 5"/>
          <p:cNvSpPr/>
          <p:nvPr/>
        </p:nvSpPr>
        <p:spPr>
          <a:xfrm>
            <a:off x="3719512" y="719138"/>
            <a:ext cx="4733925" cy="3857625"/>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Users who employ a structured LLM prompt template with predefined task parameters will produce a lower proportion of unrealistic or infeasible scenarios than engineers who begin from a blank prompt screen</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Logical Guardrails: S</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tructured parameters enforce logical constraints upfront, mitigating the model's freedom to hallucinate wild parameters.</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Eliminating Latent Gaps: </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Blank prompt screens force reliance on implicit context, leading to frequent logic gaps in scenario models.</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Outcome Verification: </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By defining input constraints clearly, generated scenarios achieve a significantly higher proximity to real-world applicability.</a:t>
            </a:r>
            <a:endParaRPr lang="en-US" sz="1283"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3362"/>
            <a:ext cx="2771775" cy="4814888"/>
          </a:xfrm>
          <a:prstGeom prst="roundRect">
            <a:avLst>
              <a:gd name="adj" fmla="val 4948"/>
            </a:avLst>
          </a:prstGeom>
          <a:solidFill>
            <a:srgbClr val="F5F1E9"/>
          </a:solidFill>
          <a:ln/>
        </p:spPr>
      </p:sp>
      <p:sp>
        <p:nvSpPr>
          <p:cNvPr id="3" name="Text 1"/>
          <p:cNvSpPr/>
          <p:nvPr/>
        </p:nvSpPr>
        <p:spPr>
          <a:xfrm>
            <a:off x="233362" y="7477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Establishing Trust</a:t>
            </a:r>
            <a:endParaRPr lang="en-US" sz="2494" dirty="0"/>
          </a:p>
        </p:txBody>
      </p:sp>
      <p:sp>
        <p:nvSpPr>
          <p:cNvPr id="4" name="Text 2"/>
          <p:cNvSpPr/>
          <p:nvPr/>
        </p:nvSpPr>
        <p:spPr>
          <a:xfrm>
            <a:off x="90488" y="76200"/>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
        <p:nvSpPr>
          <p:cNvPr id="5" name="Text 3"/>
          <p:cNvSpPr/>
          <p:nvPr/>
        </p:nvSpPr>
        <p:spPr>
          <a:xfrm>
            <a:off x="7053263" y="61912"/>
            <a:ext cx="200025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MUHAMMAD MOSTAFIZUR RAHMAN</a:t>
            </a:r>
            <a:endParaRPr lang="en-US" sz="784" dirty="0"/>
          </a:p>
        </p:txBody>
      </p:sp>
      <p:sp>
        <p:nvSpPr>
          <p:cNvPr id="6" name="Text 4"/>
          <p:cNvSpPr/>
          <p:nvPr/>
        </p:nvSpPr>
        <p:spPr>
          <a:xfrm>
            <a:off x="874395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45</a:t>
            </a:r>
            <a:endParaRPr lang="en-US" sz="855" dirty="0"/>
          </a:p>
        </p:txBody>
      </p:sp>
      <p:sp>
        <p:nvSpPr>
          <p:cNvPr id="7" name="Text 5"/>
          <p:cNvSpPr/>
          <p:nvPr/>
        </p:nvSpPr>
        <p:spPr>
          <a:xfrm>
            <a:off x="3705225" y="719138"/>
            <a:ext cx="4733925" cy="3857625"/>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Users who apply a structured LLM prompt template with predefined task parameters will report higher trust in the LLM-generated scenarios than engineers who begin from a blank prompt screen</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Cognitive Consistency: </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Repeatable structures provide expected predictability, increasing the user's reliance on generated scenarios.</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Lowered Cognitive Stress: </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Removing the blank slate anxiety shifts the user's role from "accidental prompter" to authoritative curator.</a:t>
            </a:r>
            <a:endParaRPr lang="en-US" sz="1283" dirty="0"/>
          </a:p>
          <a:p>
            <a:pPr algn="l" marL="342900" indent="-342900">
              <a:lnSpc>
                <a:spcPts val="1924"/>
              </a:lnSpc>
              <a:buSzPct val="100000"/>
              <a:buChar char="•"/>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Systemic Reliability:</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 Prompt templates make the input-to-output pipeline traceable, framing the LLM as a trustworthy research partner.</a:t>
            </a:r>
            <a:endParaRPr lang="en-US" sz="1283"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06</a:t>
            </a:r>
            <a:endParaRPr lang="en-US" sz="24938" dirty="0"/>
          </a:p>
        </p:txBody>
      </p:sp>
      <p:sp>
        <p:nvSpPr>
          <p:cNvPr id="4" name="Text 2"/>
          <p:cNvSpPr/>
          <p:nvPr/>
        </p:nvSpPr>
        <p:spPr>
          <a:xfrm>
            <a:off x="671513" y="652463"/>
            <a:ext cx="3786188" cy="3929063"/>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Plus Jakarta Sans" pitchFamily="34" charset="0"/>
                <a:ea typeface="Plus Jakarta Sans" pitchFamily="34" charset="-122"/>
                <a:cs typeface="Plus Jakarta Sans" pitchFamily="34" charset="-120"/>
              </a:rPr>
              <a:t>Risks, Open Questions &amp; Next Steps</a:t>
            </a:r>
            <a:endParaRPr lang="en-US" sz="5344" dirty="0"/>
          </a:p>
        </p:txBody>
      </p:sp>
      <p:sp>
        <p:nvSpPr>
          <p:cNvPr id="5" name="Text 3"/>
          <p:cNvSpPr/>
          <p:nvPr/>
        </p:nvSpPr>
        <p:spPr>
          <a:xfrm>
            <a:off x="8601075" y="76200"/>
            <a:ext cx="4524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MINHAS</a:t>
            </a:r>
            <a:endParaRPr lang="en-US" sz="784"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2771775" cy="4814888"/>
          </a:xfrm>
          <a:prstGeom prst="roundRect">
            <a:avLst>
              <a:gd name="adj" fmla="val 4948"/>
            </a:avLst>
          </a:prstGeom>
          <a:solidFill>
            <a:srgbClr val="F5F1E9"/>
          </a:solidFill>
          <a:ln/>
        </p:spPr>
      </p:sp>
      <p:sp>
        <p:nvSpPr>
          <p:cNvPr id="3" name="Text 1"/>
          <p:cNvSpPr/>
          <p:nvPr/>
        </p:nvSpPr>
        <p:spPr>
          <a:xfrm>
            <a:off x="219075" y="2462213"/>
            <a:ext cx="2305050"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Risk 1</a:t>
            </a:r>
            <a:endParaRPr lang="en-US" sz="2494" dirty="0"/>
          </a:p>
        </p:txBody>
      </p:sp>
      <p:sp>
        <p:nvSpPr>
          <p:cNvPr id="4" name="Shape 2"/>
          <p:cNvSpPr/>
          <p:nvPr/>
        </p:nvSpPr>
        <p:spPr>
          <a:xfrm>
            <a:off x="2957513" y="328613"/>
            <a:ext cx="6096000" cy="4724400"/>
          </a:xfrm>
          <a:prstGeom prst="roundRect">
            <a:avLst>
              <a:gd name="adj" fmla="val 2903"/>
            </a:avLst>
          </a:prstGeom>
          <a:solidFill>
            <a:srgbClr val="FFFFFF"/>
          </a:solidFill>
          <a:ln/>
        </p:spPr>
      </p:sp>
      <p:sp>
        <p:nvSpPr>
          <p:cNvPr id="5" name="Text 3"/>
          <p:cNvSpPr/>
          <p:nvPr/>
        </p:nvSpPr>
        <p:spPr>
          <a:xfrm>
            <a:off x="3509963" y="1619250"/>
            <a:ext cx="4995863" cy="2143125"/>
          </a:xfrm>
          <a:prstGeom prst="rect">
            <a:avLst/>
          </a:prstGeom>
          <a:noFill/>
          <a:ln/>
        </p:spPr>
        <p:txBody>
          <a:bodyPr wrap="square" lIns="0" tIns="0" rIns="0" bIns="0" rtlCol="0" anchor="ctr"/>
          <a:lstStyle/>
          <a:p>
            <a:pPr algn="l" indent="0" marL="0">
              <a:lnSpc>
                <a:spcPts val="1603"/>
              </a:lnSpc>
              <a:buNone/>
            </a:pPr>
            <a:r>
              <a:rPr lang="en-US" sz="1069" spc="-20" kern="0" dirty="0">
                <a:solidFill>
                  <a:srgbClr val="1E1E1E">
                    <a:alpha val="99000"/>
                  </a:srgbClr>
                </a:solidFill>
                <a:latin typeface="Inter" pitchFamily="34" charset="0"/>
                <a:ea typeface="Inter" pitchFamily="34" charset="-122"/>
                <a:cs typeface="Inter" pitchFamily="34" charset="-120"/>
              </a:rPr>
              <a:t>The LLM may produce OpenSCENARIO XML that is structurally malformed, uses unsupported tags, or references actors that haven't been declared - all of which cause Esmini to fail silently or crash rather than returning a useful error.</a:t>
            </a:r>
            <a:endParaRPr lang="en-US" sz="1069" dirty="0"/>
          </a:p>
          <a:p>
            <a:pPr algn="l" indent="0" marL="0">
              <a:lnSpc>
                <a:spcPts val="1603"/>
              </a:lnSpc>
              <a:buNone/>
            </a:pPr>
            <a:r>
              <a:rPr lang="en-US" sz="1069" b="1" i="1" spc="-20" kern="0" dirty="0">
                <a:solidFill>
                  <a:srgbClr val="1E1E1E">
                    <a:alpha val="99000"/>
                  </a:srgbClr>
                </a:solidFill>
                <a:latin typeface="Inter" pitchFamily="34" charset="0"/>
                <a:ea typeface="Inter" pitchFamily="34" charset="-122"/>
                <a:cs typeface="Inter" pitchFamily="34" charset="-120"/>
              </a:rPr>
              <a:t>Mitigation:</a:t>
            </a:r>
            <a:pPr algn="l" indent="0" marL="0">
              <a:lnSpc>
                <a:spcPts val="1603"/>
              </a:lnSpc>
              <a:buNone/>
            </a:pPr>
            <a:r>
              <a:rPr lang="en-US" sz="1069" i="1" spc="-20" kern="0" dirty="0">
                <a:solidFill>
                  <a:srgbClr val="1E1E1E">
                    <a:alpha val="99000"/>
                  </a:srgbClr>
                </a:solidFill>
                <a:latin typeface="Inter" pitchFamily="34" charset="0"/>
                <a:ea typeface="Inter" pitchFamily="34" charset="-122"/>
                <a:cs typeface="Inter" pitchFamily="34" charset="-120"/>
              </a:rPr>
              <a:t> </a:t>
            </a:r>
            <a:pPr algn="l" indent="0" marL="0">
              <a:lnSpc>
                <a:spcPts val="1603"/>
              </a:lnSpc>
              <a:buNone/>
            </a:pPr>
            <a:r>
              <a:rPr lang="en-US" sz="1069" spc="-20" kern="0" dirty="0">
                <a:solidFill>
                  <a:srgbClr val="1E1E1E">
                    <a:alpha val="99000"/>
                  </a:srgbClr>
                </a:solidFill>
                <a:latin typeface="Inter" pitchFamily="34" charset="0"/>
                <a:ea typeface="Inter" pitchFamily="34" charset="-122"/>
                <a:cs typeface="Inter" pitchFamily="34" charset="-120"/>
              </a:rPr>
              <a:t>Build a lightweight XOSC schema validator as an intermediate step between LLM output and Esmini validation. Additionally, use few shot prompting in the LLM system prompt provide 2–3 known valid XOSC examples as context so the model has a concrete structural template to follow.</a:t>
            </a:r>
            <a:endParaRPr lang="en-US" sz="1069" dirty="0"/>
          </a:p>
        </p:txBody>
      </p:sp>
      <p:sp>
        <p:nvSpPr>
          <p:cNvPr id="6" name="Text 4"/>
          <p:cNvSpPr/>
          <p:nvPr/>
        </p:nvSpPr>
        <p:spPr>
          <a:xfrm>
            <a:off x="3305175" y="690563"/>
            <a:ext cx="5357813" cy="257175"/>
          </a:xfrm>
          <a:prstGeom prst="rect">
            <a:avLst/>
          </a:prstGeom>
          <a:noFill/>
          <a:ln/>
        </p:spPr>
        <p:txBody>
          <a:bodyPr wrap="square" lIns="0" tIns="0" rIns="0" bIns="0" rtlCol="0" anchor="t"/>
          <a:lstStyle/>
          <a:p>
            <a:pPr algn="l" indent="0" marL="0">
              <a:lnSpc>
                <a:spcPts val="1924"/>
              </a:lnSpc>
              <a:buNone/>
            </a:pPr>
            <a:r>
              <a:rPr lang="en-US" sz="1283" b="1" spc="-28" kern="0" dirty="0">
                <a:solidFill>
                  <a:srgbClr val="1E1E1E">
                    <a:alpha val="99000"/>
                  </a:srgbClr>
                </a:solidFill>
                <a:latin typeface="Inter" pitchFamily="34" charset="0"/>
                <a:ea typeface="Inter" pitchFamily="34" charset="-122"/>
                <a:cs typeface="Inter" pitchFamily="34" charset="-120"/>
              </a:rPr>
              <a:t>LLM generates syntactically invalid XOSC that Esmini cannot parse </a:t>
            </a:r>
            <a:endParaRPr lang="en-US" sz="1283" dirty="0"/>
          </a:p>
        </p:txBody>
      </p:sp>
      <p:sp>
        <p:nvSpPr>
          <p:cNvPr id="7" name="Text 5"/>
          <p:cNvSpPr/>
          <p:nvPr/>
        </p:nvSpPr>
        <p:spPr>
          <a:xfrm>
            <a:off x="8701088" y="4891088"/>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51</a:t>
            </a:r>
            <a:endParaRPr lang="en-US" sz="855" dirty="0"/>
          </a:p>
        </p:txBody>
      </p:sp>
      <p:sp>
        <p:nvSpPr>
          <p:cNvPr id="8" name="Text 6"/>
          <p:cNvSpPr/>
          <p:nvPr/>
        </p:nvSpPr>
        <p:spPr>
          <a:xfrm>
            <a:off x="166688" y="80963"/>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2771775" cy="4814888"/>
          </a:xfrm>
          <a:prstGeom prst="roundRect">
            <a:avLst>
              <a:gd name="adj" fmla="val 4948"/>
            </a:avLst>
          </a:prstGeom>
          <a:solidFill>
            <a:srgbClr val="F5F1E9"/>
          </a:solidFill>
          <a:ln/>
        </p:spPr>
      </p:sp>
      <p:sp>
        <p:nvSpPr>
          <p:cNvPr id="3" name="Text 1"/>
          <p:cNvSpPr/>
          <p:nvPr/>
        </p:nvSpPr>
        <p:spPr>
          <a:xfrm>
            <a:off x="219075" y="2462213"/>
            <a:ext cx="2305050"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Risk 2</a:t>
            </a:r>
            <a:endParaRPr lang="en-US" sz="2494" dirty="0"/>
          </a:p>
        </p:txBody>
      </p:sp>
      <p:sp>
        <p:nvSpPr>
          <p:cNvPr id="4" name="Shape 2"/>
          <p:cNvSpPr/>
          <p:nvPr/>
        </p:nvSpPr>
        <p:spPr>
          <a:xfrm>
            <a:off x="2957513" y="238125"/>
            <a:ext cx="6096000" cy="4814888"/>
          </a:xfrm>
          <a:prstGeom prst="roundRect">
            <a:avLst>
              <a:gd name="adj" fmla="val 2849"/>
            </a:avLst>
          </a:prstGeom>
          <a:solidFill>
            <a:srgbClr val="FFFFFF"/>
          </a:solidFill>
          <a:ln/>
        </p:spPr>
      </p:sp>
      <p:sp>
        <p:nvSpPr>
          <p:cNvPr id="5" name="Text 3"/>
          <p:cNvSpPr/>
          <p:nvPr/>
        </p:nvSpPr>
        <p:spPr>
          <a:xfrm>
            <a:off x="3509963" y="1685925"/>
            <a:ext cx="4995863" cy="1928813"/>
          </a:xfrm>
          <a:prstGeom prst="rect">
            <a:avLst/>
          </a:prstGeom>
          <a:noFill/>
          <a:ln/>
        </p:spPr>
        <p:txBody>
          <a:bodyPr wrap="square" lIns="0" tIns="0" rIns="0" bIns="0" rtlCol="0" anchor="ctr"/>
          <a:lstStyle/>
          <a:p>
            <a:pPr algn="l" indent="0" marL="0">
              <a:lnSpc>
                <a:spcPts val="1924"/>
              </a:lnSpc>
              <a:buNone/>
            </a:pPr>
            <a:r>
              <a:rPr lang="en-US" sz="1069" spc="-20" kern="0" dirty="0">
                <a:solidFill>
                  <a:srgbClr val="1E1E1E">
                    <a:alpha val="99000"/>
                  </a:srgbClr>
                </a:solidFill>
                <a:latin typeface="Inter" pitchFamily="34" charset="0"/>
                <a:ea typeface="Inter" pitchFamily="34" charset="-122"/>
                <a:cs typeface="Inter" pitchFamily="34" charset="-120"/>
              </a:rPr>
              <a:t>Unlike recruiting students, early career professionals are harder to reach, have less flexible schedules, and may need employer approval to participate in external studies. </a:t>
            </a:r>
            <a:endParaRPr lang="en-US" sz="1069" dirty="0"/>
          </a:p>
          <a:p>
            <a:pPr algn="l" indent="0" marL="0">
              <a:lnSpc>
                <a:spcPts val="1603"/>
              </a:lnSpc>
              <a:buNone/>
            </a:pPr>
            <a:r>
              <a:rPr lang="en-US" sz="1069" b="1" i="1" spc="-20" kern="0" dirty="0">
                <a:solidFill>
                  <a:srgbClr val="1E1E1E">
                    <a:alpha val="99000"/>
                  </a:srgbClr>
                </a:solidFill>
                <a:latin typeface="Inter" pitchFamily="34" charset="0"/>
                <a:ea typeface="Inter" pitchFamily="34" charset="-122"/>
                <a:cs typeface="Inter" pitchFamily="34" charset="-120"/>
              </a:rPr>
              <a:t>Mitigation:</a:t>
            </a:r>
            <a:pPr algn="l" indent="0" marL="0">
              <a:lnSpc>
                <a:spcPts val="1924"/>
              </a:lnSpc>
              <a:buNone/>
            </a:pPr>
            <a:r>
              <a:rPr lang="en-US" sz="1069" i="1" spc="-20" kern="0" dirty="0">
                <a:solidFill>
                  <a:srgbClr val="1E1E1E">
                    <a:alpha val="99000"/>
                  </a:srgbClr>
                </a:solidFill>
                <a:latin typeface="Inter" pitchFamily="34" charset="0"/>
                <a:ea typeface="Inter" pitchFamily="34" charset="-122"/>
                <a:cs typeface="Inter" pitchFamily="34" charset="-120"/>
              </a:rPr>
              <a:t> </a:t>
            </a:r>
            <a:pPr algn="l" indent="0" marL="0">
              <a:lnSpc>
                <a:spcPts val="1924"/>
              </a:lnSpc>
              <a:buNone/>
            </a:pPr>
            <a:r>
              <a:rPr lang="en-US" sz="1069" spc="-20" kern="0" dirty="0">
                <a:solidFill>
                  <a:srgbClr val="1E1E1E">
                    <a:alpha val="99000"/>
                  </a:srgbClr>
                </a:solidFill>
                <a:latin typeface="Inter" pitchFamily="34" charset="0"/>
                <a:ea typeface="Inter" pitchFamily="34" charset="-122"/>
                <a:cs typeface="Inter" pitchFamily="34" charset="-120"/>
              </a:rPr>
              <a:t>Target THI’s industry partner networks and any engineering graduate groups. Prepare a one-paragraph plain-language study description that can be shared quickly. Also define a fallback participant profile for final year engineering students with some simulation exposure, if needed.</a:t>
            </a:r>
            <a:endParaRPr lang="en-US" sz="1069" dirty="0"/>
          </a:p>
        </p:txBody>
      </p:sp>
      <p:sp>
        <p:nvSpPr>
          <p:cNvPr id="6" name="Text 4"/>
          <p:cNvSpPr/>
          <p:nvPr/>
        </p:nvSpPr>
        <p:spPr>
          <a:xfrm>
            <a:off x="8701088" y="4800600"/>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52</a:t>
            </a:r>
            <a:endParaRPr lang="en-US" sz="855" dirty="0"/>
          </a:p>
        </p:txBody>
      </p:sp>
      <p:sp>
        <p:nvSpPr>
          <p:cNvPr id="7" name="Text 5"/>
          <p:cNvSpPr/>
          <p:nvPr/>
        </p:nvSpPr>
        <p:spPr>
          <a:xfrm>
            <a:off x="3262313" y="661988"/>
            <a:ext cx="5643563" cy="257175"/>
          </a:xfrm>
          <a:prstGeom prst="rect">
            <a:avLst/>
          </a:prstGeom>
          <a:noFill/>
          <a:ln/>
        </p:spPr>
        <p:txBody>
          <a:bodyPr wrap="square" lIns="0" tIns="0" rIns="0" bIns="0" rtlCol="0" anchor="t"/>
          <a:lstStyle/>
          <a:p>
            <a:pPr algn="l" indent="0" marL="0">
              <a:lnSpc>
                <a:spcPts val="1924"/>
              </a:lnSpc>
              <a:buNone/>
            </a:pPr>
            <a:r>
              <a:rPr lang="en-US" sz="1283" b="1" spc="-28" kern="0" dirty="0">
                <a:solidFill>
                  <a:srgbClr val="1E1E1E">
                    <a:alpha val="99000"/>
                  </a:srgbClr>
                </a:solidFill>
                <a:latin typeface="Inter" pitchFamily="34" charset="0"/>
                <a:ea typeface="Inter" pitchFamily="34" charset="-122"/>
                <a:cs typeface="Inter" pitchFamily="34" charset="-120"/>
              </a:rPr>
              <a:t>Participant recruitment is harder than expected for 0–2 year engineers</a:t>
            </a:r>
            <a:endParaRPr lang="en-US" sz="1283" dirty="0"/>
          </a:p>
        </p:txBody>
      </p:sp>
      <p:sp>
        <p:nvSpPr>
          <p:cNvPr id="8" name="Text 6"/>
          <p:cNvSpPr/>
          <p:nvPr/>
        </p:nvSpPr>
        <p:spPr>
          <a:xfrm>
            <a:off x="166688" y="80963"/>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2771775" cy="4814888"/>
          </a:xfrm>
          <a:prstGeom prst="roundRect">
            <a:avLst>
              <a:gd name="adj" fmla="val 4948"/>
            </a:avLst>
          </a:prstGeom>
          <a:solidFill>
            <a:srgbClr val="F5F1E9"/>
          </a:solidFill>
          <a:ln/>
        </p:spPr>
      </p:sp>
      <p:sp>
        <p:nvSpPr>
          <p:cNvPr id="3" name="Text 1"/>
          <p:cNvSpPr/>
          <p:nvPr/>
        </p:nvSpPr>
        <p:spPr>
          <a:xfrm>
            <a:off x="219075" y="2462213"/>
            <a:ext cx="2305050"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Risk 3</a:t>
            </a:r>
            <a:endParaRPr lang="en-US" sz="2494" dirty="0"/>
          </a:p>
        </p:txBody>
      </p:sp>
      <p:sp>
        <p:nvSpPr>
          <p:cNvPr id="4" name="Shape 2"/>
          <p:cNvSpPr/>
          <p:nvPr/>
        </p:nvSpPr>
        <p:spPr>
          <a:xfrm>
            <a:off x="2957513" y="238125"/>
            <a:ext cx="6096000" cy="4814888"/>
          </a:xfrm>
          <a:prstGeom prst="roundRect">
            <a:avLst>
              <a:gd name="adj" fmla="val 2849"/>
            </a:avLst>
          </a:prstGeom>
          <a:solidFill>
            <a:srgbClr val="FFFFFF"/>
          </a:solidFill>
          <a:ln/>
        </p:spPr>
      </p:sp>
      <p:sp>
        <p:nvSpPr>
          <p:cNvPr id="5" name="Text 3"/>
          <p:cNvSpPr/>
          <p:nvPr/>
        </p:nvSpPr>
        <p:spPr>
          <a:xfrm>
            <a:off x="3509963" y="1362075"/>
            <a:ext cx="4995863" cy="2571750"/>
          </a:xfrm>
          <a:prstGeom prst="rect">
            <a:avLst/>
          </a:prstGeom>
          <a:noFill/>
          <a:ln/>
        </p:spPr>
        <p:txBody>
          <a:bodyPr wrap="square" lIns="0" tIns="0" rIns="0" bIns="0" rtlCol="0" anchor="ctr"/>
          <a:lstStyle/>
          <a:p>
            <a:pPr algn="l" indent="0" marL="0">
              <a:lnSpc>
                <a:spcPts val="1924"/>
              </a:lnSpc>
              <a:buNone/>
            </a:pPr>
            <a:r>
              <a:rPr lang="en-US" sz="1069" spc="-20" kern="0" dirty="0">
                <a:solidFill>
                  <a:srgbClr val="1E1E1E">
                    <a:alpha val="99000"/>
                  </a:srgbClr>
                </a:solidFill>
                <a:latin typeface="Inter" pitchFamily="34" charset="0"/>
                <a:ea typeface="Inter" pitchFamily="34" charset="-122"/>
                <a:cs typeface="Inter" pitchFamily="34" charset="-120"/>
              </a:rPr>
              <a:t>Participants in Condition A may produce higher confidence ratings (H3) simply because the interface looks more professional and complete than the blank screen, but not because the underlying scenario is better. This would inflate H3 results and make it difficult to attribute confidence gains to the interface's functional features rather than its aesthetic polish.</a:t>
            </a:r>
            <a:endParaRPr lang="en-US" sz="1069" dirty="0"/>
          </a:p>
          <a:p>
            <a:pPr algn="l" indent="0" marL="0">
              <a:lnSpc>
                <a:spcPts val="1603"/>
              </a:lnSpc>
              <a:buNone/>
            </a:pPr>
            <a:r>
              <a:rPr lang="en-US" sz="1069" b="1" i="1" spc="-20" kern="0" dirty="0">
                <a:solidFill>
                  <a:srgbClr val="1E1E1E">
                    <a:alpha val="99000"/>
                  </a:srgbClr>
                </a:solidFill>
                <a:latin typeface="Inter" pitchFamily="34" charset="0"/>
                <a:ea typeface="Inter" pitchFamily="34" charset="-122"/>
                <a:cs typeface="Inter" pitchFamily="34" charset="-120"/>
              </a:rPr>
              <a:t>Mitigation:</a:t>
            </a:r>
            <a:pPr algn="l" indent="0" marL="0">
              <a:lnSpc>
                <a:spcPts val="1924"/>
              </a:lnSpc>
              <a:buNone/>
            </a:pPr>
            <a:r>
              <a:rPr lang="en-US" sz="1069" i="1" spc="-20" kern="0" dirty="0">
                <a:solidFill>
                  <a:srgbClr val="1E1E1E">
                    <a:alpha val="99000"/>
                  </a:srgbClr>
                </a:solidFill>
                <a:latin typeface="Inter" pitchFamily="34" charset="0"/>
                <a:ea typeface="Inter" pitchFamily="34" charset="-122"/>
                <a:cs typeface="Inter" pitchFamily="34" charset="-120"/>
              </a:rPr>
              <a:t> </a:t>
            </a:r>
            <a:pPr algn="l" indent="0" marL="0">
              <a:lnSpc>
                <a:spcPts val="1924"/>
              </a:lnSpc>
              <a:buNone/>
            </a:pPr>
            <a:r>
              <a:rPr lang="en-US" sz="1069" spc="-20" kern="0" dirty="0">
                <a:solidFill>
                  <a:srgbClr val="1E1E1E">
                    <a:alpha val="99000"/>
                  </a:srgbClr>
                </a:solidFill>
                <a:latin typeface="Inter" pitchFamily="34" charset="0"/>
                <a:ea typeface="Inter" pitchFamily="34" charset="-122"/>
                <a:cs typeface="Inter" pitchFamily="34" charset="-120"/>
              </a:rPr>
              <a:t>In the task brief and verbal introduction, frame both conditions neutrally. Describe them as "two different versions of the tool" rather than implying one is more developed. Additionally, a think aloud protocol could help here if participants in Condition A verbalize confidence based on appearance rather than the checklist or validation feedback; this will be visible in the qualitative data and can be noted as a limitation in findings.</a:t>
            </a:r>
            <a:endParaRPr lang="en-US" sz="1069" dirty="0"/>
          </a:p>
        </p:txBody>
      </p:sp>
      <p:sp>
        <p:nvSpPr>
          <p:cNvPr id="6" name="Text 4"/>
          <p:cNvSpPr/>
          <p:nvPr/>
        </p:nvSpPr>
        <p:spPr>
          <a:xfrm>
            <a:off x="8701088" y="4800600"/>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53</a:t>
            </a:r>
            <a:endParaRPr lang="en-US" sz="855" dirty="0"/>
          </a:p>
        </p:txBody>
      </p:sp>
      <p:sp>
        <p:nvSpPr>
          <p:cNvPr id="7" name="Text 5"/>
          <p:cNvSpPr/>
          <p:nvPr/>
        </p:nvSpPr>
        <p:spPr>
          <a:xfrm>
            <a:off x="3319463" y="628650"/>
            <a:ext cx="5372100" cy="257175"/>
          </a:xfrm>
          <a:prstGeom prst="rect">
            <a:avLst/>
          </a:prstGeom>
          <a:noFill/>
          <a:ln/>
        </p:spPr>
        <p:txBody>
          <a:bodyPr wrap="square" lIns="0" tIns="0" rIns="0" bIns="0" rtlCol="0" anchor="t"/>
          <a:lstStyle/>
          <a:p>
            <a:pPr algn="l" indent="0" marL="0">
              <a:lnSpc>
                <a:spcPts val="1924"/>
              </a:lnSpc>
              <a:buNone/>
            </a:pPr>
            <a:r>
              <a:rPr lang="en-US" sz="1283" b="1" spc="-28" kern="0" dirty="0">
                <a:solidFill>
                  <a:srgbClr val="1E1E1E">
                    <a:alpha val="99000"/>
                  </a:srgbClr>
                </a:solidFill>
                <a:latin typeface="Inter" pitchFamily="34" charset="0"/>
                <a:ea typeface="Inter" pitchFamily="34" charset="-122"/>
                <a:cs typeface="Inter" pitchFamily="34" charset="-120"/>
              </a:rPr>
              <a:t>The guided interface itself introduces a demand characteristic bias</a:t>
            </a:r>
            <a:endParaRPr lang="en-US" sz="1283" dirty="0"/>
          </a:p>
        </p:txBody>
      </p:sp>
      <p:sp>
        <p:nvSpPr>
          <p:cNvPr id="8" name="Text 6"/>
          <p:cNvSpPr/>
          <p:nvPr/>
        </p:nvSpPr>
        <p:spPr>
          <a:xfrm>
            <a:off x="166688" y="80963"/>
            <a:ext cx="56530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RESEARCH GAPS</a:t>
            </a:r>
            <a:endParaRPr lang="en-US" sz="784"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1E9"/>
        </a:solidFill>
      </p:bgPr>
    </p:bg>
    <p:spTree>
      <p:nvGrpSpPr>
        <p:cNvPr id="1" name=""/>
        <p:cNvGrpSpPr/>
        <p:nvPr/>
      </p:nvGrpSpPr>
      <p:grpSpPr>
        <a:xfrm>
          <a:off x="0" y="0"/>
          <a:ext cx="0" cy="0"/>
          <a:chOff x="0" y="0"/>
          <a:chExt cx="0" cy="0"/>
        </a:xfrm>
      </p:grpSpPr>
      <p:sp>
        <p:nvSpPr>
          <p:cNvPr id="3"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Q&amp;A</a:t>
            </a:r>
            <a:endParaRPr lang="en-US" sz="2494" dirty="0"/>
          </a:p>
        </p:txBody>
      </p:sp>
      <p:sp>
        <p:nvSpPr>
          <p:cNvPr id="4" name="Shape 1"/>
          <p:cNvSpPr/>
          <p:nvPr/>
        </p:nvSpPr>
        <p:spPr>
          <a:xfrm>
            <a:off x="428625" y="1209675"/>
            <a:ext cx="3324225" cy="3524250"/>
          </a:xfrm>
          <a:prstGeom prst="roundRect">
            <a:avLst>
              <a:gd name="adj" fmla="val 4401"/>
            </a:avLst>
          </a:prstGeom>
          <a:solidFill>
            <a:srgbClr val="FFFFFF"/>
          </a:solidFill>
          <a:ln/>
        </p:spPr>
      </p:sp>
      <p:sp>
        <p:nvSpPr>
          <p:cNvPr id="5" name="Text 2"/>
          <p:cNvSpPr/>
          <p:nvPr/>
        </p:nvSpPr>
        <p:spPr>
          <a:xfrm>
            <a:off x="771525" y="1419225"/>
            <a:ext cx="2743200" cy="3105150"/>
          </a:xfrm>
          <a:prstGeom prst="rect">
            <a:avLst/>
          </a:prstGeom>
          <a:noFill/>
          <a:ln/>
        </p:spPr>
        <p:txBody>
          <a:bodyPr wrap="square" lIns="0" tIns="0" rIns="0" bIns="0" rtlCol="0" anchor="t"/>
          <a:lstStyle/>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Should we remove the Quality Assurance hypothesis? Instead, should we just focus on Time &amp; Confidence? </a:t>
            </a:r>
            <a:endParaRPr lang="en-US" sz="1247" dirty="0"/>
          </a:p>
          <a:p>
            <a:pPr algn="l" indent="0" marL="0">
              <a:lnSpc>
                <a:spcPts val="1870"/>
              </a:lnSpc>
              <a:buNone/>
            </a:pPr>
            <a:r>
              <a:rPr lang="en-US" sz="1247" b="1" spc="87" kern="0" dirty="0">
                <a:solidFill>
                  <a:srgbClr val="000000">
                    <a:alpha val="99000"/>
                  </a:srgbClr>
                </a:solidFill>
                <a:latin typeface="Plus Jakarta Sans" pitchFamily="34" charset="0"/>
                <a:ea typeface="Plus Jakarta Sans" pitchFamily="34" charset="-122"/>
                <a:cs typeface="Plus Jakarta Sans" pitchFamily="34" charset="-120"/>
              </a:rPr>
              <a:t>(If we did this, we’d probably include a SUS (System usability scale) survey at the end of the session to gain more qualitative data on users’ confidence on the</a:t>
            </a:r>
            <a:pPr algn="l" indent="0" marL="0">
              <a:lnSpc>
                <a:spcPts val="2138"/>
              </a:lnSpc>
              <a:buNone/>
            </a:pPr>
            <a:r>
              <a:rPr lang="en-US" sz="1425" b="1" spc="100" kern="0" dirty="0">
                <a:solidFill>
                  <a:srgbClr val="000000">
                    <a:alpha val="99000"/>
                  </a:srgbClr>
                </a:solidFill>
                <a:latin typeface="Plus Jakarta Sans" pitchFamily="34" charset="0"/>
                <a:ea typeface="Plus Jakarta Sans" pitchFamily="34" charset="-122"/>
                <a:cs typeface="Plus Jakarta Sans" pitchFamily="34" charset="-120"/>
              </a:rPr>
              <a:t> tool?)</a:t>
            </a:r>
            <a:endParaRPr lang="en-US" sz="1247" dirty="0"/>
          </a:p>
        </p:txBody>
      </p:sp>
      <p:sp>
        <p:nvSpPr>
          <p:cNvPr id="6" name="Shape 3"/>
          <p:cNvSpPr/>
          <p:nvPr/>
        </p:nvSpPr>
        <p:spPr>
          <a:xfrm>
            <a:off x="3971925" y="1209675"/>
            <a:ext cx="2576513" cy="3524250"/>
          </a:xfrm>
          <a:prstGeom prst="roundRect">
            <a:avLst>
              <a:gd name="adj" fmla="val 5678"/>
            </a:avLst>
          </a:prstGeom>
          <a:solidFill>
            <a:srgbClr val="FFFFFF"/>
          </a:solidFill>
          <a:ln/>
        </p:spPr>
      </p:sp>
      <p:sp>
        <p:nvSpPr>
          <p:cNvPr id="7" name="Text 4"/>
          <p:cNvSpPr/>
          <p:nvPr/>
        </p:nvSpPr>
        <p:spPr>
          <a:xfrm>
            <a:off x="4319588" y="1476375"/>
            <a:ext cx="1943100" cy="2971800"/>
          </a:xfrm>
          <a:prstGeom prst="rect">
            <a:avLst/>
          </a:prstGeom>
          <a:noFill/>
          <a:ln/>
        </p:spPr>
        <p:txBody>
          <a:bodyPr wrap="square" lIns="0" tIns="0" rIns="0" bIns="0" rtlCol="0" anchor="t"/>
          <a:lstStyle/>
          <a:p>
            <a:pPr algn="l" indent="0" marL="0">
              <a:lnSpc>
                <a:spcPts val="1710"/>
              </a:lnSpc>
              <a:buNone/>
            </a:pPr>
            <a:r>
              <a:rPr lang="en-US" sz="1140" b="1" spc="80" kern="0" dirty="0">
                <a:solidFill>
                  <a:srgbClr val="000000">
                    <a:alpha val="99000"/>
                  </a:srgbClr>
                </a:solidFill>
                <a:latin typeface="Plus Jakarta Sans" pitchFamily="34" charset="0"/>
                <a:ea typeface="Plus Jakarta Sans" pitchFamily="34" charset="-122"/>
                <a:cs typeface="Plus Jakarta Sans" pitchFamily="34" charset="-120"/>
              </a:rPr>
              <a:t>Should we remove the “Additional Modifiers” section of the interface? </a:t>
            </a:r>
            <a:endParaRPr lang="en-US" sz="1140" dirty="0"/>
          </a:p>
          <a:p>
            <a:pPr algn="l" indent="0" marL="0">
              <a:lnSpc>
                <a:spcPts val="1710"/>
              </a:lnSpc>
              <a:buNone/>
            </a:pPr>
            <a:r>
              <a:rPr lang="en-US" sz="1140" b="1" spc="80" kern="0" dirty="0">
                <a:solidFill>
                  <a:srgbClr val="000000">
                    <a:alpha val="99000"/>
                  </a:srgbClr>
                </a:solidFill>
                <a:latin typeface="Plus Jakarta Sans" pitchFamily="34" charset="0"/>
                <a:ea typeface="Plus Jakarta Sans" pitchFamily="34" charset="-122"/>
                <a:cs typeface="Plus Jakarta Sans" pitchFamily="34" charset="-120"/>
              </a:rPr>
              <a:t>(Although it would give the engineers more options, that section of the tool doesn’t  directly tie into our hypotheses as strongly as the other parts of the tool)</a:t>
            </a:r>
            <a:endParaRPr lang="en-US" sz="1140" dirty="0"/>
          </a:p>
        </p:txBody>
      </p:sp>
      <p:sp>
        <p:nvSpPr>
          <p:cNvPr id="8" name="Shape 5"/>
          <p:cNvSpPr/>
          <p:nvPr/>
        </p:nvSpPr>
        <p:spPr>
          <a:xfrm>
            <a:off x="6767513" y="1209675"/>
            <a:ext cx="1909762" cy="1919288"/>
          </a:xfrm>
          <a:prstGeom prst="roundRect">
            <a:avLst>
              <a:gd name="adj" fmla="val 7661"/>
            </a:avLst>
          </a:prstGeom>
          <a:solidFill>
            <a:srgbClr val="FFFFFF"/>
          </a:solidFill>
          <a:ln/>
        </p:spPr>
      </p:sp>
      <p:sp>
        <p:nvSpPr>
          <p:cNvPr id="9" name="Text 6"/>
          <p:cNvSpPr/>
          <p:nvPr/>
        </p:nvSpPr>
        <p:spPr>
          <a:xfrm>
            <a:off x="7115175" y="1476375"/>
            <a:ext cx="1209675" cy="1371600"/>
          </a:xfrm>
          <a:prstGeom prst="rect">
            <a:avLst/>
          </a:prstGeom>
          <a:noFill/>
          <a:ln/>
        </p:spPr>
        <p:txBody>
          <a:bodyPr wrap="square" lIns="0" tIns="0" rIns="0" bIns="0" rtlCol="0" anchor="t"/>
          <a:lstStyle/>
          <a:p>
            <a:pPr algn="l" indent="0" marL="0">
              <a:lnSpc>
                <a:spcPts val="1710"/>
              </a:lnSpc>
              <a:buNone/>
            </a:pPr>
            <a:r>
              <a:rPr lang="en-US" sz="1140" b="1" spc="80" kern="0" dirty="0">
                <a:solidFill>
                  <a:srgbClr val="000000">
                    <a:alpha val="99000"/>
                  </a:srgbClr>
                </a:solidFill>
                <a:latin typeface="Plus Jakarta Sans" pitchFamily="34" charset="0"/>
                <a:ea typeface="Plus Jakarta Sans" pitchFamily="34" charset="-122"/>
                <a:cs typeface="Plus Jakarta Sans" pitchFamily="34" charset="-120"/>
              </a:rPr>
              <a:t>Can our interface be local? Or does it need to be accessible on the web?</a:t>
            </a:r>
            <a:endParaRPr lang="en-US" sz="1140" dirty="0"/>
          </a:p>
        </p:txBody>
      </p:sp>
      <p:sp>
        <p:nvSpPr>
          <p:cNvPr id="10" name="Text 7"/>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54</a:t>
            </a:r>
            <a:endParaRPr lang="en-US" sz="85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Next Milestone - Prototype</a:t>
            </a:r>
            <a:endParaRPr lang="en-US" sz="2494" dirty="0"/>
          </a:p>
        </p:txBody>
      </p:sp>
      <p:sp>
        <p:nvSpPr>
          <p:cNvPr id="3" name="Shape 1"/>
          <p:cNvSpPr/>
          <p:nvPr/>
        </p:nvSpPr>
        <p:spPr>
          <a:xfrm>
            <a:off x="376238" y="1000125"/>
            <a:ext cx="8386763" cy="3524250"/>
          </a:xfrm>
          <a:prstGeom prst="roundRect">
            <a:avLst>
              <a:gd name="adj" fmla="val 4151"/>
            </a:avLst>
          </a:prstGeom>
          <a:solidFill>
            <a:srgbClr val="FFFFFF"/>
          </a:solidFill>
          <a:ln/>
        </p:spPr>
      </p:sp>
      <p:sp>
        <p:nvSpPr>
          <p:cNvPr id="4" name="Text 2"/>
          <p:cNvSpPr/>
          <p:nvPr/>
        </p:nvSpPr>
        <p:spPr>
          <a:xfrm>
            <a:off x="762000" y="1452563"/>
            <a:ext cx="7724775" cy="2000250"/>
          </a:xfrm>
          <a:prstGeom prst="rect">
            <a:avLst/>
          </a:prstGeom>
          <a:noFill/>
          <a:ln/>
        </p:spPr>
        <p:txBody>
          <a:bodyPr wrap="square" lIns="0" tIns="0" rIns="0" bIns="0" rtlCol="0" anchor="t"/>
          <a:lstStyle/>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Connect the prompt builder to the LLM backend and implement the XOSC generation step. </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Implement the five-step pipeline status panel with live state transitions.</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Integrate Esmini validation and the auto-refinement loop.</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Build the guided scenario builder fields with live prompt preview and readiness checklist.</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Conduct internal end-to-end testing before submission.</a:t>
            </a:r>
            <a:endParaRPr lang="en-US" sz="1425" dirty="0"/>
          </a:p>
        </p:txBody>
      </p:sp>
      <p:sp>
        <p:nvSpPr>
          <p:cNvPr id="5" name="Text 3"/>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55</a:t>
            </a:r>
            <a:endParaRPr lang="en-US" sz="85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09563"/>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Next Milestone -  Study Plan</a:t>
            </a:r>
            <a:endParaRPr lang="en-US" sz="2494" dirty="0"/>
          </a:p>
        </p:txBody>
      </p:sp>
      <p:sp>
        <p:nvSpPr>
          <p:cNvPr id="3" name="Shape 1"/>
          <p:cNvSpPr/>
          <p:nvPr/>
        </p:nvSpPr>
        <p:spPr>
          <a:xfrm>
            <a:off x="376238" y="1119188"/>
            <a:ext cx="8386763" cy="3524250"/>
          </a:xfrm>
          <a:prstGeom prst="roundRect">
            <a:avLst>
              <a:gd name="adj" fmla="val 4151"/>
            </a:avLst>
          </a:prstGeom>
          <a:solidFill>
            <a:srgbClr val="FFFFFF"/>
          </a:solidFill>
          <a:ln/>
        </p:spPr>
      </p:sp>
      <p:sp>
        <p:nvSpPr>
          <p:cNvPr id="4" name="Text 2"/>
          <p:cNvSpPr/>
          <p:nvPr/>
        </p:nvSpPr>
        <p:spPr>
          <a:xfrm>
            <a:off x="709613" y="1309688"/>
            <a:ext cx="7724775" cy="3143250"/>
          </a:xfrm>
          <a:prstGeom prst="rect">
            <a:avLst/>
          </a:prstGeom>
          <a:noFill/>
          <a:ln/>
        </p:spPr>
        <p:txBody>
          <a:bodyPr wrap="square" lIns="0" tIns="0" rIns="0" bIns="0" rtlCol="0" anchor="t"/>
          <a:lstStyle/>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Finalize and write up the full study design including the between-subjects A/B structure, Condition A (guided interface) and Condition B (blank prompt screen), and the rationale for each design decision</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Determine how we will recruit potential users</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Finalize the session procedure outline (briefing → task orientation → random assignment → task → measurement → session end) with timing for each phase</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Finalize measures and instruments that will be used for testing.</a:t>
            </a:r>
            <a:endParaRPr lang="en-US" sz="1425" dirty="0"/>
          </a:p>
          <a:p>
            <a:pPr algn="l" marL="342900" indent="-342900">
              <a:lnSpc>
                <a:spcPts val="2138"/>
              </a:lnSpc>
              <a:buSzPct val="100000"/>
              <a:buFont typeface="+mj-lt"/>
              <a:buAutoNum type="arabicPeriod" startAt="1"/>
            </a:pPr>
            <a:r>
              <a:rPr lang="en-US" sz="1425" spc="100" kern="0" dirty="0">
                <a:solidFill>
                  <a:srgbClr val="000000">
                    <a:alpha val="99000"/>
                  </a:srgbClr>
                </a:solidFill>
                <a:latin typeface="Plus Jakarta Sans" pitchFamily="34" charset="0"/>
                <a:ea typeface="Plus Jakarta Sans" pitchFamily="34" charset="-122"/>
                <a:cs typeface="Plus Jakarta Sans" pitchFamily="34" charset="-120"/>
              </a:rPr>
              <a:t>Write the screening questionnaire covering years of experience, prior simulation tool exposure, LLM familiarity, engineering background, and AV systems familiarity</a:t>
            </a:r>
            <a:endParaRPr lang="en-US" sz="1425" dirty="0"/>
          </a:p>
        </p:txBody>
      </p:sp>
      <p:sp>
        <p:nvSpPr>
          <p:cNvPr id="5" name="Text 3"/>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56</a:t>
            </a:r>
            <a:endParaRPr lang="en-US" sz="85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name="Slide 60">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742950" y="190500"/>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Block D - Minhas</a:t>
            </a:r>
            <a:endParaRPr lang="en-US" sz="2494" dirty="0"/>
          </a:p>
        </p:txBody>
      </p:sp>
      <p:sp>
        <p:nvSpPr>
          <p:cNvPr id="3" name="Text 1"/>
          <p:cNvSpPr/>
          <p:nvPr/>
        </p:nvSpPr>
        <p:spPr>
          <a:xfrm>
            <a:off x="176213" y="904875"/>
            <a:ext cx="8305800" cy="1085850"/>
          </a:xfrm>
          <a:prstGeom prst="rect">
            <a:avLst/>
          </a:prstGeom>
          <a:noFill/>
          <a:ln/>
        </p:spPr>
        <p:txBody>
          <a:bodyPr wrap="square" lIns="0" tIns="0" rIns="0" bIns="0" rtlCol="0" anchor="t"/>
          <a:lstStyle/>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A clear, visually highlighted slide titled "Research Gaps" listing 3–6 specific gaps you</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derived from Block C.</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Each gap should be one short sentence and traceable back to the literature you just</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showed.</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A short narrative slide explaining which gap(s) your team will pursue and why this scope</a:t>
            </a:r>
            <a:endParaRPr lang="en-US" sz="1140" dirty="0"/>
          </a:p>
          <a:p>
            <a:pPr algn="l" indent="0" marL="0">
              <a:lnSpc>
                <a:spcPts val="1368"/>
              </a:lnSpc>
              <a:buNone/>
            </a:pPr>
            <a:r>
              <a:rPr lang="en-US" sz="1140" spc="-25" kern="0" dirty="0">
                <a:solidFill>
                  <a:srgbClr val="000000">
                    <a:alpha val="99000"/>
                  </a:srgbClr>
                </a:solidFill>
                <a:latin typeface="Inter" pitchFamily="34" charset="0"/>
                <a:ea typeface="Inter" pitchFamily="34" charset="-122"/>
                <a:cs typeface="Inter" pitchFamily="34" charset="-120"/>
              </a:rPr>
              <a:t>is feasible in one semester.</a:t>
            </a:r>
            <a:endParaRPr lang="en-US" sz="114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alpha val="99000"/>
                  </a:srgbClr>
                </a:solidFill>
                <a:latin typeface="Plus Jakarta Sans" pitchFamily="34" charset="0"/>
                <a:ea typeface="Plus Jakarta Sans" pitchFamily="34" charset="-122"/>
                <a:cs typeface="Plus Jakarta Sans" pitchFamily="34" charset="-120"/>
              </a:rPr>
              <a:t>07</a:t>
            </a:r>
            <a:endParaRPr lang="en-US" sz="24938" dirty="0"/>
          </a:p>
        </p:txBody>
      </p:sp>
      <p:sp>
        <p:nvSpPr>
          <p:cNvPr id="4" name="Text 2"/>
          <p:cNvSpPr/>
          <p:nvPr/>
        </p:nvSpPr>
        <p:spPr>
          <a:xfrm>
            <a:off x="676275" y="1047750"/>
            <a:ext cx="4248150" cy="785813"/>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Plus Jakarta Sans" pitchFamily="34" charset="0"/>
                <a:ea typeface="Plus Jakarta Sans" pitchFamily="34" charset="-122"/>
                <a:cs typeface="Plus Jakarta Sans" pitchFamily="34" charset="-120"/>
              </a:rPr>
              <a:t>Backmatter</a:t>
            </a:r>
            <a:endParaRPr lang="en-US" sz="5344" dirty="0"/>
          </a:p>
        </p:txBody>
      </p:sp>
      <p:sp>
        <p:nvSpPr>
          <p:cNvPr id="5" name="Text 3"/>
          <p:cNvSpPr/>
          <p:nvPr/>
        </p:nvSpPr>
        <p:spPr>
          <a:xfrm>
            <a:off x="90488" y="76200"/>
            <a:ext cx="5724525"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NARRATIVE XAI EXPLAINABLE UI FOR AI DRIVEN DRIVING SCENARIO GENERATION | CONCEPT DESIGN</a:t>
            </a:r>
            <a:endParaRPr lang="en-US" sz="784" dirty="0"/>
          </a:p>
        </p:txBody>
      </p:sp>
      <p:sp>
        <p:nvSpPr>
          <p:cNvPr id="6" name="Text 4"/>
          <p:cNvSpPr/>
          <p:nvPr/>
        </p:nvSpPr>
        <p:spPr>
          <a:xfrm>
            <a:off x="7381875" y="76200"/>
            <a:ext cx="1671638"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DISHA MANJUNATHA SHENOY</a:t>
            </a:r>
            <a:endParaRPr lang="en-US" sz="784"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Contributions</a:t>
            </a:r>
            <a:endParaRPr lang="en-US" sz="2494" dirty="0"/>
          </a:p>
        </p:txBody>
      </p:sp>
      <p:sp>
        <p:nvSpPr>
          <p:cNvPr id="3" name="Text 1"/>
          <p:cNvSpPr/>
          <p:nvPr/>
        </p:nvSpPr>
        <p:spPr>
          <a:xfrm>
            <a:off x="8801100" y="4829175"/>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58</a:t>
            </a:r>
            <a:endParaRPr lang="en-US" sz="855" dirty="0"/>
          </a:p>
        </p:txBody>
      </p:sp>
      <p:pic>
        <p:nvPicPr>
          <p:cNvPr id="4" name="Image 0" descr="preencoded.png">    </p:cNvPr>
          <p:cNvPicPr>
            <a:picLocks noChangeAspect="1"/>
          </p:cNvPicPr>
          <p:nvPr/>
        </p:nvPicPr>
        <p:blipFill>
          <a:blip r:embed="rId1"/>
          <a:srcRect l="0" r="0" t="0" b="0"/>
          <a:stretch/>
        </p:blipFill>
        <p:spPr>
          <a:xfrm>
            <a:off x="519113" y="876300"/>
            <a:ext cx="8067675" cy="3067050"/>
          </a:xfrm>
          <a:prstGeom prst="rect">
            <a:avLst/>
          </a:prstGeom>
        </p:spPr>
      </p:pic>
      <p:sp>
        <p:nvSpPr>
          <p:cNvPr id="5" name="Text 2"/>
          <p:cNvSpPr/>
          <p:nvPr/>
        </p:nvSpPr>
        <p:spPr>
          <a:xfrm>
            <a:off x="790575" y="1162050"/>
            <a:ext cx="7835787" cy="2662238"/>
          </a:xfrm>
          <a:prstGeom prst="rect">
            <a:avLst/>
          </a:prstGeom>
          <a:noFill/>
          <a:ln/>
        </p:spPr>
        <p:txBody>
          <a:bodyPr wrap="square" lIns="0" tIns="0" rIns="0" bIns="0" rtlCol="0" anchor="t"/>
          <a:lstStyle/>
          <a:p>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Courtney -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Block D &amp; Block E  </a:t>
            </a:r>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Disha -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Block E &amp; Block G </a:t>
            </a:r>
            <a:endParaRPr lang="en-US" sz="1603" dirty="0"/>
          </a:p>
          <a:p>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Sirine -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Block C</a:t>
            </a:r>
            <a:pPr algn="l" indent="0" marL="0">
              <a:lnSpc>
                <a:spcPts val="1539"/>
              </a:lnSpc>
              <a:buNone/>
            </a:pPr>
            <a:r>
              <a:rPr lang="en-US" sz="1603" spc="-497" kern="0" dirty="0">
                <a:solidFill>
                  <a:srgbClr val="000000">
                    <a:alpha val="99000"/>
                  </a:srgbClr>
                </a:solidFill>
                <a:latin typeface="Inter" pitchFamily="34" charset="0"/>
                <a:ea typeface="Inter" pitchFamily="34" charset="-122"/>
                <a:cs typeface="Inter" pitchFamily="34" charset="-120"/>
              </a:rPr>
              <a:t> </a:t>
            </a:r>
            <a:endParaRPr lang="en-US" sz="1603" dirty="0"/>
          </a:p>
          <a:p>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Minhas -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Block F </a:t>
            </a:r>
            <a:endParaRPr lang="en-US" sz="1603" dirty="0"/>
          </a:p>
          <a:p>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Mosta -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Block E  </a:t>
            </a:r>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Sadia</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 - Block B</a:t>
            </a:r>
            <a:endParaRPr lang="en-US" sz="1603" dirty="0"/>
          </a:p>
          <a:p>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 Pranta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 Block A</a:t>
            </a:r>
            <a:endParaRPr lang="en-US" sz="1603" dirty="0"/>
          </a:p>
        </p:txBody>
      </p:sp>
      <p:pic>
        <p:nvPicPr>
          <p:cNvPr id="6" name="Image 1" descr="preencoded.png">    </p:cNvPr>
          <p:cNvPicPr>
            <a:picLocks noChangeAspect="1"/>
          </p:cNvPicPr>
          <p:nvPr/>
        </p:nvPicPr>
        <p:blipFill>
          <a:blip r:embed="rId2"/>
          <a:srcRect l="0" r="0" t="0" b="0"/>
          <a:stretch/>
        </p:blipFill>
        <p:spPr>
          <a:xfrm>
            <a:off x="519113" y="4181475"/>
            <a:ext cx="8105775" cy="628650"/>
          </a:xfrm>
          <a:prstGeom prst="rect">
            <a:avLst/>
          </a:prstGeom>
        </p:spPr>
      </p:pic>
      <p:sp>
        <p:nvSpPr>
          <p:cNvPr id="7" name="Text 3"/>
          <p:cNvSpPr/>
          <p:nvPr/>
        </p:nvSpPr>
        <p:spPr>
          <a:xfrm>
            <a:off x="742950" y="4395788"/>
            <a:ext cx="7835787" cy="204788"/>
          </a:xfrm>
          <a:prstGeom prst="rect">
            <a:avLst/>
          </a:prstGeom>
          <a:noFill/>
          <a:ln/>
        </p:spPr>
        <p:txBody>
          <a:bodyPr wrap="square" lIns="0" tIns="0" rIns="0" bIns="0" rtlCol="0" anchor="t"/>
          <a:lstStyle/>
          <a:p>
            <a:pPr algn="l" indent="0" marL="0">
              <a:lnSpc>
                <a:spcPts val="1539"/>
              </a:lnSpc>
              <a:buNone/>
            </a:pPr>
            <a:r>
              <a:rPr lang="en-US" sz="1603" b="1" spc="-33" kern="0" dirty="0">
                <a:solidFill>
                  <a:srgbClr val="000000">
                    <a:alpha val="99000"/>
                  </a:srgbClr>
                </a:solidFill>
                <a:latin typeface="Inter" pitchFamily="34" charset="0"/>
                <a:ea typeface="Inter" pitchFamily="34" charset="-122"/>
                <a:cs typeface="Inter" pitchFamily="34" charset="-120"/>
              </a:rPr>
              <a:t>Presentation - </a:t>
            </a:r>
            <a:pPr algn="l" indent="0" marL="0">
              <a:lnSpc>
                <a:spcPts val="1539"/>
              </a:lnSpc>
              <a:buNone/>
            </a:pPr>
            <a:r>
              <a:rPr lang="en-US" sz="1603" spc="-33" kern="0" dirty="0">
                <a:solidFill>
                  <a:srgbClr val="000000">
                    <a:alpha val="99000"/>
                  </a:srgbClr>
                </a:solidFill>
                <a:latin typeface="Inter" pitchFamily="34" charset="0"/>
                <a:ea typeface="Inter" pitchFamily="34" charset="-122"/>
                <a:cs typeface="Inter" pitchFamily="34" charset="-120"/>
              </a:rPr>
              <a:t>Prepared by all team members </a:t>
            </a:r>
            <a:endParaRPr lang="en-US" sz="1603"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400675"/>
          </a:xfrm>
          <a:prstGeom prst="roundRect">
            <a:avLst>
              <a:gd name="adj" fmla="val 2540"/>
            </a:avLst>
          </a:prstGeom>
          <a:solidFill>
            <a:srgbClr val="F5F1E9"/>
          </a:solidFill>
          <a:ln/>
        </p:spPr>
      </p:sp>
      <p:sp>
        <p:nvSpPr>
          <p:cNvPr id="3" name="Shape 1"/>
          <p:cNvSpPr/>
          <p:nvPr/>
        </p:nvSpPr>
        <p:spPr>
          <a:xfrm>
            <a:off x="276225" y="838200"/>
            <a:ext cx="8410575" cy="3648075"/>
          </a:xfrm>
          <a:prstGeom prst="roundRect">
            <a:avLst>
              <a:gd name="adj" fmla="val 4010"/>
            </a:avLst>
          </a:prstGeom>
          <a:solidFill>
            <a:srgbClr val="FFFFFF"/>
          </a:solidFill>
          <a:ln/>
        </p:spPr>
      </p:sp>
      <p:sp>
        <p:nvSpPr>
          <p:cNvPr id="4" name="Shape 2"/>
          <p:cNvSpPr/>
          <p:nvPr/>
        </p:nvSpPr>
        <p:spPr>
          <a:xfrm>
            <a:off x="423863" y="933450"/>
            <a:ext cx="8224837" cy="3343275"/>
          </a:xfrm>
          <a:prstGeom prst="rect">
            <a:avLst/>
          </a:prstGeom>
          <a:noFill/>
          <a:ln/>
        </p:spPr>
      </p:sp>
      <p:sp>
        <p:nvSpPr>
          <p:cNvPr id="5" name="Text 3"/>
          <p:cNvSpPr/>
          <p:nvPr/>
        </p:nvSpPr>
        <p:spPr>
          <a:xfrm>
            <a:off x="423863" y="933450"/>
            <a:ext cx="8224837" cy="3343275"/>
          </a:xfrm>
          <a:prstGeom prst="rect">
            <a:avLst/>
          </a:prstGeom>
          <a:noFill/>
          <a:ln/>
        </p:spPr>
        <p:txBody>
          <a:bodyPr wrap="square" lIns="0" tIns="0" rIns="0" bIns="0" rtlCol="0" anchor="t"/>
          <a:lstStyle/>
          <a:p>
            <a:pPr algn="l" indent="0" marL="0">
              <a:lnSpc>
                <a:spcPts val="1924"/>
              </a:lnSpc>
              <a:buNone/>
            </a:pPr>
            <a:r>
              <a:rPr lang="en-US" sz="1283" u="sng" spc="-28" kern="0" dirty="0">
                <a:solidFill>
                  <a:srgbClr val="000000">
                    <a:alpha val="99000"/>
                  </a:srgbClr>
                </a:solidFill>
                <a:latin typeface="Plus Jakarta Sans" pitchFamily="34" charset="0"/>
                <a:ea typeface="Plus Jakarta Sans" pitchFamily="34" charset="-122"/>
                <a:cs typeface="Plus Jakarta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A Survey on the Application of Large Language Models in Scenario-Based Testing of Automated Driving Systems, 2025. arXiv.</a:t>
            </a:r>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 </a:t>
            </a:r>
            <a:endParaRPr lang="en-US" sz="1283" dirty="0"/>
          </a:p>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[2]  </a:t>
            </a:r>
            <a:pPr algn="l" indent="0" marL="0">
              <a:lnSpc>
                <a:spcPts val="1924"/>
              </a:lnSpc>
              <a:buNone/>
            </a:pPr>
            <a:r>
              <a:rPr lang="en-US" sz="1283" u="sng" spc="-28" kern="0" dirty="0">
                <a:solidFill>
                  <a:srgbClr val="000000">
                    <a:alpha val="99000"/>
                  </a:srgbClr>
                </a:solidFill>
                <a:latin typeface="Plus Jakarta Sans" pitchFamily="34" charset="0"/>
                <a:ea typeface="Plus Jakarta Sans" pitchFamily="34" charset="-122"/>
                <a:cs typeface="Plus Jakarta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OmniTester: Multimodal Large Language Model Driven Scenario Testing for Autonomous Vehicles, 2024. arXiv.</a:t>
            </a:r>
            <a:endParaRPr lang="en-US" sz="1283" dirty="0"/>
          </a:p>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[3] </a:t>
            </a:r>
            <a:pPr algn="l" indent="0" marL="0">
              <a:lnSpc>
                <a:spcPts val="1924"/>
              </a:lnSpc>
              <a:buNone/>
            </a:pPr>
            <a:r>
              <a:rPr lang="en-US" sz="1283" u="sng" spc="-28" kern="0" dirty="0">
                <a:solidFill>
                  <a:srgbClr val="000000">
                    <a:alpha val="99000"/>
                  </a:srgbClr>
                </a:solidFill>
                <a:latin typeface="Plus Jakarta Sans" pitchFamily="34" charset="0"/>
                <a:ea typeface="Plus Jakarta Sans" pitchFamily="34" charset="-122"/>
                <a:cs typeface="Plus Jakarta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Prototyping with Prompts, CHI 2025. arXiv.</a:t>
            </a:r>
            <a:endParaRPr lang="en-US" sz="1283" dirty="0"/>
          </a:p>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[4]  </a:t>
            </a:r>
            <a:pPr algn="l" indent="0" marL="0">
              <a:lnSpc>
                <a:spcPts val="1924"/>
              </a:lnSpc>
              <a:buNone/>
            </a:pPr>
            <a:r>
              <a:rPr lang="en-US" sz="1283" u="sng" spc="-28" kern="0" dirty="0">
                <a:solidFill>
                  <a:srgbClr val="000000">
                    <a:alpha val="99000"/>
                  </a:srgbClr>
                </a:solidFill>
                <a:latin typeface="Plus Jakarta Sans" pitchFamily="34" charset="0"/>
                <a:ea typeface="Plus Jakarta Sans" pitchFamily="34" charset="-122"/>
                <a:cs typeface="Plus Jakarta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Prompt-with-Me: In-IDE Structured Prompt Management, 2025. arXiv.</a:t>
            </a:r>
            <a:endParaRPr lang="en-US" sz="1283" dirty="0"/>
          </a:p>
          <a:p>
            <a:pPr algn="l" indent="0" marL="0">
              <a:lnSpc>
                <a:spcPts val="1924"/>
              </a:lnSpc>
              <a:buNone/>
            </a:pPr>
            <a:r>
              <a:rPr lang="en-US" sz="1283" spc="-28" kern="0" dirty="0">
                <a:solidFill>
                  <a:srgbClr val="000000">
                    <a:alpha val="99000"/>
                  </a:srgbClr>
                </a:solidFill>
                <a:latin typeface="Plus Jakarta Sans" pitchFamily="34" charset="0"/>
                <a:ea typeface="Plus Jakarta Sans" pitchFamily="34" charset="-122"/>
                <a:cs typeface="Plus Jakarta Sans" pitchFamily="34" charset="-120"/>
              </a:rPr>
              <a:t>[5]</a:t>
            </a:r>
            <a:pPr algn="l" indent="0" marL="0">
              <a:lnSpc>
                <a:spcPts val="1924"/>
              </a:lnSpc>
              <a:buNone/>
            </a:pPr>
            <a:r>
              <a:rPr lang="en-US" sz="1283" b="1" spc="-28" kern="0" dirty="0">
                <a:solidFill>
                  <a:srgbClr val="000000">
                    <a:alpha val="99000"/>
                  </a:srgbClr>
                </a:solidFill>
                <a:latin typeface="Plus Jakarta Sans" pitchFamily="34" charset="0"/>
                <a:ea typeface="Plus Jakarta Sans" pitchFamily="34" charset="-122"/>
                <a:cs typeface="Plus Jakarta Sans" pitchFamily="34" charset="-120"/>
              </a:rPr>
              <a:t> </a:t>
            </a:r>
            <a:pPr algn="l" indent="0" marL="0">
              <a:lnSpc>
                <a:spcPts val="1924"/>
              </a:lnSpc>
              <a:buNone/>
            </a:pPr>
            <a:r>
              <a:rPr lang="en-US" sz="1283" u="sng" spc="-28" kern="0" dirty="0">
                <a:solidFill>
                  <a:srgbClr val="000000">
                    <a:alpha val="99000"/>
                  </a:srgbClr>
                </a:solidFill>
                <a:latin typeface="Plus Jakarta Sans" pitchFamily="34" charset="0"/>
                <a:ea typeface="Plus Jakarta Sans" pitchFamily="34" charset="-122"/>
                <a:cs typeface="Plus Jakarta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Text2Scenario: Text-Driven Scenario Generation for Autonomous Driving Test, 2025. arXiv.</a:t>
            </a:r>
            <a:endParaRPr lang="en-US" sz="1283" dirty="0"/>
          </a:p>
        </p:txBody>
      </p:sp>
      <p:sp>
        <p:nvSpPr>
          <p:cNvPr id="6" name="Text 4"/>
          <p:cNvSpPr/>
          <p:nvPr/>
        </p:nvSpPr>
        <p:spPr>
          <a:xfrm>
            <a:off x="8686800" y="4610100"/>
            <a:ext cx="161925" cy="123825"/>
          </a:xfrm>
          <a:prstGeom prst="rect">
            <a:avLst/>
          </a:prstGeom>
          <a:noFill/>
          <a:ln/>
        </p:spPr>
        <p:txBody>
          <a:bodyPr wrap="square" lIns="0" tIns="0" rIns="0" bIns="0" rtlCol="0" anchor="t"/>
          <a:lstStyle/>
          <a:p>
            <a:pPr algn="l" indent="0" marL="0">
              <a:lnSpc>
                <a:spcPts val="941"/>
              </a:lnSpc>
              <a:buNone/>
            </a:pPr>
            <a:r>
              <a:rPr lang="en-US" sz="855" spc="-19" kern="0" dirty="0">
                <a:solidFill>
                  <a:srgbClr val="000000">
                    <a:alpha val="99000"/>
                  </a:srgbClr>
                </a:solidFill>
                <a:latin typeface="Plus Jakarta Sans" pitchFamily="34" charset="0"/>
                <a:ea typeface="Plus Jakarta Sans" pitchFamily="34" charset="-122"/>
                <a:cs typeface="Plus Jakarta Sans" pitchFamily="34" charset="-120"/>
              </a:rPr>
              <a:t>59</a:t>
            </a:r>
            <a:endParaRPr lang="en-US" sz="855" dirty="0"/>
          </a:p>
        </p:txBody>
      </p:sp>
      <p:sp>
        <p:nvSpPr>
          <p:cNvPr id="7" name="Text 5"/>
          <p:cNvSpPr/>
          <p:nvPr/>
        </p:nvSpPr>
        <p:spPr>
          <a:xfrm>
            <a:off x="647700" y="266700"/>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References</a:t>
            </a:r>
            <a:endParaRPr lang="en-US" sz="2494"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47700" y="361950"/>
            <a:ext cx="7848600"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Plus Jakarta Sans" pitchFamily="34" charset="0"/>
                <a:ea typeface="Plus Jakarta Sans" pitchFamily="34" charset="-122"/>
                <a:cs typeface="Plus Jakarta Sans" pitchFamily="34" charset="-120"/>
              </a:rPr>
              <a:t>Figures &amp; Assets Credits</a:t>
            </a:r>
            <a:endParaRPr lang="en-US" sz="2494" dirty="0"/>
          </a:p>
        </p:txBody>
      </p:sp>
      <p:sp>
        <p:nvSpPr>
          <p:cNvPr id="3" name="Text 1"/>
          <p:cNvSpPr/>
          <p:nvPr/>
        </p:nvSpPr>
        <p:spPr>
          <a:xfrm>
            <a:off x="649174" y="1333500"/>
            <a:ext cx="7977188" cy="1404938"/>
          </a:xfrm>
          <a:prstGeom prst="rect">
            <a:avLst/>
          </a:prstGeom>
          <a:noFill/>
          <a:ln/>
        </p:spPr>
        <p:txBody>
          <a:bodyPr wrap="square" lIns="0" tIns="0" rIns="0" bIns="0" rtlCol="0" anchor="t"/>
          <a:lstStyle/>
          <a:p>
            <a:pPr algn="l" indent="0" marL="0">
              <a:lnSpc>
                <a:spcPts val="2116"/>
              </a:lnSpc>
              <a:buNone/>
            </a:pPr>
            <a:r>
              <a:rPr lang="en-US" sz="1603" spc="-35" kern="0" dirty="0">
                <a:solidFill>
                  <a:srgbClr val="000000">
                    <a:alpha val="99000"/>
                  </a:srgbClr>
                </a:solidFill>
                <a:latin typeface="Inter" pitchFamily="34" charset="0"/>
                <a:ea typeface="Inter" pitchFamily="34" charset="-122"/>
                <a:cs typeface="Inter" pitchFamily="34" charset="-120"/>
              </a:rPr>
              <a:t>All interface mockups, system diagrams, user journey flowcharts, and procedure outline diagrams presented in this work were generated using Claude Sonnet 4.5 (Anthropic, 2025) via the Claude.ai web interface. Diagrams were produced through an iterative, conversational design process and refined by the research team. All content reflects the authors' own research design decisions.</a:t>
            </a:r>
            <a:endParaRPr lang="en-US" sz="160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2026-06-07T13:57:55Z</dcterms:created>
  <dcterms:modified xsi:type="dcterms:W3CDTF">2026-06-07T13:57:55Z</dcterms:modified>
</cp:coreProperties>
</file>